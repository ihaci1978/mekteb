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qEvG0WF5S+oMN8pPjh4wfiNO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az-Latn-AZ" dirty="0"/>
              <a:t>Həndəsi cisimlər və fiqurlar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Riyaziyyat dərsi üçün təqdimat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Məktəb</a:t>
            </a:r>
            <a:r>
              <a:rPr lang="ru-RU" dirty="0"/>
              <a:t> № 1</a:t>
            </a:r>
            <a:endParaRPr dirty="0"/>
          </a:p>
        </p:txBody>
      </p:sp>
      <p:sp>
        <p:nvSpPr>
          <p:cNvPr id="87" name="Google Shape;87;p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-5400000">
            <a:off x="8912417" y="1202394"/>
            <a:ext cx="2387600" cy="238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821310" y="0"/>
            <a:ext cx="2315251" cy="1550992"/>
          </a:xfrm>
          <a:custGeom>
            <a:avLst/>
            <a:gdLst/>
            <a:ahLst/>
            <a:cxnLst/>
            <a:rect l="l" t="t" r="r" b="b"/>
            <a:pathLst>
              <a:path w="2315251" h="1550992" extrusionOk="0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/>
          <p:nvPr/>
        </p:nvSpPr>
        <p:spPr>
          <a:xfrm>
            <a:off x="11005550" y="4112081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821310" y="4962670"/>
            <a:ext cx="2643352" cy="1895331"/>
          </a:xfrm>
          <a:custGeom>
            <a:avLst/>
            <a:gdLst/>
            <a:ahLst/>
            <a:cxnLst/>
            <a:rect l="l" t="t" r="r" b="b"/>
            <a:pathLst>
              <a:path w="2643352" h="1895331" extrusionOk="0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209667" y="2380867"/>
            <a:ext cx="11982332" cy="2087795"/>
            <a:chOff x="143163" y="5763486"/>
            <a:chExt cx="11982332" cy="739555"/>
          </a:xfrm>
        </p:grpSpPr>
        <p:sp>
          <p:nvSpPr>
            <p:cNvPr id="116" name="Google Shape;116;p4"/>
            <p:cNvSpPr/>
            <p:nvPr/>
          </p:nvSpPr>
          <p:spPr>
            <a:xfrm rot="10800000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4"/>
            <p:cNvCxnSpPr/>
            <p:nvPr/>
          </p:nvCxnSpPr>
          <p:spPr>
            <a:xfrm flipH="1">
              <a:off x="143163" y="5763486"/>
              <a:ext cx="1" cy="739555"/>
            </a:xfrm>
            <a:prstGeom prst="straightConnector1">
              <a:avLst/>
            </a:prstGeom>
            <a:noFill/>
            <a:ln w="1778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4"/>
          <p:cNvSpPr/>
          <p:nvPr/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3" y="526787"/>
            <a:ext cx="11292614" cy="5857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Həndəsi cisimlər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409162" y="663879"/>
            <a:ext cx="7096004" cy="551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Riyaziyyatda bütün həndəsi cisimləri iki qrupa bölürlər</a:t>
            </a:r>
            <a:r>
              <a:rPr lang="ru-RU" sz="2200" dirty="0"/>
              <a:t>:</a:t>
            </a:r>
            <a:r>
              <a:rPr lang="az-Latn-AZ" sz="2200" dirty="0"/>
              <a:t> fırlanma cisimləri və çoxüzlülər</a:t>
            </a:r>
            <a:r>
              <a:rPr lang="ru-RU" sz="2200" dirty="0"/>
              <a:t>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Firlanma cisimləri nədir</a:t>
            </a:r>
            <a:r>
              <a:rPr lang="ru-RU" sz="2200" dirty="0"/>
              <a:t>? </a:t>
            </a:r>
            <a:r>
              <a:rPr lang="az-Latn-AZ" sz="2200" dirty="0"/>
              <a:t>Sadə dillə desək, fırlanma cismi</a:t>
            </a:r>
            <a:r>
              <a:rPr lang="ru-RU" sz="2200" dirty="0"/>
              <a:t>— </a:t>
            </a:r>
            <a:r>
              <a:rPr lang="az-Latn-AZ" sz="2200" dirty="0"/>
              <a:t>«iti bucaqları» olmayan həndəsi cisimdir</a:t>
            </a:r>
            <a:r>
              <a:rPr lang="ru-RU" sz="2200" dirty="0"/>
              <a:t>. </a:t>
            </a:r>
            <a:endParaRPr dirty="0"/>
          </a:p>
          <a:p>
            <a:pPr marL="0" lvl="0" indent="0">
              <a:buSzPts val="2200"/>
              <a:buNone/>
            </a:pPr>
            <a:r>
              <a:rPr lang="az-Latn-AZ" sz="2200" dirty="0"/>
              <a:t>Bu qrupa tərəflərindən biri dairə olan həndəsi cisimlər aiddir: silindr, konus və ən «təhlükəsiz» həndəsi cisim (çünki, ümumiyyətlə bucağı yoxdur) </a:t>
            </a:r>
            <a:r>
              <a:rPr lang="ru-RU" sz="2200" dirty="0"/>
              <a:t>—</a:t>
            </a:r>
            <a:r>
              <a:rPr lang="az-Latn-AZ" sz="2200" dirty="0"/>
              <a:t> kürə.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Tərkibində dairə olmayan həndəsi cisimlər çoxüzlülər adlanır</a:t>
            </a:r>
            <a:r>
              <a:rPr lang="ru-RU" sz="2200" dirty="0"/>
              <a:t>: </a:t>
            </a:r>
            <a:r>
              <a:rPr lang="az-Latn-AZ" sz="2200" dirty="0"/>
              <a:t>paralelepiped</a:t>
            </a:r>
            <a:r>
              <a:rPr lang="ru-RU" sz="2200" dirty="0"/>
              <a:t>, </a:t>
            </a:r>
            <a:r>
              <a:rPr lang="az-Latn-AZ" sz="2200" dirty="0"/>
              <a:t>kub</a:t>
            </a:r>
            <a:r>
              <a:rPr lang="ru-RU" sz="2200" dirty="0"/>
              <a:t>, </a:t>
            </a:r>
            <a:r>
              <a:rPr lang="az-Latn-AZ" sz="2200" dirty="0"/>
              <a:t>piramida</a:t>
            </a:r>
            <a:r>
              <a:rPr lang="ru-RU" sz="2200" dirty="0"/>
              <a:t>.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Çoxüzlü</a:t>
            </a:r>
            <a:r>
              <a:rPr lang="ru-RU" sz="2200" dirty="0"/>
              <a:t> — </a:t>
            </a:r>
            <a:r>
              <a:rPr lang="az-Latn-AZ" sz="2200" dirty="0"/>
              <a:t>hər tərəfdən yastı çoxbucaqlılarla məhdudlanmış həndəsi cisimdir</a:t>
            </a:r>
            <a:r>
              <a:rPr lang="ru-RU" sz="2200" dirty="0"/>
              <a:t>. </a:t>
            </a:r>
            <a:endParaRPr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58825" y="1"/>
            <a:ext cx="10515600" cy="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az-Latn-AZ" dirty="0"/>
              <a:t>Həndəsi cisimlərin müxtəlifliyi</a:t>
            </a:r>
            <a:endParaRPr dirty="0"/>
          </a:p>
        </p:txBody>
      </p:sp>
      <p:pic>
        <p:nvPicPr>
          <p:cNvPr id="109" name="Google Shape;109;p3" descr="Изображение выглядит как стол&#10;&#10;Автоматически созданное описание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6638" r="-288" b="6802"/>
          <a:stretch/>
        </p:blipFill>
        <p:spPr>
          <a:xfrm>
            <a:off x="1014304" y="998974"/>
            <a:ext cx="10009800" cy="58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Çoxüzlülər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27" name="Google Shape;127;p5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Çoxüzlülər haqqında ilk məlumatların hələ eramızdan üç min il əvvəl qədim Misirdə və Babildə qeyd olunduğu məlumdur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</a:t>
            </a: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 Bu gün çoxüzlülər nəzəriyyəsi riyaziyyatın fəsillərindən biridir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az-Latn-AZ" sz="3600" dirty="0"/>
              <a:t>Çoxüzlülərin müxtəlifliyinə baxmayaraq, bir sıra ümumi xüsusiyyətləri vardır</a:t>
            </a:r>
            <a:r>
              <a:rPr lang="ru-RU" sz="3600" dirty="0"/>
              <a:t>:</a:t>
            </a:r>
            <a:endParaRPr sz="3600" dirty="0"/>
          </a:p>
        </p:txBody>
      </p:sp>
      <p:grpSp>
        <p:nvGrpSpPr>
          <p:cNvPr id="135" name="Google Shape;135;p6"/>
          <p:cNvGrpSpPr/>
          <p:nvPr/>
        </p:nvGrpSpPr>
        <p:grpSpPr>
          <a:xfrm>
            <a:off x="838200" y="2236178"/>
            <a:ext cx="10515600" cy="3537787"/>
            <a:chOff x="0" y="407378"/>
            <a:chExt cx="10515600" cy="3537787"/>
          </a:xfrm>
        </p:grpSpPr>
        <p:sp>
          <p:nvSpPr>
            <p:cNvPr id="136" name="Google Shape;136;p6"/>
            <p:cNvSpPr/>
            <p:nvPr/>
          </p:nvSpPr>
          <p:spPr>
            <a:xfrm>
              <a:off x="0" y="407378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 txBox="1"/>
            <p:nvPr/>
          </p:nvSpPr>
          <p:spPr>
            <a:xfrm>
              <a:off x="55130" y="462508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səthi çoxbucaqlılardan ibarətdir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0" y="1611600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55130" y="1666730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2) 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Çoxbucaqlıların hər biri çoxüzlünün üzü adlanır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0" y="2815823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55130" y="2870953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 çoxbucaqlıların təpələri həmçinin çoxüzlünün də təpələridir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çoxbucaqlıların tərəfləri isə 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tilləridir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1" y="0"/>
            <a:ext cx="1142494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25000">
                <a:schemeClr val="accent4"/>
              </a:gs>
              <a:gs pos="94000">
                <a:schemeClr val="accent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Calibri"/>
              <a:buNone/>
            </a:pPr>
            <a:r>
              <a:rPr lang="az-Latn-AZ" sz="4100" dirty="0">
                <a:solidFill>
                  <a:srgbClr val="000000"/>
                </a:solidFill>
              </a:rPr>
              <a:t>Cisimlərin həcmli təsvir üsulu</a:t>
            </a:r>
            <a:endParaRPr sz="4100" dirty="0">
              <a:solidFill>
                <a:srgbClr val="000000"/>
              </a:solidFill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0" y="738619"/>
            <a:ext cx="5000438" cy="5400962"/>
          </a:xfrm>
          <a:custGeom>
            <a:avLst/>
            <a:gdLst/>
            <a:ahLst/>
            <a:cxnLst/>
            <a:rect l="l" t="t" r="r" b="b"/>
            <a:pathLst>
              <a:path w="5000438" h="5400962" extrusionOk="0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az-Latn-AZ" sz="2300" dirty="0">
                <a:solidFill>
                  <a:srgbClr val="000000"/>
                </a:solidFill>
              </a:rPr>
              <a:t>Qədim zamanlardan insanlar fəzanın dərinliyi hissini yaradan həcmli cismlərin təsvirinin müxtəlif üsullarının axtarışında idilər</a:t>
            </a:r>
            <a:r>
              <a:rPr lang="ru-RU" sz="2300" dirty="0">
                <a:solidFill>
                  <a:srgbClr val="000000"/>
                </a:solidFill>
              </a:rPr>
              <a:t>. </a:t>
            </a:r>
            <a:r>
              <a:rPr lang="az-Latn-AZ" sz="2300" dirty="0">
                <a:solidFill>
                  <a:srgbClr val="000000"/>
                </a:solidFill>
              </a:rPr>
              <a:t>Görmə qabiliyyətini aldatmağa imkan verən xüsusi fəndlər işlənib hazırlanmışdır</a:t>
            </a:r>
            <a:r>
              <a:rPr lang="ru-RU" sz="2300" dirty="0">
                <a:solidFill>
                  <a:srgbClr val="000000"/>
                </a:solidFill>
              </a:rPr>
              <a:t>. </a:t>
            </a:r>
            <a:r>
              <a:rPr lang="az-Latn-AZ" sz="2300" dirty="0">
                <a:solidFill>
                  <a:srgbClr val="000000"/>
                </a:solidFill>
              </a:rPr>
              <a:t>Məsələn, riyaziyyatda çoxüzlülərin görünməyən tillərini qırıq-qırıq xətlərlə təsvir edirlər</a:t>
            </a:r>
            <a:r>
              <a:rPr lang="ru-RU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257007"/>
            <a:ext cx="4738241" cy="2152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az-Latn-AZ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Kürə</a:t>
            </a:r>
            <a:endParaRPr dirty="0"/>
          </a:p>
        </p:txBody>
      </p:sp>
      <p:grpSp>
        <p:nvGrpSpPr>
          <p:cNvPr id="177" name="Google Shape;177;p10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178" name="Google Shape;178;p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0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027" y="1133995"/>
            <a:ext cx="5986932" cy="4589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az-Latn-AZ" sz="4800" dirty="0"/>
              <a:t>Kürə</a:t>
            </a:r>
            <a:endParaRPr sz="4800" dirty="0"/>
          </a:p>
        </p:txBody>
      </p:sp>
      <p:sp>
        <p:nvSpPr>
          <p:cNvPr id="190" name="Google Shape;190;p11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>
            <a:spLocks noGrp="1"/>
          </p:cNvSpPr>
          <p:nvPr>
            <p:ph type="body" idx="1"/>
          </p:nvPr>
        </p:nvSpPr>
        <p:spPr>
          <a:xfrm>
            <a:off x="422961" y="2517359"/>
            <a:ext cx="4530900" cy="3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b="1" dirty="0"/>
              <a:t>Kürə </a:t>
            </a:r>
            <a:r>
              <a:rPr lang="az-Latn-AZ" sz="2300" dirty="0"/>
              <a:t>kəsik diametrinin ətrafında fırlanan yarımkürədən təşkil edilmişdir</a:t>
            </a:r>
            <a:r>
              <a:rPr lang="ru-RU" sz="2300" dirty="0"/>
              <a:t>.</a:t>
            </a:r>
            <a:endParaRPr sz="23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dirty="0"/>
              <a:t>Fiqurların konturlarının fırlanması zamanı fırlanma səthi yaranır (məsələn, çevrədən yaranan dairə), doldurulmuş konturların fırlanması zamanı isə cisimlər yaranır </a:t>
            </a:r>
            <a:r>
              <a:rPr lang="ru-RU" sz="2300" dirty="0"/>
              <a:t>(</a:t>
            </a:r>
            <a:r>
              <a:rPr lang="az-Latn-AZ" sz="2300" dirty="0"/>
              <a:t>dairədən əmələ gələn kürə kimi</a:t>
            </a:r>
            <a:r>
              <a:rPr lang="ru-RU" sz="2300" dirty="0"/>
              <a:t>).</a:t>
            </a:r>
            <a:br>
              <a:rPr lang="ru-RU" sz="2300" dirty="0"/>
            </a:br>
            <a:endParaRPr sz="2300" dirty="0"/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3">
            <a:alphaModFix/>
          </a:blip>
          <a:srcRect l="2233" r="5077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/>
            <a:rect l="l" t="t" r="r" b="b"/>
            <a:pathLst>
              <a:path w="8191500" h="5770597" extrusionOk="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az-Latn-AZ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Diqqətinizə görə minnətdarıq</a:t>
            </a:r>
            <a:r>
              <a:rPr lang="ru-RU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</p:txBody>
      </p:sp>
      <p:cxnSp>
        <p:nvCxnSpPr>
          <p:cNvPr id="202" name="Google Shape;202;p12"/>
          <p:cNvCxnSpPr/>
          <p:nvPr/>
        </p:nvCxnSpPr>
        <p:spPr>
          <a:xfrm>
            <a:off x="406241" y="183933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12"/>
          <p:cNvSpPr/>
          <p:nvPr/>
        </p:nvSpPr>
        <p:spPr>
          <a:xfrm>
            <a:off x="5292348" y="1"/>
            <a:ext cx="2279742" cy="1267785"/>
          </a:xfrm>
          <a:custGeom>
            <a:avLst/>
            <a:gdLst/>
            <a:ahLst/>
            <a:cxnLst/>
            <a:rect l="l" t="t" r="r" b="b"/>
            <a:pathLst>
              <a:path w="2279742" h="1267785" extrusionOk="0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 flipH="1">
            <a:off x="0" y="2949740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 rot="-5400000">
            <a:off x="1539683" y="4203427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262</Words>
  <Application>Microsoft Office PowerPoint</Application>
  <PresentationFormat>Widescreen</PresentationFormat>
  <Paragraphs>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Həndəsi cisimlər və fiqurlar</vt:lpstr>
      <vt:lpstr>PowerPoint Presentation</vt:lpstr>
      <vt:lpstr>Həndəsi cisimlər</vt:lpstr>
      <vt:lpstr>Həndəsi cisimlərin müxtəlifliyi</vt:lpstr>
      <vt:lpstr>Çoxüzlülər</vt:lpstr>
      <vt:lpstr>Çoxüzlülərin müxtəlifliyinə baxmayaraq, bir sıra ümumi xüsusiyyətləri vardır:</vt:lpstr>
      <vt:lpstr>PowerPoint Presentation</vt:lpstr>
      <vt:lpstr>Cisimlərin həcmli təsvir üsulu</vt:lpstr>
      <vt:lpstr>Kürə</vt:lpstr>
      <vt:lpstr>Kürə</vt:lpstr>
      <vt:lpstr>Diqqətinizə görə minnətdarıq!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Həndəsi cimslər və fiqurlar</dc:title>
  <dc:creator>admin</dc:creator>
  <cp:lastModifiedBy>User</cp:lastModifiedBy>
  <cp:revision>13</cp:revision>
  <dcterms:created xsi:type="dcterms:W3CDTF">2020-10-16T11:56:40Z</dcterms:created>
  <dcterms:modified xsi:type="dcterms:W3CDTF">2021-02-16T06:04:04Z</dcterms:modified>
</cp:coreProperties>
</file>