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4" r:id="rId4"/>
    <p:sldId id="258" r:id="rId5"/>
    <p:sldId id="259" r:id="rId6"/>
    <p:sldId id="261" r:id="rId7"/>
    <p:sldId id="265" r:id="rId8"/>
    <p:sldId id="266" r:id="rId9"/>
    <p:sldId id="267" r:id="rId10"/>
    <p:sldId id="272" r:id="rId11"/>
    <p:sldId id="268" r:id="rId12"/>
    <p:sldId id="269" r:id="rId13"/>
    <p:sldId id="270" r:id="rId14"/>
    <p:sldId id="271" r:id="rId15"/>
    <p:sldId id="262" r:id="rId16"/>
    <p:sldId id="263" r:id="rId17"/>
    <p:sldId id="276" r:id="rId18"/>
    <p:sldId id="277" r:id="rId19"/>
    <p:sldId id="278" r:id="rId20"/>
    <p:sldId id="279" r:id="rId21"/>
    <p:sldId id="280" r:id="rId22"/>
    <p:sldId id="273" r:id="rId23"/>
    <p:sldId id="291" r:id="rId24"/>
    <p:sldId id="274" r:id="rId25"/>
    <p:sldId id="288" r:id="rId26"/>
    <p:sldId id="275" r:id="rId27"/>
    <p:sldId id="289" r:id="rId28"/>
    <p:sldId id="281" r:id="rId29"/>
    <p:sldId id="285" r:id="rId30"/>
    <p:sldId id="286" r:id="rId31"/>
    <p:sldId id="290" r:id="rId32"/>
    <p:sldId id="295" r:id="rId33"/>
    <p:sldId id="294" r:id="rId34"/>
    <p:sldId id="293" r:id="rId35"/>
    <p:sldId id="282" r:id="rId36"/>
    <p:sldId id="283" r:id="rId37"/>
    <p:sldId id="284" r:id="rId38"/>
    <p:sldId id="260" r:id="rId39"/>
  </p:sldIdLst>
  <p:sldSz cx="17068800" cy="9601200"/>
  <p:notesSz cx="6858000" cy="9144000"/>
  <p:defaultTextStyle>
    <a:defPPr>
      <a:defRPr lang="en-US"/>
    </a:defPPr>
    <a:lvl1pPr marL="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99"/>
    <a:srgbClr val="0000CC"/>
    <a:srgbClr val="9B9BE4"/>
    <a:srgbClr val="9B9BE5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04" autoAdjust="0"/>
    <p:restoredTop sz="94660"/>
  </p:normalViewPr>
  <p:slideViewPr>
    <p:cSldViewPr snapToGrid="0">
      <p:cViewPr varScale="1">
        <p:scale>
          <a:sx n="50" d="100"/>
          <a:sy n="50" d="100"/>
        </p:scale>
        <p:origin x="71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7207624"/>
            <a:ext cx="9870141" cy="1498396"/>
          </a:xfrm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az-Latn-AZ" dirty="0" smtClean="0"/>
              <a:t>Təhsil müəssisəsinin adı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3149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055787" y="8122021"/>
            <a:ext cx="605118" cy="363071"/>
          </a:xfrm>
          <a:prstGeom prst="rect">
            <a:avLst/>
          </a:prstGeom>
        </p:spPr>
        <p:txBody>
          <a:bodyPr/>
          <a:lstStyle/>
          <a:p>
            <a:fld id="{10448487-1E9B-4B20-874E-B8434B5AF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63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6055787" y="8122021"/>
            <a:ext cx="605118" cy="363071"/>
          </a:xfrm>
          <a:prstGeom prst="rect">
            <a:avLst/>
          </a:prstGeom>
        </p:spPr>
        <p:txBody>
          <a:bodyPr/>
          <a:lstStyle/>
          <a:p>
            <a:fld id="{10448487-1E9B-4B20-874E-B8434B5AF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0138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9194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8223" y="188447"/>
            <a:ext cx="11214848" cy="11024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8223" y="1480110"/>
            <a:ext cx="11214848" cy="7892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02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  <p:sldLayoutId id="2147483681" r:id="rId4"/>
  </p:sldLayoutIdLst>
  <p:timing>
    <p:tnLst>
      <p:par>
        <p:cTn id="1" dur="indefinite" restart="never" nodeType="tmRoot"/>
      </p:par>
    </p:tnLst>
  </p:timing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4470" y="7767935"/>
            <a:ext cx="995082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az-Latn-AZ" sz="54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tam orta məktəb</a:t>
            </a:r>
            <a:endParaRPr lang="en-US" sz="54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761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5400" b="0" cap="none" spc="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Hesabatın strukturu</a:t>
            </a:r>
            <a:endParaRPr lang="en-US" sz="54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0271" y="147918"/>
            <a:ext cx="10972800" cy="932563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857250" marR="0" lvl="0" indent="-857250" defTabSz="2106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az-Latn-AZ" sz="2400" noProof="0" dirty="0">
                <a:ln w="0"/>
                <a:latin typeface="Palatino Linotype" panose="02040502050505030304" pitchFamily="18" charset="0"/>
              </a:rPr>
              <a:t>Ümumi məlumat;</a:t>
            </a: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kumimoji="0" lang="az-Latn-AZ" sz="2400" b="0" u="none" strike="noStrike" kern="1200" cap="none" spc="0" normalizeH="0" baseline="0" dirty="0">
                <a:ln w="0"/>
                <a:effectLst/>
                <a:uLnTx/>
                <a:uFillTx/>
                <a:latin typeface="Palatino Linotype" panose="02040502050505030304" pitchFamily="18" charset="0"/>
              </a:rPr>
              <a:t>İnfrastruktur və maddi-texniki baza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Təhsil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müəssisəsinin heyəti;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Fənn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müəllimlərinin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göstəriciləri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Təltiflər;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Müsabiqələr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və peşəkar inkişaf;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Müəllimlərin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yaş intervalları üzrə təhlili;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Müəllimlərin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nəticə intervalları üzrə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təhlili;</a:t>
            </a: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Dərsdinləmələr;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Sinif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komplektlərinin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tərkibi;</a:t>
            </a: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Oğlan və qızların paylanma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faizləri;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Davamiyyət;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Respublika fənn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olimpiadaları və müsabiqələrin yekun nəticələri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IV siniflərin monitorinq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nəticələri;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IX siniflərin buraxılış imtahanı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nəticələri;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Fənlər üzrə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nəticələr;</a:t>
            </a: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Siniflər üzrə nəticələr;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Təhsil müəssisəsi üzrə nəticələr;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Kitabxana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fəaliyyəti;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Həssas qruplar;</a:t>
            </a: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Sosial yönümlü fəaliyyətlər;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Təhsil müəssisəsində həyata keçirilən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layihələr;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Uğurlarımız;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Təhsil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ehtiyacları;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Növbəti tədris ili üçün əsas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hədəflər.</a:t>
            </a:r>
            <a:endParaRPr kumimoji="0" lang="az-Latn-AZ" sz="2400" b="0" u="none" strike="noStrike" kern="1200" cap="none" spc="0" normalizeH="0" baseline="0" dirty="0">
              <a:ln w="0"/>
              <a:effectLst/>
              <a:uLnTx/>
              <a:uFillTx/>
              <a:latin typeface="Palatino Linotype" panose="0204050205050503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82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Ümumi məlumat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677232"/>
              </p:ext>
            </p:extLst>
          </p:nvPr>
        </p:nvGraphicFramePr>
        <p:xfrm>
          <a:off x="645458" y="255496"/>
          <a:ext cx="11134166" cy="907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6024">
                  <a:extLst>
                    <a:ext uri="{9D8B030D-6E8A-4147-A177-3AD203B41FA5}">
                      <a16:colId xmlns:a16="http://schemas.microsoft.com/office/drawing/2014/main" val="3937737730"/>
                    </a:ext>
                  </a:extLst>
                </a:gridCol>
                <a:gridCol w="5298142">
                  <a:extLst>
                    <a:ext uri="{9D8B030D-6E8A-4147-A177-3AD203B41FA5}">
                      <a16:colId xmlns:a16="http://schemas.microsoft.com/office/drawing/2014/main" val="1833392715"/>
                    </a:ext>
                  </a:extLst>
                </a:gridCol>
              </a:tblGrid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Məktəb</a:t>
                      </a:r>
                      <a:r>
                        <a:rPr lang="az-Latn-AZ" sz="2400" b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binasının i</a:t>
                      </a:r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nşa olunduğu il</a:t>
                      </a:r>
                    </a:p>
                    <a:p>
                      <a:pPr algn="ctr"/>
                      <a:r>
                        <a:rPr lang="az-Latn-AZ" sz="2400" b="0" i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(məktəb</a:t>
                      </a:r>
                      <a:r>
                        <a:rPr lang="az-Latn-AZ" sz="2400" b="0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olaraq fəaliyyətə başladığı il)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1962</a:t>
                      </a:r>
                      <a:r>
                        <a:rPr lang="en-US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</a:t>
                      </a:r>
                      <a:endParaRPr lang="az-Latn-AZ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ctr"/>
                      <a:r>
                        <a:rPr lang="en-US" sz="2400" b="0" i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</a:t>
                      </a:r>
                      <a:r>
                        <a:rPr lang="en-US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19</a:t>
                      </a:r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62</a:t>
                      </a:r>
                      <a:r>
                        <a:rPr lang="en-US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699064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Əsaslı təmir olunduğu il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2007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530885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Yeni</a:t>
                      </a:r>
                      <a:r>
                        <a:rPr lang="az-Latn-AZ" sz="2400" b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korpusların tikilmə ili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2006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907644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Layihə üzrə</a:t>
                      </a:r>
                      <a:r>
                        <a:rPr lang="az-Latn-AZ" sz="2400" b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şagird yeri </a:t>
                      </a:r>
                    </a:p>
                    <a:p>
                      <a:pPr algn="ctr"/>
                      <a:r>
                        <a:rPr lang="az-Latn-AZ" sz="2400" b="0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(mövcud şagird sayı)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1200</a:t>
                      </a:r>
                      <a:endParaRPr lang="az-Latn-AZ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(1508)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871437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Adını</a:t>
                      </a:r>
                      <a:r>
                        <a:rPr lang="az-Latn-AZ" sz="2400" b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daşıdığı şəxs </a:t>
                      </a:r>
                      <a:endParaRPr lang="en-US" sz="2400" b="1" baseline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ctr"/>
                      <a:r>
                        <a:rPr lang="en-US" sz="2400" b="0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</a:t>
                      </a:r>
                      <a:r>
                        <a:rPr lang="az-Latn-AZ" sz="2400" b="0" i="1" baseline="0" noProof="1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ictimai </a:t>
                      </a:r>
                      <a:r>
                        <a:rPr lang="az-Latn-AZ" sz="2400" b="0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kimliyi</a:t>
                      </a:r>
                      <a:r>
                        <a:rPr lang="en-US" sz="2400" b="0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)</a:t>
                      </a:r>
                      <a:endParaRPr lang="az-Latn-AZ" sz="2400" b="0" i="1" baseline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Həsən</a:t>
                      </a:r>
                      <a:r>
                        <a:rPr lang="az-Latn-AZ" sz="2400" b="1" i="1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Cəbrayılov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(Böyük</a:t>
                      </a:r>
                      <a:r>
                        <a:rPr lang="az-Latn-AZ" sz="2400" b="0" i="1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Vətən müharibəsi qəhrəmanı.)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238136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Direktor </a:t>
                      </a:r>
                    </a:p>
                    <a:p>
                      <a:pPr algn="ctr"/>
                      <a:r>
                        <a:rPr lang="az-Latn-AZ" sz="2400" b="0" i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(fəaliyyət ili)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Məmmədova Ofelya Həsən qızı</a:t>
                      </a:r>
                      <a:endParaRPr lang="az-Latn-AZ" sz="2400" b="1" i="1" baseline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ctr"/>
                      <a:r>
                        <a:rPr lang="az-Latn-AZ" sz="2400" b="0" i="1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(13 </a:t>
                      </a:r>
                      <a:r>
                        <a:rPr lang="az-Latn-AZ" sz="2400" b="0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il)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755151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Məktəbin ünvanı</a:t>
                      </a:r>
                    </a:p>
                    <a:p>
                      <a:pPr algn="ctr"/>
                      <a:r>
                        <a:rPr lang="az-Latn-AZ" sz="2400" b="0" i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(rayon, qəsəbə, küçə və s.)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Binəqədi</a:t>
                      </a:r>
                      <a:r>
                        <a:rPr lang="az-Latn-AZ" sz="2400" b="1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rayonu, </a:t>
                      </a:r>
                      <a:r>
                        <a:rPr lang="az-Latn-AZ" sz="2400" b="1" i="1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Azadlıq pr.193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35253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Məktəbin</a:t>
                      </a:r>
                      <a:r>
                        <a:rPr lang="az-Latn-AZ" sz="2400" b="1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növbəliliyi</a:t>
                      </a:r>
                      <a:endParaRPr lang="en-US" sz="24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827778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13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İnfrastruktur və maddi-texniki baza</a:t>
            </a:r>
            <a:endParaRPr kumimoji="0" lang="en-US" sz="4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164869"/>
              </p:ext>
            </p:extLst>
          </p:nvPr>
        </p:nvGraphicFramePr>
        <p:xfrm>
          <a:off x="645458" y="271699"/>
          <a:ext cx="11107273" cy="905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1824">
                  <a:extLst>
                    <a:ext uri="{9D8B030D-6E8A-4147-A177-3AD203B41FA5}">
                      <a16:colId xmlns:a16="http://schemas.microsoft.com/office/drawing/2014/main" val="3937737730"/>
                    </a:ext>
                  </a:extLst>
                </a:gridCol>
                <a:gridCol w="1528483">
                  <a:extLst>
                    <a:ext uri="{9D8B030D-6E8A-4147-A177-3AD203B41FA5}">
                      <a16:colId xmlns:a16="http://schemas.microsoft.com/office/drawing/2014/main" val="1833392715"/>
                    </a:ext>
                  </a:extLst>
                </a:gridCol>
                <a:gridCol w="1528483">
                  <a:extLst>
                    <a:ext uri="{9D8B030D-6E8A-4147-A177-3AD203B41FA5}">
                      <a16:colId xmlns:a16="http://schemas.microsoft.com/office/drawing/2014/main" val="652883295"/>
                    </a:ext>
                  </a:extLst>
                </a:gridCol>
                <a:gridCol w="1528483">
                  <a:extLst>
                    <a:ext uri="{9D8B030D-6E8A-4147-A177-3AD203B41FA5}">
                      <a16:colId xmlns:a16="http://schemas.microsoft.com/office/drawing/2014/main" val="1400997819"/>
                    </a:ext>
                  </a:extLst>
                </a:gridCol>
              </a:tblGrid>
              <a:tr h="807892">
                <a:tc>
                  <a:txBody>
                    <a:bodyPr/>
                    <a:lstStyle/>
                    <a:p>
                      <a:pPr algn="ctr"/>
                      <a:endParaRPr lang="en-US" sz="24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Ümumi</a:t>
                      </a:r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İşlək</a:t>
                      </a:r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Qeyri</a:t>
                      </a:r>
                      <a:r>
                        <a:rPr lang="az-Latn-AZ" sz="24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-işlək</a:t>
                      </a:r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171492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Sinif</a:t>
                      </a:r>
                      <a:r>
                        <a:rPr lang="az-Latn-AZ" sz="32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otaqlarının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74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69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5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699064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Fənn</a:t>
                      </a:r>
                      <a:r>
                        <a:rPr lang="az-Latn-AZ" sz="32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l</a:t>
                      </a:r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aboratoriyalarının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530885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STEAM </a:t>
                      </a:r>
                      <a:r>
                        <a:rPr lang="az-Latn-AZ" sz="32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l</a:t>
                      </a:r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aboratoriyalarının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907644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Kompüter otaqlarının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871437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Kömpüterlərin sayı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134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119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15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238136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Laboratoriya</a:t>
                      </a:r>
                      <a:r>
                        <a:rPr lang="az-Latn-AZ" sz="32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dəstlərinin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755151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Elektron lövhələrin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22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21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662341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Proyektorların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27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23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719244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Printerlərin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8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3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5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963760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az-Latn-AZ" sz="3200" b="0" i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Sürətçıxaran</a:t>
                      </a:r>
                      <a:r>
                        <a:rPr lang="az-Latn-AZ" sz="3200" b="0" i="0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az-Latn-AZ" sz="32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aparatlarının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3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214397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Elektron dərsliklərin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736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05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4400" b="0" cap="none" spc="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Təhsil müəssisəsinin heyəti</a:t>
            </a:r>
            <a:endParaRPr lang="en-US" sz="44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766483" y="397970"/>
            <a:ext cx="5069541" cy="2950348"/>
            <a:chOff x="4541260" y="3742435"/>
            <a:chExt cx="10367017" cy="5662718"/>
          </a:xfrm>
        </p:grpSpPr>
        <p:grpSp>
          <p:nvGrpSpPr>
            <p:cNvPr id="5" name="Group 4"/>
            <p:cNvGrpSpPr/>
            <p:nvPr/>
          </p:nvGrpSpPr>
          <p:grpSpPr>
            <a:xfrm>
              <a:off x="4541260" y="3742435"/>
              <a:ext cx="3978875" cy="5662718"/>
              <a:chOff x="5042141" y="4539304"/>
              <a:chExt cx="3978875" cy="5662718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5042141" y="4539304"/>
                <a:ext cx="3978875" cy="5662718"/>
                <a:chOff x="7513492" y="3974952"/>
                <a:chExt cx="3978875" cy="5662718"/>
              </a:xfrm>
            </p:grpSpPr>
            <p:sp>
              <p:nvSpPr>
                <p:cNvPr id="14" name="Rectangle 13"/>
                <p:cNvSpPr/>
                <p:nvPr/>
              </p:nvSpPr>
              <p:spPr>
                <a:xfrm>
                  <a:off x="7747188" y="3974952"/>
                  <a:ext cx="3511479" cy="88609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az-Latn-AZ" sz="2400" dirty="0">
                      <a:ln w="0"/>
                      <a:latin typeface="Palatino Linotype" panose="02040502050505030304" pitchFamily="18" charset="0"/>
                    </a:rPr>
                    <a:t>Müəllimlər</a:t>
                  </a:r>
                  <a:endParaRPr lang="en-US" sz="2400" dirty="0">
                    <a:ln w="0"/>
                    <a:latin typeface="Palatino Linotype" panose="02040502050505030304" pitchFamily="18" charset="0"/>
                  </a:endParaRPr>
                </a:p>
              </p:txBody>
            </p:sp>
            <p:sp>
              <p:nvSpPr>
                <p:cNvPr id="15" name="Rounded Rectangle 14"/>
                <p:cNvSpPr/>
                <p:nvPr/>
              </p:nvSpPr>
              <p:spPr>
                <a:xfrm>
                  <a:off x="7513492" y="4793821"/>
                  <a:ext cx="3978875" cy="4843849"/>
                </a:xfrm>
                <a:prstGeom prst="roundRect">
                  <a:avLst/>
                </a:prstGeom>
                <a:solidFill>
                  <a:srgbClr val="92D050">
                    <a:alpha val="20000"/>
                  </a:srgbClr>
                </a:solidFill>
                <a:ln>
                  <a:solidFill>
                    <a:srgbClr val="9BBC2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7834060" y="8379134"/>
                  <a:ext cx="3337741" cy="10042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az-Latn-AZ" sz="2800" dirty="0" smtClean="0">
                      <a:ln w="0"/>
                      <a:latin typeface="Palatino Linotype" panose="02040502050505030304" pitchFamily="18" charset="0"/>
                    </a:rPr>
                    <a:t>136 </a:t>
                  </a:r>
                  <a:r>
                    <a:rPr lang="az-Latn-AZ" sz="2800" dirty="0">
                      <a:ln w="0"/>
                      <a:latin typeface="Palatino Linotype" panose="02040502050505030304" pitchFamily="18" charset="0"/>
                    </a:rPr>
                    <a:t>nəfər</a:t>
                  </a:r>
                  <a:endParaRPr lang="en-US" sz="2800" dirty="0">
                    <a:ln w="0"/>
                    <a:latin typeface="Palatino Linotype" panose="02040502050505030304" pitchFamily="18" charset="0"/>
                  </a:endParaRPr>
                </a:p>
              </p:txBody>
            </p:sp>
          </p:grpSp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7F7F7"/>
                  </a:clrFrom>
                  <a:clrTo>
                    <a:srgbClr val="F7F7F7">
                      <a:alpha val="0"/>
                    </a:srgbClr>
                  </a:clrTo>
                </a:clrChange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5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98886" y="5728463"/>
                <a:ext cx="3922130" cy="2927916"/>
              </a:xfrm>
              <a:prstGeom prst="rect">
                <a:avLst/>
              </a:prstGeom>
            </p:spPr>
          </p:pic>
        </p:grpSp>
        <p:sp>
          <p:nvSpPr>
            <p:cNvPr id="6" name="Rounded Rectangle 5"/>
            <p:cNvSpPr/>
            <p:nvPr/>
          </p:nvSpPr>
          <p:spPr>
            <a:xfrm>
              <a:off x="9019420" y="4561304"/>
              <a:ext cx="2694786" cy="1378091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solidFill>
                <a:srgbClr val="9BBC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Qadın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2213491" y="4561304"/>
              <a:ext cx="2694786" cy="1378091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solidFill>
                <a:srgbClr val="9BBC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Kişi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019420" y="6294183"/>
              <a:ext cx="2694786" cy="1378091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solidFill>
                <a:srgbClr val="9BBC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125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2213491" y="6294183"/>
              <a:ext cx="2694786" cy="1378091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solidFill>
                <a:srgbClr val="9BBC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11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019420" y="8027062"/>
              <a:ext cx="2694786" cy="1378091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solidFill>
                <a:srgbClr val="9BBC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92%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213491" y="8027062"/>
              <a:ext cx="2694786" cy="1378091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solidFill>
                <a:srgbClr val="9BBC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8</a:t>
              </a:r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%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533681" y="397970"/>
            <a:ext cx="5130475" cy="2953512"/>
            <a:chOff x="4408855" y="11088386"/>
            <a:chExt cx="10499421" cy="5662718"/>
          </a:xfrm>
        </p:grpSpPr>
        <p:grpSp>
          <p:nvGrpSpPr>
            <p:cNvPr id="18" name="Group 17"/>
            <p:cNvGrpSpPr/>
            <p:nvPr/>
          </p:nvGrpSpPr>
          <p:grpSpPr>
            <a:xfrm>
              <a:off x="4408855" y="11088386"/>
              <a:ext cx="4243677" cy="5662718"/>
              <a:chOff x="4909734" y="11187241"/>
              <a:chExt cx="4243677" cy="5662718"/>
            </a:xfrm>
          </p:grpSpPr>
          <p:grpSp>
            <p:nvGrpSpPr>
              <p:cNvPr id="25" name="Group 24"/>
              <p:cNvGrpSpPr/>
              <p:nvPr/>
            </p:nvGrpSpPr>
            <p:grpSpPr>
              <a:xfrm>
                <a:off x="4909734" y="11187241"/>
                <a:ext cx="4243677" cy="5662718"/>
                <a:chOff x="7381087" y="3974952"/>
                <a:chExt cx="4243677" cy="5662718"/>
              </a:xfrm>
            </p:grpSpPr>
            <p:sp>
              <p:nvSpPr>
                <p:cNvPr id="27" name="Rectangle 26"/>
                <p:cNvSpPr/>
                <p:nvPr/>
              </p:nvSpPr>
              <p:spPr>
                <a:xfrm>
                  <a:off x="7381087" y="3974952"/>
                  <a:ext cx="4243677" cy="88514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az-Latn-AZ" sz="2400" dirty="0">
                      <a:ln w="0"/>
                      <a:latin typeface="Palatino Linotype" panose="02040502050505030304" pitchFamily="18" charset="0"/>
                    </a:rPr>
                    <a:t>Texniki işçilər</a:t>
                  </a:r>
                  <a:endParaRPr lang="en-US" sz="2400" dirty="0">
                    <a:ln w="0"/>
                    <a:latin typeface="Palatino Linotype" panose="02040502050505030304" pitchFamily="18" charset="0"/>
                  </a:endParaRPr>
                </a:p>
              </p:txBody>
            </p:sp>
            <p:sp>
              <p:nvSpPr>
                <p:cNvPr id="28" name="Rounded Rectangle 27"/>
                <p:cNvSpPr/>
                <p:nvPr/>
              </p:nvSpPr>
              <p:spPr>
                <a:xfrm>
                  <a:off x="7513492" y="4793821"/>
                  <a:ext cx="3978875" cy="4843849"/>
                </a:xfrm>
                <a:prstGeom prst="roundRect">
                  <a:avLst/>
                </a:prstGeom>
                <a:solidFill>
                  <a:srgbClr val="FFC000">
                    <a:alpha val="20000"/>
                  </a:srgbClr>
                </a:solidFill>
                <a:ln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9" name="Rectangle 28"/>
                <p:cNvSpPr/>
                <p:nvPr/>
              </p:nvSpPr>
              <p:spPr>
                <a:xfrm>
                  <a:off x="8016523" y="8379137"/>
                  <a:ext cx="2972804" cy="100316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az-Latn-AZ" sz="2800" dirty="0" smtClean="0">
                      <a:ln w="0"/>
                      <a:latin typeface="Palatino Linotype" panose="02040502050505030304" pitchFamily="18" charset="0"/>
                    </a:rPr>
                    <a:t>30 </a:t>
                  </a:r>
                  <a:r>
                    <a:rPr lang="az-Latn-AZ" sz="2800" dirty="0">
                      <a:ln w="0"/>
                      <a:latin typeface="Palatino Linotype" panose="02040502050505030304" pitchFamily="18" charset="0"/>
                    </a:rPr>
                    <a:t>nəfər</a:t>
                  </a:r>
                  <a:endParaRPr lang="en-US" sz="2800" dirty="0">
                    <a:ln w="0"/>
                    <a:latin typeface="Palatino Linotype" panose="02040502050505030304" pitchFamily="18" charset="0"/>
                  </a:endParaRPr>
                </a:p>
              </p:txBody>
            </p:sp>
          </p:grpSp>
          <p:pic>
            <p:nvPicPr>
              <p:cNvPr id="26" name="Picture 25"/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66886" y="12244014"/>
                <a:ext cx="3129383" cy="3129383"/>
              </a:xfrm>
              <a:prstGeom prst="rect">
                <a:avLst/>
              </a:prstGeom>
            </p:spPr>
          </p:pic>
        </p:grpSp>
        <p:sp>
          <p:nvSpPr>
            <p:cNvPr id="19" name="Rounded Rectangle 18"/>
            <p:cNvSpPr/>
            <p:nvPr/>
          </p:nvSpPr>
          <p:spPr>
            <a:xfrm>
              <a:off x="9019419" y="11907255"/>
              <a:ext cx="2694786" cy="1378091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Qadın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2213490" y="11907255"/>
              <a:ext cx="2694786" cy="1378091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Kişi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019419" y="13640134"/>
              <a:ext cx="2694786" cy="1378091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25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2213490" y="13640134"/>
              <a:ext cx="2694786" cy="1378091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5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019419" y="15373013"/>
              <a:ext cx="2694786" cy="1378091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83%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2213490" y="15373013"/>
              <a:ext cx="2694786" cy="1378091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17%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66483" y="4657073"/>
            <a:ext cx="6695780" cy="3967297"/>
            <a:chOff x="16706919" y="3568447"/>
            <a:chExt cx="10367016" cy="5836706"/>
          </a:xfrm>
        </p:grpSpPr>
        <p:grpSp>
          <p:nvGrpSpPr>
            <p:cNvPr id="31" name="Group 30"/>
            <p:cNvGrpSpPr/>
            <p:nvPr/>
          </p:nvGrpSpPr>
          <p:grpSpPr>
            <a:xfrm>
              <a:off x="16706919" y="3568447"/>
              <a:ext cx="3983213" cy="5836706"/>
              <a:chOff x="16509212" y="4365316"/>
              <a:chExt cx="3983213" cy="5836706"/>
            </a:xfrm>
          </p:grpSpPr>
          <p:grpSp>
            <p:nvGrpSpPr>
              <p:cNvPr id="38" name="Group 37"/>
              <p:cNvGrpSpPr/>
              <p:nvPr/>
            </p:nvGrpSpPr>
            <p:grpSpPr>
              <a:xfrm>
                <a:off x="16509212" y="4365316"/>
                <a:ext cx="3978875" cy="5836706"/>
                <a:chOff x="7513492" y="3800964"/>
                <a:chExt cx="3978875" cy="5836706"/>
              </a:xfrm>
            </p:grpSpPr>
            <p:sp>
              <p:nvSpPr>
                <p:cNvPr id="40" name="Rectangle 39"/>
                <p:cNvSpPr/>
                <p:nvPr/>
              </p:nvSpPr>
              <p:spPr>
                <a:xfrm>
                  <a:off x="8073096" y="3800964"/>
                  <a:ext cx="2859663" cy="86032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az-Latn-AZ" sz="3200" dirty="0">
                      <a:ln w="0"/>
                      <a:latin typeface="Palatino Linotype" panose="02040502050505030304" pitchFamily="18" charset="0"/>
                    </a:rPr>
                    <a:t>Şagirdlər</a:t>
                  </a:r>
                  <a:endParaRPr lang="en-US" sz="3200" dirty="0">
                    <a:ln w="0"/>
                    <a:latin typeface="Palatino Linotype" panose="02040502050505030304" pitchFamily="18" charset="0"/>
                  </a:endParaRPr>
                </a:p>
              </p:txBody>
            </p:sp>
            <p:sp>
              <p:nvSpPr>
                <p:cNvPr id="41" name="Rounded Rectangle 40"/>
                <p:cNvSpPr/>
                <p:nvPr/>
              </p:nvSpPr>
              <p:spPr>
                <a:xfrm>
                  <a:off x="7513492" y="4793821"/>
                  <a:ext cx="3978875" cy="4843849"/>
                </a:xfrm>
                <a:prstGeom prst="roundRect">
                  <a:avLst/>
                </a:prstGeom>
                <a:solidFill>
                  <a:srgbClr val="00B0F0">
                    <a:alpha val="20000"/>
                  </a:srgb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>
                  <a:off x="8100397" y="8379135"/>
                  <a:ext cx="2805061" cy="76976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az-Latn-AZ" sz="2800" dirty="0" smtClean="0">
                      <a:ln w="0"/>
                      <a:latin typeface="Palatino Linotype" panose="02040502050505030304" pitchFamily="18" charset="0"/>
                    </a:rPr>
                    <a:t>1508 </a:t>
                  </a:r>
                  <a:r>
                    <a:rPr lang="az-Latn-AZ" sz="2800" dirty="0">
                      <a:ln w="0"/>
                      <a:latin typeface="Palatino Linotype" panose="02040502050505030304" pitchFamily="18" charset="0"/>
                    </a:rPr>
                    <a:t>nəfər</a:t>
                  </a:r>
                  <a:endParaRPr lang="en-US" sz="2800" dirty="0">
                    <a:ln w="0"/>
                    <a:latin typeface="Palatino Linotype" panose="02040502050505030304" pitchFamily="18" charset="0"/>
                  </a:endParaRPr>
                </a:p>
              </p:txBody>
            </p:sp>
          </p:grpSp>
          <p:pic>
            <p:nvPicPr>
              <p:cNvPr id="39" name="Picture 38"/>
              <p:cNvPicPr>
                <a:picLocks noChangeAspect="1"/>
              </p:cNvPicPr>
              <p:nvPr/>
            </p:nvPicPr>
            <p:blipFill>
              <a:blip r:embed="rId5" cstate="print">
                <a:clrChange>
                  <a:clrFrom>
                    <a:srgbClr val="F7F7F7"/>
                  </a:clrFrom>
                  <a:clrTo>
                    <a:srgbClr val="F7F7F7">
                      <a:alpha val="0"/>
                    </a:srgbClr>
                  </a:clrTo>
                </a:clrChange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509212" y="5918137"/>
                <a:ext cx="3983213" cy="2672458"/>
              </a:xfrm>
              <a:prstGeom prst="rect">
                <a:avLst/>
              </a:prstGeom>
            </p:spPr>
          </p:pic>
        </p:grpSp>
        <p:sp>
          <p:nvSpPr>
            <p:cNvPr id="32" name="Rounded Rectangle 31"/>
            <p:cNvSpPr/>
            <p:nvPr/>
          </p:nvSpPr>
          <p:spPr>
            <a:xfrm>
              <a:off x="21185078" y="4561304"/>
              <a:ext cx="2694786" cy="1378091"/>
            </a:xfrm>
            <a:prstGeom prst="roundRect">
              <a:avLst/>
            </a:prstGeom>
            <a:solidFill>
              <a:srgbClr val="00B0F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Oğlan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24379149" y="4561304"/>
              <a:ext cx="2694786" cy="1378091"/>
            </a:xfrm>
            <a:prstGeom prst="roundRect">
              <a:avLst/>
            </a:prstGeom>
            <a:solidFill>
              <a:srgbClr val="00B0F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Qız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21185078" y="6294183"/>
              <a:ext cx="2694786" cy="1378091"/>
            </a:xfrm>
            <a:prstGeom prst="roundRect">
              <a:avLst/>
            </a:prstGeom>
            <a:solidFill>
              <a:srgbClr val="00B0F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845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24379149" y="6294183"/>
              <a:ext cx="2694786" cy="1378091"/>
            </a:xfrm>
            <a:prstGeom prst="roundRect">
              <a:avLst/>
            </a:prstGeom>
            <a:solidFill>
              <a:srgbClr val="00B0F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663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21185078" y="8027062"/>
              <a:ext cx="2694786" cy="1378091"/>
            </a:xfrm>
            <a:prstGeom prst="roundRect">
              <a:avLst/>
            </a:prstGeom>
            <a:solidFill>
              <a:srgbClr val="00B0F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56%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24379149" y="8027062"/>
              <a:ext cx="2694786" cy="1378091"/>
            </a:xfrm>
            <a:prstGeom prst="roundRect">
              <a:avLst/>
            </a:prstGeom>
            <a:solidFill>
              <a:srgbClr val="00B0F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44%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sp>
        <p:nvSpPr>
          <p:cNvPr id="43" name="Rounded Rectangle 42"/>
          <p:cNvSpPr/>
          <p:nvPr/>
        </p:nvSpPr>
        <p:spPr>
          <a:xfrm>
            <a:off x="8453646" y="4657073"/>
            <a:ext cx="2864224" cy="4409291"/>
          </a:xfrm>
          <a:prstGeom prst="roundRect">
            <a:avLst/>
          </a:prstGeom>
          <a:solidFill>
            <a:srgbClr val="0000CC">
              <a:alpha val="36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sz="3600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Şagird-müəllim nisbəti </a:t>
            </a:r>
            <a:endParaRPr lang="az-Latn-AZ" sz="3600" b="1" dirty="0" smtClean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pPr algn="ctr"/>
            <a:r>
              <a:rPr lang="az-Latn-AZ" sz="2800" dirty="0" smtClean="0">
                <a:solidFill>
                  <a:schemeClr val="tx1"/>
                </a:solidFill>
                <a:latin typeface="Palatino Linotype" panose="02040502050505030304" pitchFamily="18" charset="0"/>
              </a:rPr>
              <a:t>(</a:t>
            </a:r>
            <a:r>
              <a:rPr lang="az-Latn-AZ" sz="2800" i="1" dirty="0">
                <a:solidFill>
                  <a:schemeClr val="tx1"/>
                </a:solidFill>
                <a:latin typeface="Palatino Linotype" panose="02040502050505030304" pitchFamily="18" charset="0"/>
              </a:rPr>
              <a:t>şagird </a:t>
            </a:r>
            <a:r>
              <a:rPr lang="az-Latn-AZ" sz="2800" i="1" dirty="0" smtClean="0">
                <a:solidFill>
                  <a:schemeClr val="tx1"/>
                </a:solidFill>
                <a:latin typeface="Palatino Linotype" panose="02040502050505030304" pitchFamily="18" charset="0"/>
              </a:rPr>
              <a:t>sayı(1508)/</a:t>
            </a:r>
            <a:r>
              <a:rPr lang="az-Latn-AZ" sz="2800" i="1" dirty="0">
                <a:solidFill>
                  <a:schemeClr val="tx1"/>
                </a:solidFill>
                <a:latin typeface="Palatino Linotype" panose="02040502050505030304" pitchFamily="18" charset="0"/>
              </a:rPr>
              <a:t>müəllim </a:t>
            </a:r>
            <a:r>
              <a:rPr lang="az-Latn-AZ" sz="2800" i="1" dirty="0" smtClean="0">
                <a:solidFill>
                  <a:schemeClr val="tx1"/>
                </a:solidFill>
                <a:latin typeface="Palatino Linotype" panose="02040502050505030304" pitchFamily="18" charset="0"/>
              </a:rPr>
              <a:t>sayı(136)</a:t>
            </a:r>
            <a:r>
              <a:rPr lang="az-Latn-AZ" sz="2800" dirty="0" smtClean="0">
                <a:solidFill>
                  <a:schemeClr val="tx1"/>
                </a:solidFill>
                <a:latin typeface="Palatino Linotype" panose="02040502050505030304" pitchFamily="18" charset="0"/>
              </a:rPr>
              <a:t>) </a:t>
            </a:r>
            <a:r>
              <a:rPr lang="az-Latn-AZ" sz="2800" dirty="0">
                <a:solidFill>
                  <a:schemeClr val="tx1"/>
                </a:solidFill>
                <a:latin typeface="Palatino Linotype" panose="02040502050505030304" pitchFamily="18" charset="0"/>
              </a:rPr>
              <a:t>= </a:t>
            </a:r>
            <a:r>
              <a:rPr lang="az-Latn-AZ" sz="4400" b="1" dirty="0" smtClean="0">
                <a:solidFill>
                  <a:schemeClr val="tx1"/>
                </a:solidFill>
                <a:latin typeface="Palatino Linotype" panose="02040502050505030304" pitchFamily="18" charset="0"/>
              </a:rPr>
              <a:t>0,09</a:t>
            </a:r>
            <a:endParaRPr lang="az-Latn-AZ" sz="4400" b="1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992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3827947"/>
            <a:ext cx="3966880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Fənn müəllimlərinin göstəriciləri</a:t>
            </a:r>
            <a:endParaRPr kumimoji="0" lang="en-US" sz="4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35" y="2017058"/>
            <a:ext cx="11092324" cy="529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52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4258253"/>
            <a:ext cx="39668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Təltiflər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07" y="1258635"/>
            <a:ext cx="10838737" cy="713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81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3827947"/>
            <a:ext cx="3966880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4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Müsabiqələr və peşəkar inkişaf</a:t>
            </a:r>
            <a:endParaRPr kumimoji="0" lang="en-US" sz="4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59" y="814882"/>
            <a:ext cx="11233682" cy="800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5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3827947"/>
            <a:ext cx="3966880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Müəllimlərin yaş intervalları üzrə təhlili</a:t>
            </a:r>
            <a:endParaRPr kumimoji="0" lang="en-US" sz="4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0" y="989117"/>
            <a:ext cx="10228310" cy="934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71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3827947"/>
            <a:ext cx="3966880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Müəllimlərin nəticə intervalları üzrə təhlili</a:t>
            </a:r>
            <a:endParaRPr kumimoji="0" lang="en-US" sz="4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31" y="134472"/>
            <a:ext cx="10228310" cy="934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61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Dərs-dinləmələr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5318"/>
              </p:ext>
            </p:extLst>
          </p:nvPr>
        </p:nvGraphicFramePr>
        <p:xfrm>
          <a:off x="578223" y="206207"/>
          <a:ext cx="11061327" cy="9147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966">
                  <a:extLst>
                    <a:ext uri="{9D8B030D-6E8A-4147-A177-3AD203B41FA5}">
                      <a16:colId xmlns:a16="http://schemas.microsoft.com/office/drawing/2014/main" val="1215394851"/>
                    </a:ext>
                  </a:extLst>
                </a:gridCol>
                <a:gridCol w="1484535">
                  <a:extLst>
                    <a:ext uri="{9D8B030D-6E8A-4147-A177-3AD203B41FA5}">
                      <a16:colId xmlns:a16="http://schemas.microsoft.com/office/drawing/2014/main" val="2066010269"/>
                    </a:ext>
                  </a:extLst>
                </a:gridCol>
                <a:gridCol w="1484535">
                  <a:extLst>
                    <a:ext uri="{9D8B030D-6E8A-4147-A177-3AD203B41FA5}">
                      <a16:colId xmlns:a16="http://schemas.microsoft.com/office/drawing/2014/main" val="950473323"/>
                    </a:ext>
                  </a:extLst>
                </a:gridCol>
                <a:gridCol w="1484535">
                  <a:extLst>
                    <a:ext uri="{9D8B030D-6E8A-4147-A177-3AD203B41FA5}">
                      <a16:colId xmlns:a16="http://schemas.microsoft.com/office/drawing/2014/main" val="884368350"/>
                    </a:ext>
                  </a:extLst>
                </a:gridCol>
                <a:gridCol w="3726756">
                  <a:extLst>
                    <a:ext uri="{9D8B030D-6E8A-4147-A177-3AD203B41FA5}">
                      <a16:colId xmlns:a16="http://schemas.microsoft.com/office/drawing/2014/main" val="1573274089"/>
                    </a:ext>
                  </a:extLst>
                </a:gridCol>
              </a:tblGrid>
              <a:tr h="1313660">
                <a:tc>
                  <a:txBody>
                    <a:bodyPr/>
                    <a:lstStyle/>
                    <a:p>
                      <a:pPr algn="ctr"/>
                      <a:r>
                        <a:rPr lang="az-Latn-AZ" sz="20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Dərsdinləmənin</a:t>
                      </a:r>
                      <a:r>
                        <a:rPr lang="az-Latn-AZ" sz="2000" b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məqsədi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Hədəf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Dinlənilən dərslərin sayı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b="1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Məsul şəxs(lər)</a:t>
                      </a:r>
                      <a:endParaRPr lang="az-Latn-AZ" sz="2000" b="1" baseline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Nəticə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48916"/>
                  </a:ext>
                </a:extLst>
              </a:tr>
              <a:tr h="1728897"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1.Müəllimlərin təşkilatı fəaliyyətini izləmək (Dərsin planlaşdırılma</a:t>
                      </a:r>
                      <a:r>
                        <a:rPr lang="az-Latn-AZ" sz="1800" b="0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səviyyəsi, şagirdlərlə səmərəli əks əlaqəni təmin etməsi, vaxtından düzgün istifadə etməsi</a:t>
                      </a:r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)</a:t>
                      </a:r>
                    </a:p>
                    <a:p>
                      <a:pPr algn="ctr"/>
                      <a:r>
                        <a:rPr lang="az-Latn-AZ" sz="1800" b="0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1.1. </a:t>
                      </a:r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Müəllimin təlim fəaliyyətini izləmək (Elmilik prinsipinin qorunması,təlim metodları vəüsulların</a:t>
                      </a:r>
                      <a:r>
                        <a:rPr lang="az-Latn-AZ" sz="1800" b="0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düzgün seşilməsi, əyani vəsaitlərdən istifadənin səmərəliliyi, şagırdlərin qiymətləndirilməsi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112</a:t>
                      </a:r>
                    </a:p>
                    <a:p>
                      <a:pPr algn="ctr"/>
                      <a:endParaRPr lang="az-Latn-AZ" sz="1800" b="0" dirty="0" smtClean="0">
                        <a:solidFill>
                          <a:srgbClr val="FF0000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Direktor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az-Latn-AZ" sz="18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98 saat müsbət nəticə</a:t>
                      </a:r>
                      <a:endParaRPr lang="en-US" sz="18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511207"/>
                  </a:ext>
                </a:extLst>
              </a:tr>
              <a:tr h="2200414"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2.</a:t>
                      </a:r>
                      <a:r>
                        <a:rPr lang="az-Latn-AZ" sz="1800" b="0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Ölçü üzrə standartların izlənməsi.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72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Direktor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68 saat müsbət nəticə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807674"/>
                  </a:ext>
                </a:extLst>
              </a:tr>
              <a:tr h="657409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rgbClr val="FF0000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998768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667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7442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3827947"/>
            <a:ext cx="3966880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4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Sinif komplektlərinin tərkibi</a:t>
            </a:r>
            <a:endParaRPr kumimoji="0" lang="en-US" sz="4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050426"/>
              </p:ext>
            </p:extLst>
          </p:nvPr>
        </p:nvGraphicFramePr>
        <p:xfrm>
          <a:off x="591678" y="268945"/>
          <a:ext cx="11174493" cy="9063310"/>
        </p:xfrm>
        <a:graphic>
          <a:graphicData uri="http://schemas.openxmlformats.org/drawingml/2006/table">
            <a:tbl>
              <a:tblPr/>
              <a:tblGrid>
                <a:gridCol w="2339781">
                  <a:extLst>
                    <a:ext uri="{9D8B030D-6E8A-4147-A177-3AD203B41FA5}">
                      <a16:colId xmlns:a16="http://schemas.microsoft.com/office/drawing/2014/main" val="1837319653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2054582853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2630154093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13445460"/>
                    </a:ext>
                  </a:extLst>
                </a:gridCol>
                <a:gridCol w="521231">
                  <a:extLst>
                    <a:ext uri="{9D8B030D-6E8A-4147-A177-3AD203B41FA5}">
                      <a16:colId xmlns:a16="http://schemas.microsoft.com/office/drawing/2014/main" val="4070376480"/>
                    </a:ext>
                  </a:extLst>
                </a:gridCol>
                <a:gridCol w="102884">
                  <a:extLst>
                    <a:ext uri="{9D8B030D-6E8A-4147-A177-3AD203B41FA5}">
                      <a16:colId xmlns:a16="http://schemas.microsoft.com/office/drawing/2014/main" val="408981130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4278711453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1734489224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3636598698"/>
                    </a:ext>
                  </a:extLst>
                </a:gridCol>
                <a:gridCol w="378007">
                  <a:extLst>
                    <a:ext uri="{9D8B030D-6E8A-4147-A177-3AD203B41FA5}">
                      <a16:colId xmlns:a16="http://schemas.microsoft.com/office/drawing/2014/main" val="198421558"/>
                    </a:ext>
                  </a:extLst>
                </a:gridCol>
                <a:gridCol w="246108">
                  <a:extLst>
                    <a:ext uri="{9D8B030D-6E8A-4147-A177-3AD203B41FA5}">
                      <a16:colId xmlns:a16="http://schemas.microsoft.com/office/drawing/2014/main" val="3478304413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114368265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4289714089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514863036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4018962966"/>
                    </a:ext>
                  </a:extLst>
                </a:gridCol>
                <a:gridCol w="1345332">
                  <a:extLst>
                    <a:ext uri="{9D8B030D-6E8A-4147-A177-3AD203B41FA5}">
                      <a16:colId xmlns:a16="http://schemas.microsoft.com/office/drawing/2014/main" val="2257352784"/>
                    </a:ext>
                  </a:extLst>
                </a:gridCol>
              </a:tblGrid>
              <a:tr h="906331">
                <a:tc gridSpan="16">
                  <a:txBody>
                    <a:bodyPr/>
                    <a:lstStyle/>
                    <a:p>
                      <a:pPr algn="ctr" fontAlgn="ctr"/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Siniflər</a:t>
                      </a: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üzrə</a:t>
                      </a: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241907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Cəmi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529637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Sinif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sayı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007664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sayı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93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119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143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131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83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508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969308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sinif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nisbəti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23.8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22.4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22.1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20.4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20.7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17.7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21.18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106765"/>
                  </a:ext>
                </a:extLst>
              </a:tr>
              <a:tr h="906331">
                <a:tc gridSpan="16">
                  <a:txBody>
                    <a:bodyPr/>
                    <a:lstStyle/>
                    <a:p>
                      <a:pPr algn="ctr" fontAlgn="ctr"/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Təhsil</a:t>
                      </a: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səviyyələri</a:t>
                      </a: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üzrə</a:t>
                      </a: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154353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Məktəbəqədər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və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ibtidai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Ümumi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orta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Tam orta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Cəmi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97097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Sinif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sayı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366175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sayı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663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691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154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1508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875337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sinif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nisbəti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22.8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19.2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564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63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3195935"/>
            <a:ext cx="396688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Oğlan və qızların paylanma faizləri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14" y="896762"/>
            <a:ext cx="10936547" cy="774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04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4110335"/>
            <a:ext cx="39668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Davamiyyət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28" y="691871"/>
            <a:ext cx="11040946" cy="817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48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2658053"/>
            <a:ext cx="3966880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Respublika fənn</a:t>
            </a:r>
            <a:r>
              <a:rPr kumimoji="0" lang="az-Latn-AZ" sz="4400" b="0" i="0" u="none" strike="noStrike" kern="1200" cap="none" spc="0" normalizeH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olimpiadaları və müsabiqələrin yekun nəticələri</a:t>
            </a:r>
            <a:endParaRPr kumimoji="0" lang="en-US" sz="4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497662"/>
              </p:ext>
            </p:extLst>
          </p:nvPr>
        </p:nvGraphicFramePr>
        <p:xfrm>
          <a:off x="505012" y="173815"/>
          <a:ext cx="11379200" cy="9266019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1047558826"/>
                    </a:ext>
                  </a:extLst>
                </a:gridCol>
                <a:gridCol w="2339788">
                  <a:extLst>
                    <a:ext uri="{9D8B030D-6E8A-4147-A177-3AD203B41FA5}">
                      <a16:colId xmlns:a16="http://schemas.microsoft.com/office/drawing/2014/main" val="1236201796"/>
                    </a:ext>
                  </a:extLst>
                </a:gridCol>
                <a:gridCol w="2003612">
                  <a:extLst>
                    <a:ext uri="{9D8B030D-6E8A-4147-A177-3AD203B41FA5}">
                      <a16:colId xmlns:a16="http://schemas.microsoft.com/office/drawing/2014/main" val="3777020433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3294250232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2108663881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52822708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3692895666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406359392"/>
                    </a:ext>
                  </a:extLst>
                </a:gridCol>
              </a:tblGrid>
              <a:tr h="1311135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№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Olimpiada və ya müsabiqənin adı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Fənlər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I yer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II yer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III yer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Həvəs-ləndirici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Ümumi say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051730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1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Respublika</a:t>
                      </a:r>
                      <a:r>
                        <a:rPr lang="az-Latn-AZ" sz="2200" baseline="0" dirty="0" smtClean="0">
                          <a:latin typeface="Palatino Linotype" panose="02040502050505030304" pitchFamily="18" charset="0"/>
                        </a:rPr>
                        <a:t> fənn olimpiadaları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9996371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2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Respublika</a:t>
                      </a:r>
                      <a:r>
                        <a:rPr lang="az-Latn-AZ" sz="2200" baseline="0" dirty="0" smtClean="0">
                          <a:latin typeface="Palatino Linotype" panose="02040502050505030304" pitchFamily="18" charset="0"/>
                        </a:rPr>
                        <a:t> fənn müsabiqələri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794456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3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Ən yaxşı təqdimat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441724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4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Məntiq olimpiadası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İnformatika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00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1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788771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5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Bakı elm olimpiadası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24355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6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Sabahın alimləri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8182998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7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Düşünən oxucu 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367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5475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572453"/>
            <a:ext cx="3966880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IV</a:t>
            </a:r>
            <a:r>
              <a:rPr kumimoji="0" lang="az-Latn-AZ" sz="5400" b="0" i="0" u="none" strike="noStrike" kern="1200" cap="none" spc="0" normalizeH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siniflərin monitorinq nəticələri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13" y="1513282"/>
            <a:ext cx="10768911" cy="662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572453"/>
            <a:ext cx="3966880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IV siniflərin monitorinq nəticələri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263" y="412012"/>
            <a:ext cx="8632062" cy="52585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932" y="6119386"/>
            <a:ext cx="5224725" cy="321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141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048018"/>
            <a:ext cx="396688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IX</a:t>
            </a: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siniflərin buraxılış</a:t>
            </a:r>
            <a:r>
              <a:rPr kumimoji="0" lang="az-Latn-AZ" sz="5400" b="0" i="0" u="none" strike="noStrike" kern="1200" cap="none" spc="0" normalizeH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imtahanı</a:t>
            </a: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nəticələri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5540066"/>
            <a:ext cx="11371752" cy="37921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63283"/>
            <a:ext cx="11371752" cy="495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71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60" y="2494980"/>
            <a:ext cx="11245935" cy="4920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667129" y="3048018"/>
            <a:ext cx="396688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IX</a:t>
            </a: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siniflərin buraxılış</a:t>
            </a:r>
            <a:r>
              <a:rPr kumimoji="0" lang="az-Latn-AZ" sz="5400" b="0" i="0" u="none" strike="noStrike" kern="1200" cap="none" spc="0" normalizeH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imtahanı</a:t>
            </a: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nəticələri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1604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94" y="2781161"/>
            <a:ext cx="11416332" cy="44070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667129" y="2994348"/>
            <a:ext cx="396688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IX siniflərin buraxılış imtahanı nəticələri</a:t>
            </a:r>
            <a:r>
              <a:rPr kumimoji="0" lang="en-US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</a:t>
            </a:r>
            <a:r>
              <a:rPr kumimoji="0" lang="az-Latn-AZ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(müqayisəli)</a:t>
            </a:r>
            <a:endParaRPr kumimoji="0" lang="en-US" sz="48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025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667129" y="2994348"/>
            <a:ext cx="396688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IX siniflərin buraxılış imtahanı nəticələri</a:t>
            </a:r>
            <a:r>
              <a:rPr kumimoji="0" lang="en-US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</a:t>
            </a:r>
            <a:r>
              <a:rPr kumimoji="0" lang="az-Latn-AZ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(müqayisəli)</a:t>
            </a:r>
            <a:endParaRPr kumimoji="0" lang="en-US" sz="48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352" y="910065"/>
            <a:ext cx="7531140" cy="755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050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010798"/>
            <a:ext cx="10841852" cy="73886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667129" y="2994348"/>
            <a:ext cx="396688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IX siniflərin buraxılış imtahanı nəticələri</a:t>
            </a:r>
            <a:r>
              <a:rPr kumimoji="0" lang="en-US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</a:t>
            </a:r>
            <a:r>
              <a:rPr kumimoji="0" lang="az-Latn-AZ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(müqayisəli)</a:t>
            </a:r>
            <a:endParaRPr kumimoji="0" lang="en-US" sz="48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2612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357404"/>
            <a:ext cx="11452497" cy="28154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612341"/>
            <a:ext cx="11452498" cy="37818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667129" y="2994348"/>
            <a:ext cx="396688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IX siniflərin buraxılış imtahanı nəticələri</a:t>
            </a:r>
            <a:r>
              <a:rPr kumimoji="0" lang="en-US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</a:t>
            </a:r>
            <a:r>
              <a:rPr kumimoji="0" lang="az-Latn-AZ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(müqayisəli)</a:t>
            </a:r>
            <a:endParaRPr kumimoji="0" lang="en-US" sz="48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680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Fənlər üzrə nəticələr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1" y="385161"/>
            <a:ext cx="11315699" cy="894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57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Fənlər üzrə nəticələr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1" y="385161"/>
            <a:ext cx="11315699" cy="894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816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Siniflər üzrə nəticələr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99" y="151422"/>
            <a:ext cx="11157217" cy="928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73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Siniflər üzrə nəticələr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99" y="151422"/>
            <a:ext cx="11157217" cy="928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46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243747"/>
            <a:ext cx="396688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Təhsil müəssisəsi üzrə nəticələr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4" y="1867162"/>
            <a:ext cx="11430991" cy="56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18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3243747"/>
            <a:ext cx="396688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Təhsil müəssisəsi üzrə nəticələr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04" y="2120069"/>
            <a:ext cx="11430991" cy="56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756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Kitabxana fəaliyyəti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397928"/>
              </p:ext>
            </p:extLst>
          </p:nvPr>
        </p:nvGraphicFramePr>
        <p:xfrm>
          <a:off x="648494" y="273687"/>
          <a:ext cx="11010108" cy="9083969"/>
        </p:xfrm>
        <a:graphic>
          <a:graphicData uri="http://schemas.openxmlformats.org/drawingml/2006/table">
            <a:tbl>
              <a:tblPr/>
              <a:tblGrid>
                <a:gridCol w="2752527">
                  <a:extLst>
                    <a:ext uri="{9D8B030D-6E8A-4147-A177-3AD203B41FA5}">
                      <a16:colId xmlns:a16="http://schemas.microsoft.com/office/drawing/2014/main" val="3085182088"/>
                    </a:ext>
                  </a:extLst>
                </a:gridCol>
                <a:gridCol w="2752527">
                  <a:extLst>
                    <a:ext uri="{9D8B030D-6E8A-4147-A177-3AD203B41FA5}">
                      <a16:colId xmlns:a16="http://schemas.microsoft.com/office/drawing/2014/main" val="3902395189"/>
                    </a:ext>
                  </a:extLst>
                </a:gridCol>
                <a:gridCol w="2752527">
                  <a:extLst>
                    <a:ext uri="{9D8B030D-6E8A-4147-A177-3AD203B41FA5}">
                      <a16:colId xmlns:a16="http://schemas.microsoft.com/office/drawing/2014/main" val="2059051376"/>
                    </a:ext>
                  </a:extLst>
                </a:gridCol>
                <a:gridCol w="2752527">
                  <a:extLst>
                    <a:ext uri="{9D8B030D-6E8A-4147-A177-3AD203B41FA5}">
                      <a16:colId xmlns:a16="http://schemas.microsoft.com/office/drawing/2014/main" val="3915372351"/>
                    </a:ext>
                  </a:extLst>
                </a:gridCol>
              </a:tblGrid>
              <a:tr h="696021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3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Kitabxana</a:t>
                      </a:r>
                      <a:r>
                        <a:rPr lang="en-US" sz="36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36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fəaliyyəti</a:t>
                      </a:r>
                      <a:endParaRPr lang="en-US" sz="36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572741"/>
                  </a:ext>
                </a:extLst>
              </a:tr>
              <a:tr h="9280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Ümumi kitab fondu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Dərsliklərin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Digər ədəbiyyatlar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Kitab növlərinin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340950"/>
                  </a:ext>
                </a:extLst>
              </a:tr>
              <a:tr h="464014"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35633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30543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5090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642418"/>
                  </a:ext>
                </a:extLst>
              </a:tr>
              <a:tr h="588941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119504"/>
                  </a:ext>
                </a:extLst>
              </a:tr>
              <a:tr h="19809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Ümumi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Aktiv oxucu sayı </a:t>
                      </a:r>
                      <a:b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</a:b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(İl ərzində ən azı bir kitab (digər ədəbiyyat) oxumuş şagird)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İl ərzində oxunan kitab (digər ədəbiyyat)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İl ərzində oxunan kitab (digər ədəbiyyat) növlərinin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628126"/>
                  </a:ext>
                </a:extLst>
              </a:tr>
              <a:tr h="46401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1508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753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956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444490"/>
                  </a:ext>
                </a:extLst>
              </a:tr>
              <a:tr h="46401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49,933687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18,78192534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394173"/>
                  </a:ext>
                </a:extLst>
              </a:tr>
              <a:tr h="588941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Müəllimlər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714182"/>
                  </a:ext>
                </a:extLst>
              </a:tr>
              <a:tr h="19809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Ümumi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Aktiv oxucu sayı </a:t>
                      </a:r>
                      <a:b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</a:b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(İl ərzində ən azı bir kitab (digər ədəbiyyat) oxumuş şagird)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İl ərzində oxunan kitab (digər ədəbiyyat)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İl ərzində oxunan kitab (digər ədəbiyyat) növlərinin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177188"/>
                  </a:ext>
                </a:extLst>
              </a:tr>
              <a:tr h="46401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136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72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101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24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137266"/>
                  </a:ext>
                </a:extLst>
              </a:tr>
              <a:tr h="46401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52,94117647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1,984282908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1200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109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6181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Kitabxana fəaliyyəti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11976"/>
              </p:ext>
            </p:extLst>
          </p:nvPr>
        </p:nvGraphicFramePr>
        <p:xfrm>
          <a:off x="688788" y="349621"/>
          <a:ext cx="11010899" cy="8888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950">
                  <a:extLst>
                    <a:ext uri="{9D8B030D-6E8A-4147-A177-3AD203B41FA5}">
                      <a16:colId xmlns:a16="http://schemas.microsoft.com/office/drawing/2014/main" val="2532575569"/>
                    </a:ext>
                  </a:extLst>
                </a:gridCol>
                <a:gridCol w="6603955">
                  <a:extLst>
                    <a:ext uri="{9D8B030D-6E8A-4147-A177-3AD203B41FA5}">
                      <a16:colId xmlns:a16="http://schemas.microsoft.com/office/drawing/2014/main" val="405887279"/>
                    </a:ext>
                  </a:extLst>
                </a:gridCol>
                <a:gridCol w="1860997">
                  <a:extLst>
                    <a:ext uri="{9D8B030D-6E8A-4147-A177-3AD203B41FA5}">
                      <a16:colId xmlns:a16="http://schemas.microsoft.com/office/drawing/2014/main" val="4141908344"/>
                    </a:ext>
                  </a:extLst>
                </a:gridCol>
                <a:gridCol w="1860997">
                  <a:extLst>
                    <a:ext uri="{9D8B030D-6E8A-4147-A177-3AD203B41FA5}">
                      <a16:colId xmlns:a16="http://schemas.microsoft.com/office/drawing/2014/main" val="4147014052"/>
                    </a:ext>
                  </a:extLst>
                </a:gridCol>
              </a:tblGrid>
              <a:tr h="849139">
                <a:tc rowSpan="2"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№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78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Keçirilən tədbirin</a:t>
                      </a:r>
                      <a:r>
                        <a:rPr lang="az-Latn-AZ" baseline="0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 adı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78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Cəlb olunanların</a:t>
                      </a:r>
                      <a:r>
                        <a:rPr lang="az-Latn-AZ" baseline="0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 sayı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78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353729"/>
                  </a:ext>
                </a:extLst>
              </a:tr>
              <a:tr h="56651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Müəllim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Şagird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251130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Kitabın yaranma tarixi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12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44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956085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Tık-tık xanımın nağılı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7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24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664933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Zəfər tarixi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16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63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319550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«Novzuz bayramı» bədii ədəbiyyatda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26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45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272373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5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Oxu günü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14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45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111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9922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916711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Həssas</a:t>
            </a:r>
            <a:r>
              <a:rPr kumimoji="0" lang="az-Latn-AZ" sz="5400" b="0" i="0" u="none" strike="noStrike" kern="1200" cap="none" spc="0" normalizeH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qruplar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886397"/>
              </p:ext>
            </p:extLst>
          </p:nvPr>
        </p:nvGraphicFramePr>
        <p:xfrm>
          <a:off x="579018" y="107570"/>
          <a:ext cx="11200609" cy="9224686"/>
        </p:xfrm>
        <a:graphic>
          <a:graphicData uri="http://schemas.openxmlformats.org/drawingml/2006/table">
            <a:tbl>
              <a:tblPr/>
              <a:tblGrid>
                <a:gridCol w="511939">
                  <a:extLst>
                    <a:ext uri="{9D8B030D-6E8A-4147-A177-3AD203B41FA5}">
                      <a16:colId xmlns:a16="http://schemas.microsoft.com/office/drawing/2014/main" val="1456011469"/>
                    </a:ext>
                  </a:extLst>
                </a:gridCol>
                <a:gridCol w="2482129">
                  <a:extLst>
                    <a:ext uri="{9D8B030D-6E8A-4147-A177-3AD203B41FA5}">
                      <a16:colId xmlns:a16="http://schemas.microsoft.com/office/drawing/2014/main" val="1282926458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2903812077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902570919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3187987975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4024026782"/>
                    </a:ext>
                  </a:extLst>
                </a:gridCol>
                <a:gridCol w="511939">
                  <a:extLst>
                    <a:ext uri="{9D8B030D-6E8A-4147-A177-3AD203B41FA5}">
                      <a16:colId xmlns:a16="http://schemas.microsoft.com/office/drawing/2014/main" val="1527158243"/>
                    </a:ext>
                  </a:extLst>
                </a:gridCol>
                <a:gridCol w="2482129">
                  <a:extLst>
                    <a:ext uri="{9D8B030D-6E8A-4147-A177-3AD203B41FA5}">
                      <a16:colId xmlns:a16="http://schemas.microsoft.com/office/drawing/2014/main" val="3650916891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790848942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3136429726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1904276023"/>
                    </a:ext>
                  </a:extLst>
                </a:gridCol>
              </a:tblGrid>
              <a:tr h="670016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Həssaslıq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göstəriciləri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və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saylar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285344"/>
                  </a:ext>
                </a:extLst>
              </a:tr>
              <a:tr h="47858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Həssaslıq göstəriciləri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Azərbaycan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bölməsi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Rus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endParaRPr lang="az-Latn-AZ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  <a:p>
                      <a:pPr algn="ctr" fontAlgn="ctr"/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bölməsi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Ümumi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Həssaslıq göstəriciləri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Azərbaycan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bölməsi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Rus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endParaRPr lang="az-Latn-AZ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  <a:p>
                      <a:pPr algn="ctr" fontAlgn="ctr"/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bölməsi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Ümumi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113255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Çətin tərbiyə olunan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Ağır somatik və ya xroniki xəstəlikləri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7249312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Hüquq pozuntuları törədən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Psixi pozuntuları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126992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Valideynləri ayrılan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127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127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Bu və ya digər mənada zorakılığa məruz qalan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08435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Valideynlərindən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birini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itirmiş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şagirdlər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363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363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Dini fanatizm meylləri müşahidə olunan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9506463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Valideynlərinin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hər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ikisini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itirmiş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şagirdlər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Ağır nəticələrə səbəb olan internet asılılığı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4409464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Himayədə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yaşayan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şagirdlər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(</a:t>
                      </a:r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valideynlərini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itirmədiyi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halda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Pis vərdişlərə (alkoqolizm, siqaret istifadəçisi, narkotik istifadəçisi və s.) malik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2272952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Qəyyumluğa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verilmiş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şagirdlər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(</a:t>
                      </a:r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valideynlərini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itirmədiyi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halda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Neqativ davranışları (evdənqaçma, kiçik xuliqanlıq, vandalizm və s.)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6015078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Şəhid övladı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Fiziki və əqli qüsurları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802545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Qazi övladı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Digər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5420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105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501212"/>
            <a:ext cx="3966880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Sosial yönümlü</a:t>
            </a: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fəaliyyətlər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76646"/>
              </p:ext>
            </p:extLst>
          </p:nvPr>
        </p:nvGraphicFramePr>
        <p:xfrm>
          <a:off x="688788" y="349621"/>
          <a:ext cx="11010899" cy="8888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950">
                  <a:extLst>
                    <a:ext uri="{9D8B030D-6E8A-4147-A177-3AD203B41FA5}">
                      <a16:colId xmlns:a16="http://schemas.microsoft.com/office/drawing/2014/main" val="2532575569"/>
                    </a:ext>
                  </a:extLst>
                </a:gridCol>
                <a:gridCol w="6603955">
                  <a:extLst>
                    <a:ext uri="{9D8B030D-6E8A-4147-A177-3AD203B41FA5}">
                      <a16:colId xmlns:a16="http://schemas.microsoft.com/office/drawing/2014/main" val="405887279"/>
                    </a:ext>
                  </a:extLst>
                </a:gridCol>
                <a:gridCol w="1860997">
                  <a:extLst>
                    <a:ext uri="{9D8B030D-6E8A-4147-A177-3AD203B41FA5}">
                      <a16:colId xmlns:a16="http://schemas.microsoft.com/office/drawing/2014/main" val="4141908344"/>
                    </a:ext>
                  </a:extLst>
                </a:gridCol>
                <a:gridCol w="1860997">
                  <a:extLst>
                    <a:ext uri="{9D8B030D-6E8A-4147-A177-3AD203B41FA5}">
                      <a16:colId xmlns:a16="http://schemas.microsoft.com/office/drawing/2014/main" val="4147014052"/>
                    </a:ext>
                  </a:extLst>
                </a:gridCol>
              </a:tblGrid>
              <a:tr h="849139">
                <a:tc rowSpan="2"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№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65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Keçirilən tədbirin</a:t>
                      </a:r>
                      <a:r>
                        <a:rPr lang="az-Latn-AZ" baseline="0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 adı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65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Cəlb olunanların</a:t>
                      </a:r>
                      <a:r>
                        <a:rPr lang="az-Latn-AZ" baseline="0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 sayı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6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353729"/>
                  </a:ext>
                </a:extLst>
              </a:tr>
              <a:tr h="56651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Müəllim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Şagird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251130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956085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664933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319550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272373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5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111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21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249723"/>
            <a:ext cx="3966880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Təhsil müəssisəsində həyata keçirilən layihələr</a:t>
            </a:r>
            <a:endParaRPr kumimoji="0" lang="en-US" sz="4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2166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4221647"/>
            <a:ext cx="39668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noProof="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Uğurlarımız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350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Təhsil ehtiyacları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3035" y="331712"/>
            <a:ext cx="10919012" cy="54476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000" b="0" i="0" u="none" strike="noStrike" kern="1200" cap="none" spc="0" normalizeH="0" baseline="0" noProof="0" dirty="0" smtClean="0">
                <a:ln w="0"/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Təhsil ehtiyacları</a:t>
            </a:r>
          </a:p>
          <a:p>
            <a:pPr marL="0" marR="0" lvl="0" indent="0" algn="just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800" i="1" dirty="0" smtClean="0">
                <a:ln w="0"/>
                <a:latin typeface="Palatino Linotype" panose="02040502050505030304" pitchFamily="18" charset="0"/>
              </a:rPr>
              <a:t>(Burada keyfiyyətli öyrənməyə və öyrətməyə birbaşa təsir edən əsas ehtiyaclar qeyd olunur.)</a:t>
            </a:r>
          </a:p>
          <a:p>
            <a:pPr marL="0" marR="0" lvl="0" indent="0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3600" b="0" i="0" u="none" strike="noStrike" kern="1200" cap="none" spc="0" normalizeH="0" baseline="0" noProof="0" dirty="0" smtClean="0">
                <a:ln w="0"/>
                <a:effectLst/>
                <a:uLnTx/>
                <a:uFillTx/>
                <a:latin typeface="Palatino Linotype" panose="02040502050505030304" pitchFamily="18" charset="0"/>
              </a:rPr>
              <a:t>1. </a:t>
            </a:r>
            <a:r>
              <a:rPr kumimoji="0" lang="az-Latn-AZ" sz="3600" b="0" i="0" u="none" strike="noStrike" kern="1200" cap="none" spc="0" normalizeH="0" baseline="0" noProof="0" dirty="0" smtClean="0">
                <a:ln w="0"/>
                <a:effectLst/>
                <a:uLnTx/>
                <a:uFillTx/>
                <a:latin typeface="Palatino Linotype" panose="02040502050505030304" pitchFamily="18" charset="0"/>
              </a:rPr>
              <a:t>Müəllimlərə olimpiyadalara və müsabiqələrə şagird hazırlamaq istiqamətində dəstək</a:t>
            </a:r>
            <a:r>
              <a:rPr kumimoji="0" lang="az-Latn-AZ" sz="3600" b="0" i="0" u="none" strike="noStrike" kern="1200" cap="none" spc="0" normalizeH="0" noProof="0" dirty="0" smtClean="0">
                <a:ln w="0"/>
                <a:effectLst/>
                <a:uLnTx/>
                <a:uFillTx/>
                <a:latin typeface="Palatino Linotype" panose="02040502050505030304" pitchFamily="18" charset="0"/>
              </a:rPr>
              <a:t> olmaq.</a:t>
            </a:r>
            <a:endParaRPr kumimoji="0" lang="az-Latn-AZ" sz="3600" b="0" i="0" u="none" strike="noStrike" kern="1200" cap="none" spc="0" normalizeH="0" baseline="0" noProof="0" dirty="0" smtClean="0">
              <a:ln w="0"/>
              <a:effectLst/>
              <a:uLnTx/>
              <a:uFillTx/>
              <a:latin typeface="Palatino Linotype" panose="02040502050505030304" pitchFamily="18" charset="0"/>
            </a:endParaRPr>
          </a:p>
          <a:p>
            <a:pPr marL="0" marR="0" lvl="0" indent="0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3600" dirty="0" smtClean="0">
                <a:ln w="0"/>
                <a:latin typeface="Palatino Linotype" panose="02040502050505030304" pitchFamily="18" charset="0"/>
              </a:rPr>
              <a:t>2. </a:t>
            </a:r>
            <a:r>
              <a:rPr lang="az-Latn-AZ" sz="3600" dirty="0" smtClean="0">
                <a:ln w="0"/>
                <a:latin typeface="Palatino Linotype" panose="02040502050505030304" pitchFamily="18" charset="0"/>
              </a:rPr>
              <a:t>IV siniflərin monitorinq nəticələrini müzakirə edərkən riyaziyyat fənninin zəif olmasını nəzərə almaq,Ix sinifə qədər həmin siniflərin riyaziyyat nəticələrini izləmək.</a:t>
            </a:r>
            <a:endParaRPr lang="az-Latn-AZ" sz="3600" dirty="0" smtClean="0">
              <a:ln w="0"/>
              <a:latin typeface="Palatino Linotype" panose="02040502050505030304" pitchFamily="18" charset="0"/>
            </a:endParaRPr>
          </a:p>
          <a:p>
            <a:pPr marL="0" marR="0" lvl="0" indent="0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z-Latn-AZ" sz="3600" b="0" i="0" u="none" strike="noStrike" kern="1200" cap="none" spc="0" normalizeH="0" baseline="0" noProof="0" dirty="0" smtClean="0">
              <a:ln w="0"/>
              <a:effectLst/>
              <a:uLnTx/>
              <a:uFillTx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037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167547"/>
            <a:ext cx="396688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Növbəti tədris ili üçün əsas hədəflər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3502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87240" y="917227"/>
            <a:ext cx="7580922" cy="415498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2106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8800" dirty="0">
                <a:ln w="0"/>
                <a:latin typeface="Palatino Linotype" panose="02040502050505030304" pitchFamily="18" charset="0"/>
              </a:rPr>
              <a:t>Diqqətinizə </a:t>
            </a:r>
          </a:p>
          <a:p>
            <a:pPr marL="0" marR="0" lvl="0" indent="0" algn="ctr" defTabSz="2106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8800" dirty="0">
                <a:ln w="0"/>
                <a:latin typeface="Palatino Linotype" panose="02040502050505030304" pitchFamily="18" charset="0"/>
              </a:rPr>
              <a:t>görə </a:t>
            </a:r>
          </a:p>
          <a:p>
            <a:pPr marL="0" marR="0" lvl="0" indent="0" algn="ctr" defTabSz="2106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8800" dirty="0">
                <a:ln w="0"/>
                <a:latin typeface="Palatino Linotype" panose="02040502050505030304" pitchFamily="18" charset="0"/>
              </a:rPr>
              <a:t>minnətdarıq!!!</a:t>
            </a:r>
            <a:endParaRPr kumimoji="0" lang="en-US" sz="8800" u="none" strike="noStrike" kern="1200" cap="none" spc="0" normalizeH="0" baseline="0" noProof="0" dirty="0">
              <a:ln w="0"/>
              <a:effectLst/>
              <a:uLnTx/>
              <a:uFillTx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180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1435</TotalTime>
  <Words>1366</Words>
  <Application>Microsoft Office PowerPoint</Application>
  <PresentationFormat>Custom</PresentationFormat>
  <Paragraphs>560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Palatino Linotype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User</cp:lastModifiedBy>
  <cp:revision>75</cp:revision>
  <dcterms:created xsi:type="dcterms:W3CDTF">2022-07-06T13:33:43Z</dcterms:created>
  <dcterms:modified xsi:type="dcterms:W3CDTF">2022-07-18T08:05:11Z</dcterms:modified>
</cp:coreProperties>
</file>