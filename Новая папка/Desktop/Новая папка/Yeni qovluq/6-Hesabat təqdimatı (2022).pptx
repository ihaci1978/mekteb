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1.xml" ContentType="application/vnd.openxmlformats-officedocument.themeOverr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heme/themeOverride2.xml" ContentType="application/vnd.openxmlformats-officedocument.themeOverr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theme/themeOverride3.xml" ContentType="application/vnd.openxmlformats-officedocument.themeOverr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4" r:id="rId4"/>
    <p:sldId id="258" r:id="rId5"/>
    <p:sldId id="259" r:id="rId6"/>
    <p:sldId id="261" r:id="rId7"/>
    <p:sldId id="265" r:id="rId8"/>
    <p:sldId id="266" r:id="rId9"/>
    <p:sldId id="267" r:id="rId10"/>
    <p:sldId id="272" r:id="rId11"/>
    <p:sldId id="268" r:id="rId12"/>
    <p:sldId id="269" r:id="rId13"/>
    <p:sldId id="270" r:id="rId14"/>
    <p:sldId id="271" r:id="rId15"/>
    <p:sldId id="262" r:id="rId16"/>
    <p:sldId id="263" r:id="rId17"/>
    <p:sldId id="296" r:id="rId18"/>
    <p:sldId id="298" r:id="rId19"/>
    <p:sldId id="276" r:id="rId20"/>
    <p:sldId id="299" r:id="rId21"/>
    <p:sldId id="277" r:id="rId22"/>
    <p:sldId id="300" r:id="rId23"/>
    <p:sldId id="278" r:id="rId24"/>
    <p:sldId id="301" r:id="rId25"/>
    <p:sldId id="279" r:id="rId26"/>
    <p:sldId id="297" r:id="rId27"/>
    <p:sldId id="280" r:id="rId28"/>
    <p:sldId id="302" r:id="rId29"/>
    <p:sldId id="273" r:id="rId30"/>
    <p:sldId id="303" r:id="rId31"/>
    <p:sldId id="291" r:id="rId32"/>
    <p:sldId id="304" r:id="rId33"/>
    <p:sldId id="288" r:id="rId34"/>
    <p:sldId id="305" r:id="rId35"/>
    <p:sldId id="275" r:id="rId36"/>
    <p:sldId id="307" r:id="rId37"/>
    <p:sldId id="281" r:id="rId38"/>
    <p:sldId id="306" r:id="rId39"/>
    <p:sldId id="286" r:id="rId40"/>
    <p:sldId id="290" r:id="rId41"/>
    <p:sldId id="295" r:id="rId42"/>
    <p:sldId id="294" r:id="rId43"/>
    <p:sldId id="293" r:id="rId44"/>
    <p:sldId id="282" r:id="rId45"/>
    <p:sldId id="283" r:id="rId46"/>
    <p:sldId id="284" r:id="rId47"/>
    <p:sldId id="260" r:id="rId48"/>
  </p:sldIdLst>
  <p:sldSz cx="17068800" cy="9601200"/>
  <p:notesSz cx="6858000" cy="9144000"/>
  <p:defaultTextStyle>
    <a:defPPr>
      <a:defRPr lang="en-US"/>
    </a:defPPr>
    <a:lvl1pPr marL="0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1pPr>
    <a:lvl2pPr marL="537667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2pPr>
    <a:lvl3pPr marL="1075334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3pPr>
    <a:lvl4pPr marL="1613002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4pPr>
    <a:lvl5pPr marL="2150669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5pPr>
    <a:lvl6pPr marL="2688336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6pPr>
    <a:lvl7pPr marL="3226003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7pPr>
    <a:lvl8pPr marL="3763670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8pPr>
    <a:lvl9pPr marL="4301338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24">
          <p15:clr>
            <a:srgbClr val="A4A3A4"/>
          </p15:clr>
        </p15:guide>
        <p15:guide id="2" pos="53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99"/>
    <a:srgbClr val="0000CC"/>
    <a:srgbClr val="9B9BE4"/>
    <a:srgbClr val="9B9BE5"/>
    <a:srgbClr val="66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691" autoAdjust="0"/>
    <p:restoredTop sz="94660"/>
  </p:normalViewPr>
  <p:slideViewPr>
    <p:cSldViewPr snapToGrid="0">
      <p:cViewPr varScale="1">
        <p:scale>
          <a:sx n="50" d="100"/>
          <a:sy n="50" d="100"/>
        </p:scale>
        <p:origin x="228" y="42"/>
      </p:cViewPr>
      <p:guideLst>
        <p:guide orient="horz" pos="3024"/>
        <p:guide pos="537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DUAZ.WORKSTATION\Desktop\Pedaqoji%20hey&#601;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DUAZ.WORKSTATION\Desktop\Pedaqoji%20hey&#601;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DUAZ.WORKSTATION\Desktop\Pedaqoji%20hey&#601;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DUAZ.WORKSTATION\Desktop\Bak&#305;%20IV%202022%20monitorinq%20T&#601;hsil%20m&#252;&#601;ssis&#601;sl&#601;ri%20&#252;&#231;&#252;n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DUAZ.WORKSTATION\Desktop\Bak&#305;%20IV%202022%20monitorinq%20T&#601;hsil%20m&#252;&#601;ssis&#601;sl&#601;ri%20&#252;&#231;&#252;n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DUAZ.WORKSTATION\Desktop\Bak&#305;%20IV%202022%20monitorinq%20T&#601;hsil%20m&#252;&#601;ssis&#601;sl&#601;ri%20&#252;&#231;&#252;n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DUAZ.WORKSTATION\Desktop\Bak&#305;%20IV%202022%20monitorinq%20T&#601;hsil%20m&#252;&#601;ssis&#601;sl&#601;ri%20&#252;&#231;&#252;n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oleObject" Target="file:///D:\Bak&#305;%20IX%202021,%202022,%20M&#252;qayis&#601;li%20t&#601;hlil-T&#601;hsil%20m&#252;&#601;ssis&#601;l&#601;ri%20&#252;&#231;&#252;n.xlsx" TargetMode="Externa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oleObject" Target="file:///D:\Bak&#305;%20IX%202021,%202022,%20M&#252;qayis&#601;li%20t&#601;hlil-T&#601;hsil%20m&#252;&#601;ssis&#601;l&#601;ri%20&#252;&#231;&#252;n.xlsx" TargetMode="Externa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oleObject" Target="file:///D:\Bak&#305;%20IX%202021,%202022,%20M&#252;qayis&#601;li%20t&#601;hlil-T&#601;hsil%20m&#252;&#601;ssis&#601;l&#601;ri%20&#252;&#231;&#252;n.xlsx" TargetMode="Externa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Bak&#305;%20IX%202021,%202022,%20M&#252;qayis&#601;li%20t&#601;hlil-T&#601;hsil%20m&#252;&#601;ssis&#601;l&#601;ri%20&#252;&#231;&#252;n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Bak&#305;%20IX%202021,%202022,%20M&#252;qayis&#601;li%20t&#601;hlil-T&#601;hsil%20m&#252;&#601;ssis&#601;l&#601;ri%20&#252;&#231;&#252;n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Bak&#305;%20IX%202021,%202022,%20M&#252;qayis&#601;li%20t&#601;hlil-T&#601;hsil%20m&#252;&#601;ssis&#601;l&#601;ri%20&#252;&#231;&#252;n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Bak&#305;%20IX%202021,%202022,%20M&#252;qayis&#601;li%20t&#601;hlil-T&#601;hsil%20m&#252;&#601;ssis&#601;l&#601;ri%20&#252;&#231;&#252;n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Bak&#305;%20IX%202021,%202022,%20M&#252;qayis&#601;li%20t&#601;hlil-T&#601;hsil%20m&#252;&#601;ssis&#601;l&#601;ri%20&#252;&#231;&#252;n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Bak&#305;%20IX%202021,%202022,%20M&#252;qayis&#601;li%20t&#601;hlil-T&#601;hsil%20m&#252;&#601;ssis&#601;l&#601;ri%20&#252;&#231;&#252;n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Bak&#305;%20IX%202021,%202022,%20M&#252;qayis&#601;li%20t&#601;hlil-T&#601;hsil%20m&#252;&#601;ssis&#601;l&#601;ri%20&#252;&#231;&#252;n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oleObject" Target="Book2" TargetMode="External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oleObject" Target="Book5" TargetMode="External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oleObject" Target="Book2" TargetMode="External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chemeClr val="bg1"/>
                </a:solidFill>
                <a:latin typeface="Palatino Linotype" panose="02040502050505030304" pitchFamily="18" charset="0"/>
                <a:ea typeface="+mn-ea"/>
                <a:cs typeface="+mn-cs"/>
              </a:defRPr>
            </a:pPr>
            <a:r>
              <a:rPr lang="az-Latn-AZ" sz="2400" b="1">
                <a:solidFill>
                  <a:schemeClr val="bg1"/>
                </a:solidFill>
              </a:rPr>
              <a:t>Təhsil</a:t>
            </a:r>
            <a:r>
              <a:rPr lang="az-Latn-AZ" sz="2400" b="1" baseline="0">
                <a:solidFill>
                  <a:schemeClr val="bg1"/>
                </a:solidFill>
              </a:rPr>
              <a:t> müəssisəsi üzrə orta göstəricilər</a:t>
            </a:r>
            <a:endParaRPr lang="en-US" sz="2400" b="1">
              <a:solidFill>
                <a:schemeClr val="bg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chemeClr val="bg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3"/>
          <c:order val="3"/>
          <c:tx>
            <c:v>Azərbaycan bölməsi</c:v>
          </c:tx>
          <c:spPr>
            <a:gradFill flip="none" rotWithShape="1">
              <a:gsLst>
                <a:gs pos="0">
                  <a:srgbClr val="33CCCC">
                    <a:shade val="30000"/>
                    <a:satMod val="115000"/>
                  </a:srgbClr>
                </a:gs>
                <a:gs pos="50000">
                  <a:srgbClr val="33CCCC">
                    <a:shade val="67500"/>
                    <a:satMod val="115000"/>
                  </a:srgbClr>
                </a:gs>
                <a:gs pos="100000">
                  <a:srgbClr val="33CCCC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90500" h="381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'Ümumi təhlil'!$FQ$3:$GG$4</c:f>
              <c:multiLvlStrCache>
                <c:ptCount val="7"/>
                <c:lvl>
                  <c:pt idx="0">
                    <c:v>Ümumi</c:v>
                  </c:pt>
                  <c:pt idx="1">
                    <c:v>Ümumi</c:v>
                  </c:pt>
                  <c:pt idx="2">
                    <c:v>Ümumi</c:v>
                  </c:pt>
                  <c:pt idx="4">
                    <c:v>Ümumi</c:v>
                  </c:pt>
                </c:lvl>
                <c:lvl>
                  <c:pt idx="3">
                    <c:v>Yekun ümumi nəticə</c:v>
                  </c:pt>
                  <c:pt idx="5">
                    <c:v>Orta yaş</c:v>
                  </c:pt>
                  <c:pt idx="6">
                    <c:v>Orta bal (şagird)</c:v>
                  </c:pt>
                </c:lvl>
              </c:multiLvlStrCache>
            </c:multiLvlStrRef>
          </c:cat>
          <c:val>
            <c:numRef>
              <c:f>'Ümumi təhlil'!$FQ$7:$GG$7</c:f>
              <c:numCache>
                <c:formatCode>0.00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 formatCode="0.0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2A-4E17-BEF4-D1560F802766}"/>
            </c:ext>
          </c:extLst>
        </c:ser>
        <c:ser>
          <c:idx val="6"/>
          <c:order val="6"/>
          <c:tx>
            <c:v>Rus bölməsi</c:v>
          </c:tx>
          <c:spPr>
            <a:gradFill flip="none" rotWithShape="1">
              <a:gsLst>
                <a:gs pos="0">
                  <a:schemeClr val="bg2">
                    <a:lumMod val="75000"/>
                    <a:shade val="30000"/>
                    <a:satMod val="115000"/>
                  </a:schemeClr>
                </a:gs>
                <a:gs pos="50000">
                  <a:schemeClr val="bg2">
                    <a:lumMod val="75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90500" h="381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'Ümumi təhlil'!$FQ$3:$GG$4</c:f>
              <c:multiLvlStrCache>
                <c:ptCount val="7"/>
                <c:lvl>
                  <c:pt idx="0">
                    <c:v>Ümumi</c:v>
                  </c:pt>
                  <c:pt idx="1">
                    <c:v>Ümumi</c:v>
                  </c:pt>
                  <c:pt idx="2">
                    <c:v>Ümumi</c:v>
                  </c:pt>
                  <c:pt idx="4">
                    <c:v>Ümumi</c:v>
                  </c:pt>
                </c:lvl>
                <c:lvl>
                  <c:pt idx="3">
                    <c:v>Yekun ümumi nəticə</c:v>
                  </c:pt>
                  <c:pt idx="5">
                    <c:v>Orta yaş</c:v>
                  </c:pt>
                  <c:pt idx="6">
                    <c:v>Orta bal (şagird)</c:v>
                  </c:pt>
                </c:lvl>
              </c:multiLvlStrCache>
            </c:multiLvlStrRef>
          </c:cat>
          <c:val>
            <c:numRef>
              <c:f>'Ümumi təhlil'!$FQ$10:$GG$10</c:f>
              <c:numCache>
                <c:formatCode>0.00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 formatCode="0.0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D2A-4E17-BEF4-D1560F802766}"/>
            </c:ext>
          </c:extLst>
        </c:ser>
        <c:ser>
          <c:idx val="9"/>
          <c:order val="9"/>
          <c:tx>
            <c:v>Ümumi</c:v>
          </c:tx>
          <c:spPr>
            <a:gradFill flip="none" rotWithShape="1">
              <a:gsLst>
                <a:gs pos="0">
                  <a:srgbClr val="FF7C80">
                    <a:shade val="30000"/>
                    <a:satMod val="115000"/>
                  </a:srgbClr>
                </a:gs>
                <a:gs pos="50000">
                  <a:srgbClr val="FF7C80">
                    <a:shade val="67500"/>
                    <a:satMod val="115000"/>
                  </a:srgbClr>
                </a:gs>
                <a:gs pos="100000">
                  <a:srgbClr val="FF7C80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90500" h="381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'Ümumi təhlil'!$FQ$3:$GG$4</c:f>
              <c:multiLvlStrCache>
                <c:ptCount val="7"/>
                <c:lvl>
                  <c:pt idx="0">
                    <c:v>Ümumi</c:v>
                  </c:pt>
                  <c:pt idx="1">
                    <c:v>Ümumi</c:v>
                  </c:pt>
                  <c:pt idx="2">
                    <c:v>Ümumi</c:v>
                  </c:pt>
                  <c:pt idx="4">
                    <c:v>Ümumi</c:v>
                  </c:pt>
                </c:lvl>
                <c:lvl>
                  <c:pt idx="3">
                    <c:v>Yekun ümumi nəticə</c:v>
                  </c:pt>
                  <c:pt idx="5">
                    <c:v>Orta yaş</c:v>
                  </c:pt>
                  <c:pt idx="6">
                    <c:v>Orta bal (şagird)</c:v>
                  </c:pt>
                </c:lvl>
              </c:multiLvlStrCache>
            </c:multiLvlStrRef>
          </c:cat>
          <c:val>
            <c:numRef>
              <c:f>'Ümumi təhlil'!$FQ$13:$GG$13</c:f>
              <c:numCache>
                <c:formatCode>0.00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 formatCode="0.0">
                  <c:v>20.238636363636363</c:v>
                </c:pt>
                <c:pt idx="5">
                  <c:v>54.053030303030305</c:v>
                </c:pt>
                <c:pt idx="6">
                  <c:v>68.3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D2A-4E17-BEF4-D1560F80276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6"/>
        <c:axId val="1570187120"/>
        <c:axId val="1570198352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'Ümumi təhlil'!$FP$4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anchor="ctr" anchorCtr="1"/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>
                      <c:ext uri="{02D57815-91ED-43cb-92C2-25804820EDAC}">
                        <c15:formulaRef>
                          <c15:sqref>'Ümumi təhlil'!$FQ$3:$GG$4</c15:sqref>
                        </c15:formulaRef>
                      </c:ext>
                    </c:extLst>
                    <c:multiLvlStrCache>
                      <c:ptCount val="7"/>
                      <c:lvl>
                        <c:pt idx="0">
                          <c:v>Ümumi</c:v>
                        </c:pt>
                        <c:pt idx="1">
                          <c:v>Ümumi</c:v>
                        </c:pt>
                        <c:pt idx="2">
                          <c:v>Ümumi</c:v>
                        </c:pt>
                        <c:pt idx="4">
                          <c:v>Ümumi</c:v>
                        </c:pt>
                      </c:lvl>
                      <c:lvl>
                        <c:pt idx="3">
                          <c:v>Yekun ümumi nəticə</c:v>
                        </c:pt>
                        <c:pt idx="5">
                          <c:v>Orta yaş</c:v>
                        </c:pt>
                        <c:pt idx="6">
                          <c:v>Orta bal (şagird)</c:v>
                        </c:pt>
                      </c:lvl>
                    </c:multiLvlStrCache>
                  </c:multiLvlStrRef>
                </c:cat>
                <c:val>
                  <c:numRef>
                    <c:extLst>
                      <c:ext uri="{02D57815-91ED-43cb-92C2-25804820EDAC}">
                        <c15:formulaRef>
                          <c15:sqref>'Ümumi təhlil'!$FQ$4:$GG$4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4">
                        <c:v>0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3-AD2A-4E17-BEF4-D1560F802766}"/>
                  </c:ext>
                </c:extLst>
              </c15:ser>
            </c15:filteredBarSeries>
            <c15:filteredB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təhlil'!$FP$5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anchor="ctr" anchorCtr="1"/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təhlil'!$FQ$3:$GG$4</c15:sqref>
                        </c15:formulaRef>
                      </c:ext>
                    </c:extLst>
                    <c:multiLvlStrCache>
                      <c:ptCount val="7"/>
                      <c:lvl>
                        <c:pt idx="0">
                          <c:v>Ümumi</c:v>
                        </c:pt>
                        <c:pt idx="1">
                          <c:v>Ümumi</c:v>
                        </c:pt>
                        <c:pt idx="2">
                          <c:v>Ümumi</c:v>
                        </c:pt>
                        <c:pt idx="4">
                          <c:v>Ümumi</c:v>
                        </c:pt>
                      </c:lvl>
                      <c:lvl>
                        <c:pt idx="3">
                          <c:v>Yekun ümumi nəticə</c:v>
                        </c:pt>
                        <c:pt idx="5">
                          <c:v>Orta yaş</c:v>
                        </c:pt>
                        <c:pt idx="6">
                          <c:v>Orta bal (şagird)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təhlil'!$FQ$5:$GG$5</c15:sqref>
                        </c15:formulaRef>
                      </c:ext>
                    </c:extLst>
                    <c:numCache>
                      <c:formatCode>0.00</c:formatCode>
                      <c:ptCount val="7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 formatCode="0.0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AD2A-4E17-BEF4-D1560F802766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təhlil'!$FP$6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anchor="ctr" anchorCtr="1"/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təhlil'!$FQ$3:$GG$4</c15:sqref>
                        </c15:formulaRef>
                      </c:ext>
                    </c:extLst>
                    <c:multiLvlStrCache>
                      <c:ptCount val="7"/>
                      <c:lvl>
                        <c:pt idx="0">
                          <c:v>Ümumi</c:v>
                        </c:pt>
                        <c:pt idx="1">
                          <c:v>Ümumi</c:v>
                        </c:pt>
                        <c:pt idx="2">
                          <c:v>Ümumi</c:v>
                        </c:pt>
                        <c:pt idx="4">
                          <c:v>Ümumi</c:v>
                        </c:pt>
                      </c:lvl>
                      <c:lvl>
                        <c:pt idx="3">
                          <c:v>Yekun ümumi nəticə</c:v>
                        </c:pt>
                        <c:pt idx="5">
                          <c:v>Orta yaş</c:v>
                        </c:pt>
                        <c:pt idx="6">
                          <c:v>Orta bal (şagird)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təhlil'!$FQ$6:$GG$6</c15:sqref>
                        </c15:formulaRef>
                      </c:ext>
                    </c:extLst>
                    <c:numCache>
                      <c:formatCode>0.00</c:formatCode>
                      <c:ptCount val="7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 formatCode="0.0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AD2A-4E17-BEF4-D1560F802766}"/>
                  </c:ext>
                </c:extLst>
              </c15:ser>
            </c15:filteredBarSeries>
            <c15:filteredBa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təhlil'!$FP$8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5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anchor="ctr" anchorCtr="1"/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təhlil'!$FQ$3:$GG$4</c15:sqref>
                        </c15:formulaRef>
                      </c:ext>
                    </c:extLst>
                    <c:multiLvlStrCache>
                      <c:ptCount val="7"/>
                      <c:lvl>
                        <c:pt idx="0">
                          <c:v>Ümumi</c:v>
                        </c:pt>
                        <c:pt idx="1">
                          <c:v>Ümumi</c:v>
                        </c:pt>
                        <c:pt idx="2">
                          <c:v>Ümumi</c:v>
                        </c:pt>
                        <c:pt idx="4">
                          <c:v>Ümumi</c:v>
                        </c:pt>
                      </c:lvl>
                      <c:lvl>
                        <c:pt idx="3">
                          <c:v>Yekun ümumi nəticə</c:v>
                        </c:pt>
                        <c:pt idx="5">
                          <c:v>Orta yaş</c:v>
                        </c:pt>
                        <c:pt idx="6">
                          <c:v>Orta bal (şagird)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təhlil'!$FQ$8:$GG$8</c15:sqref>
                        </c15:formulaRef>
                      </c:ext>
                    </c:extLst>
                    <c:numCache>
                      <c:formatCode>0.00</c:formatCode>
                      <c:ptCount val="7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 formatCode="0.0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AD2A-4E17-BEF4-D1560F802766}"/>
                  </c:ext>
                </c:extLst>
              </c15:ser>
            </c15:filteredBarSeries>
            <c15:filteredBar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təhlil'!$FP$9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6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anchor="ctr" anchorCtr="1"/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təhlil'!$FQ$3:$GG$4</c15:sqref>
                        </c15:formulaRef>
                      </c:ext>
                    </c:extLst>
                    <c:multiLvlStrCache>
                      <c:ptCount val="7"/>
                      <c:lvl>
                        <c:pt idx="0">
                          <c:v>Ümumi</c:v>
                        </c:pt>
                        <c:pt idx="1">
                          <c:v>Ümumi</c:v>
                        </c:pt>
                        <c:pt idx="2">
                          <c:v>Ümumi</c:v>
                        </c:pt>
                        <c:pt idx="4">
                          <c:v>Ümumi</c:v>
                        </c:pt>
                      </c:lvl>
                      <c:lvl>
                        <c:pt idx="3">
                          <c:v>Yekun ümumi nəticə</c:v>
                        </c:pt>
                        <c:pt idx="5">
                          <c:v>Orta yaş</c:v>
                        </c:pt>
                        <c:pt idx="6">
                          <c:v>Orta bal (şagird)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təhlil'!$FQ$9:$GG$9</c15:sqref>
                        </c15:formulaRef>
                      </c:ext>
                    </c:extLst>
                    <c:numCache>
                      <c:formatCode>0.00</c:formatCode>
                      <c:ptCount val="7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 formatCode="0.0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AD2A-4E17-BEF4-D1560F802766}"/>
                  </c:ext>
                </c:extLst>
              </c15:ser>
            </c15:filteredBarSeries>
            <c15:filteredBar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təhlil'!$FP$11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2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anchor="ctr" anchorCtr="1"/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təhlil'!$FQ$3:$GG$4</c15:sqref>
                        </c15:formulaRef>
                      </c:ext>
                    </c:extLst>
                    <c:multiLvlStrCache>
                      <c:ptCount val="7"/>
                      <c:lvl>
                        <c:pt idx="0">
                          <c:v>Ümumi</c:v>
                        </c:pt>
                        <c:pt idx="1">
                          <c:v>Ümumi</c:v>
                        </c:pt>
                        <c:pt idx="2">
                          <c:v>Ümumi</c:v>
                        </c:pt>
                        <c:pt idx="4">
                          <c:v>Ümumi</c:v>
                        </c:pt>
                      </c:lvl>
                      <c:lvl>
                        <c:pt idx="3">
                          <c:v>Yekun ümumi nəticə</c:v>
                        </c:pt>
                        <c:pt idx="5">
                          <c:v>Orta yaş</c:v>
                        </c:pt>
                        <c:pt idx="6">
                          <c:v>Orta bal (şagird)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təhlil'!$FQ$11:$GG$11</c15:sqref>
                        </c15:formulaRef>
                      </c:ext>
                    </c:extLst>
                    <c:numCache>
                      <c:formatCode>0.00</c:formatCode>
                      <c:ptCount val="7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 formatCode="0.0">
                        <c:v>20.159836065573771</c:v>
                      </c:pt>
                      <c:pt idx="5">
                        <c:v>0</c:v>
                      </c:pt>
                      <c:pt idx="6">
                        <c:v>67.943965517241381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8-AD2A-4E17-BEF4-D1560F802766}"/>
                  </c:ext>
                </c:extLst>
              </c15:ser>
            </c15:filteredBarSeries>
            <c15:filteredBar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təhlil'!$FP$12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3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anchor="ctr" anchorCtr="1"/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təhlil'!$FQ$3:$GG$4</c15:sqref>
                        </c15:formulaRef>
                      </c:ext>
                    </c:extLst>
                    <c:multiLvlStrCache>
                      <c:ptCount val="7"/>
                      <c:lvl>
                        <c:pt idx="0">
                          <c:v>Ümumi</c:v>
                        </c:pt>
                        <c:pt idx="1">
                          <c:v>Ümumi</c:v>
                        </c:pt>
                        <c:pt idx="2">
                          <c:v>Ümumi</c:v>
                        </c:pt>
                        <c:pt idx="4">
                          <c:v>Ümumi</c:v>
                        </c:pt>
                      </c:lvl>
                      <c:lvl>
                        <c:pt idx="3">
                          <c:v>Yekun ümumi nəticə</c:v>
                        </c:pt>
                        <c:pt idx="5">
                          <c:v>Orta yaş</c:v>
                        </c:pt>
                        <c:pt idx="6">
                          <c:v>Orta bal (şagird)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təhlil'!$FQ$12:$GG$12</c15:sqref>
                        </c15:formulaRef>
                      </c:ext>
                    </c:extLst>
                    <c:numCache>
                      <c:formatCode>0.00</c:formatCode>
                      <c:ptCount val="7"/>
                      <c:pt idx="0">
                        <c:v>63.166666666666671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65.219696969696983</c:v>
                      </c:pt>
                      <c:pt idx="4" formatCode="0.0">
                        <c:v>20.818181818181817</c:v>
                      </c:pt>
                      <c:pt idx="5">
                        <c:v>53</c:v>
                      </c:pt>
                      <c:pt idx="6">
                        <c:v>72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9-AD2A-4E17-BEF4-D1560F802766}"/>
                  </c:ext>
                </c:extLst>
              </c15:ser>
            </c15:filteredBarSeries>
            <c15:filteredBarSeries>
              <c15:ser>
                <c:idx val="10"/>
                <c:order val="1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təhlil'!$FP$14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5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anchor="ctr" anchorCtr="1"/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təhlil'!$FQ$3:$GG$4</c15:sqref>
                        </c15:formulaRef>
                      </c:ext>
                    </c:extLst>
                    <c:multiLvlStrCache>
                      <c:ptCount val="7"/>
                      <c:lvl>
                        <c:pt idx="0">
                          <c:v>Ümumi</c:v>
                        </c:pt>
                        <c:pt idx="1">
                          <c:v>Ümumi</c:v>
                        </c:pt>
                        <c:pt idx="2">
                          <c:v>Ümumi</c:v>
                        </c:pt>
                        <c:pt idx="4">
                          <c:v>Ümumi</c:v>
                        </c:pt>
                      </c:lvl>
                      <c:lvl>
                        <c:pt idx="3">
                          <c:v>Yekun ümumi nəticə</c:v>
                        </c:pt>
                        <c:pt idx="5">
                          <c:v>Orta yaş</c:v>
                        </c:pt>
                        <c:pt idx="6">
                          <c:v>Orta bal (şagird)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təhlil'!$FQ$14:$GG$14</c15:sqref>
                        </c15:formulaRef>
                      </c:ext>
                    </c:extLst>
                    <c:numCache>
                      <c:formatCode>0.00</c:formatCode>
                      <c:ptCount val="7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 formatCode="0.0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A-AD2A-4E17-BEF4-D1560F802766}"/>
                  </c:ext>
                </c:extLst>
              </c15:ser>
            </c15:filteredBarSeries>
            <c15:filteredBarSeries>
              <c15:ser>
                <c:idx val="11"/>
                <c:order val="1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təhlil'!$FP$15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6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anchor="ctr" anchorCtr="1"/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təhlil'!$FQ$3:$GG$4</c15:sqref>
                        </c15:formulaRef>
                      </c:ext>
                    </c:extLst>
                    <c:multiLvlStrCache>
                      <c:ptCount val="7"/>
                      <c:lvl>
                        <c:pt idx="0">
                          <c:v>Ümumi</c:v>
                        </c:pt>
                        <c:pt idx="1">
                          <c:v>Ümumi</c:v>
                        </c:pt>
                        <c:pt idx="2">
                          <c:v>Ümumi</c:v>
                        </c:pt>
                        <c:pt idx="4">
                          <c:v>Ümumi</c:v>
                        </c:pt>
                      </c:lvl>
                      <c:lvl>
                        <c:pt idx="3">
                          <c:v>Yekun ümumi nəticə</c:v>
                        </c:pt>
                        <c:pt idx="5">
                          <c:v>Orta yaş</c:v>
                        </c:pt>
                        <c:pt idx="6">
                          <c:v>Orta bal (şagird)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təhlil'!$FQ$15:$GG$15</c15:sqref>
                        </c15:formulaRef>
                      </c:ext>
                    </c:extLst>
                    <c:numCache>
                      <c:formatCode>0.00</c:formatCode>
                      <c:ptCount val="7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 formatCode="0.0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B-AD2A-4E17-BEF4-D1560F802766}"/>
                  </c:ext>
                </c:extLst>
              </c15:ser>
            </c15:filteredBarSeries>
            <c15:filteredBarSeries>
              <c15:ser>
                <c:idx val="12"/>
                <c:order val="1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təhlil'!$FP$16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1">
                      <a:lumMod val="80000"/>
                      <a:lumOff val="2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anchor="ctr" anchorCtr="1"/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təhlil'!$FQ$3:$GG$4</c15:sqref>
                        </c15:formulaRef>
                      </c:ext>
                    </c:extLst>
                    <c:multiLvlStrCache>
                      <c:ptCount val="7"/>
                      <c:lvl>
                        <c:pt idx="0">
                          <c:v>Ümumi</c:v>
                        </c:pt>
                        <c:pt idx="1">
                          <c:v>Ümumi</c:v>
                        </c:pt>
                        <c:pt idx="2">
                          <c:v>Ümumi</c:v>
                        </c:pt>
                        <c:pt idx="4">
                          <c:v>Ümumi</c:v>
                        </c:pt>
                      </c:lvl>
                      <c:lvl>
                        <c:pt idx="3">
                          <c:v>Yekun ümumi nəticə</c:v>
                        </c:pt>
                        <c:pt idx="5">
                          <c:v>Orta yaş</c:v>
                        </c:pt>
                        <c:pt idx="6">
                          <c:v>Orta bal (şagird)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təhlil'!$FQ$16:$GG$16</c15:sqref>
                        </c15:formulaRef>
                      </c:ext>
                    </c:extLst>
                    <c:numCache>
                      <c:formatCode>0.00</c:formatCode>
                      <c:ptCount val="7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 formatCode="0.0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C-AD2A-4E17-BEF4-D1560F802766}"/>
                  </c:ext>
                </c:extLst>
              </c15:ser>
            </c15:filteredBarSeries>
            <c15:filteredBarSeries>
              <c15:ser>
                <c:idx val="13"/>
                <c:order val="1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təhlil'!$FP$17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2">
                      <a:lumMod val="80000"/>
                      <a:lumOff val="2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anchor="ctr" anchorCtr="1"/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təhlil'!$FQ$3:$GG$4</c15:sqref>
                        </c15:formulaRef>
                      </c:ext>
                    </c:extLst>
                    <c:multiLvlStrCache>
                      <c:ptCount val="7"/>
                      <c:lvl>
                        <c:pt idx="0">
                          <c:v>Ümumi</c:v>
                        </c:pt>
                        <c:pt idx="1">
                          <c:v>Ümumi</c:v>
                        </c:pt>
                        <c:pt idx="2">
                          <c:v>Ümumi</c:v>
                        </c:pt>
                        <c:pt idx="4">
                          <c:v>Ümumi</c:v>
                        </c:pt>
                      </c:lvl>
                      <c:lvl>
                        <c:pt idx="3">
                          <c:v>Yekun ümumi nəticə</c:v>
                        </c:pt>
                        <c:pt idx="5">
                          <c:v>Orta yaş</c:v>
                        </c:pt>
                        <c:pt idx="6">
                          <c:v>Orta bal (şagird)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təhlil'!$FQ$17:$GG$17</c15:sqref>
                        </c15:formulaRef>
                      </c:ext>
                    </c:extLst>
                    <c:numCache>
                      <c:formatCode>0.00</c:formatCode>
                      <c:ptCount val="7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 formatCode="0.0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D-AD2A-4E17-BEF4-D1560F802766}"/>
                  </c:ext>
                </c:extLst>
              </c15:ser>
            </c15:filteredBarSeries>
            <c15:filteredBarSeries>
              <c15:ser>
                <c:idx val="14"/>
                <c:order val="1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təhlil'!$FP$18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3">
                      <a:lumMod val="80000"/>
                      <a:lumOff val="2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anchor="ctr" anchorCtr="1"/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təhlil'!$FQ$3:$GG$4</c15:sqref>
                        </c15:formulaRef>
                      </c:ext>
                    </c:extLst>
                    <c:multiLvlStrCache>
                      <c:ptCount val="7"/>
                      <c:lvl>
                        <c:pt idx="0">
                          <c:v>Ümumi</c:v>
                        </c:pt>
                        <c:pt idx="1">
                          <c:v>Ümumi</c:v>
                        </c:pt>
                        <c:pt idx="2">
                          <c:v>Ümumi</c:v>
                        </c:pt>
                        <c:pt idx="4">
                          <c:v>Ümumi</c:v>
                        </c:pt>
                      </c:lvl>
                      <c:lvl>
                        <c:pt idx="3">
                          <c:v>Yekun ümumi nəticə</c:v>
                        </c:pt>
                        <c:pt idx="5">
                          <c:v>Orta yaş</c:v>
                        </c:pt>
                        <c:pt idx="6">
                          <c:v>Orta bal (şagird)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təhlil'!$FQ$18:$GG$18</c15:sqref>
                        </c15:formulaRef>
                      </c:ext>
                    </c:extLst>
                    <c:numCache>
                      <c:formatCode>0.00</c:formatCode>
                      <c:ptCount val="7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 formatCode="0.0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E-AD2A-4E17-BEF4-D1560F802766}"/>
                  </c:ext>
                </c:extLst>
              </c15:ser>
            </c15:filteredBarSeries>
            <c15:filteredBarSeries>
              <c15:ser>
                <c:idx val="15"/>
                <c:order val="1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təhlil'!$FP$19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4">
                      <a:lumMod val="80000"/>
                      <a:lumOff val="2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anchor="ctr" anchorCtr="1"/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təhlil'!$FQ$3:$GG$4</c15:sqref>
                        </c15:formulaRef>
                      </c:ext>
                    </c:extLst>
                    <c:multiLvlStrCache>
                      <c:ptCount val="7"/>
                      <c:lvl>
                        <c:pt idx="0">
                          <c:v>Ümumi</c:v>
                        </c:pt>
                        <c:pt idx="1">
                          <c:v>Ümumi</c:v>
                        </c:pt>
                        <c:pt idx="2">
                          <c:v>Ümumi</c:v>
                        </c:pt>
                        <c:pt idx="4">
                          <c:v>Ümumi</c:v>
                        </c:pt>
                      </c:lvl>
                      <c:lvl>
                        <c:pt idx="3">
                          <c:v>Yekun ümumi nəticə</c:v>
                        </c:pt>
                        <c:pt idx="5">
                          <c:v>Orta yaş</c:v>
                        </c:pt>
                        <c:pt idx="6">
                          <c:v>Orta bal (şagird)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təhlil'!$FQ$19:$GG$19</c15:sqref>
                        </c15:formulaRef>
                      </c:ext>
                    </c:extLst>
                    <c:numCache>
                      <c:formatCode>0.00</c:formatCode>
                      <c:ptCount val="7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 formatCode="0.0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F-AD2A-4E17-BEF4-D1560F802766}"/>
                  </c:ext>
                </c:extLst>
              </c15:ser>
            </c15:filteredBarSeries>
            <c15:filteredBarSeries>
              <c15:ser>
                <c:idx val="16"/>
                <c:order val="1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təhlil'!$FP$20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5">
                      <a:lumMod val="80000"/>
                      <a:lumOff val="2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anchor="ctr" anchorCtr="1"/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təhlil'!$FQ$3:$GG$4</c15:sqref>
                        </c15:formulaRef>
                      </c:ext>
                    </c:extLst>
                    <c:multiLvlStrCache>
                      <c:ptCount val="7"/>
                      <c:lvl>
                        <c:pt idx="0">
                          <c:v>Ümumi</c:v>
                        </c:pt>
                        <c:pt idx="1">
                          <c:v>Ümumi</c:v>
                        </c:pt>
                        <c:pt idx="2">
                          <c:v>Ümumi</c:v>
                        </c:pt>
                        <c:pt idx="4">
                          <c:v>Ümumi</c:v>
                        </c:pt>
                      </c:lvl>
                      <c:lvl>
                        <c:pt idx="3">
                          <c:v>Yekun ümumi nəticə</c:v>
                        </c:pt>
                        <c:pt idx="5">
                          <c:v>Orta yaş</c:v>
                        </c:pt>
                        <c:pt idx="6">
                          <c:v>Orta bal (şagird)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təhlil'!$FQ$20:$GG$20</c15:sqref>
                        </c15:formulaRef>
                      </c:ext>
                    </c:extLst>
                    <c:numCache>
                      <c:formatCode>0.00</c:formatCode>
                      <c:ptCount val="7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 formatCode="0.0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0-AD2A-4E17-BEF4-D1560F802766}"/>
                  </c:ext>
                </c:extLst>
              </c15:ser>
            </c15:filteredBarSeries>
            <c15:filteredBarSeries>
              <c15:ser>
                <c:idx val="17"/>
                <c:order val="1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təhlil'!$FP$21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6">
                      <a:lumMod val="80000"/>
                      <a:lumOff val="2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təhlil'!$FQ$3:$GG$4</c15:sqref>
                        </c15:formulaRef>
                      </c:ext>
                    </c:extLst>
                    <c:multiLvlStrCache>
                      <c:ptCount val="7"/>
                      <c:lvl>
                        <c:pt idx="0">
                          <c:v>Ümumi</c:v>
                        </c:pt>
                        <c:pt idx="1">
                          <c:v>Ümumi</c:v>
                        </c:pt>
                        <c:pt idx="2">
                          <c:v>Ümumi</c:v>
                        </c:pt>
                        <c:pt idx="4">
                          <c:v>Ümumi</c:v>
                        </c:pt>
                      </c:lvl>
                      <c:lvl>
                        <c:pt idx="3">
                          <c:v>Yekun ümumi nəticə</c:v>
                        </c:pt>
                        <c:pt idx="5">
                          <c:v>Orta yaş</c:v>
                        </c:pt>
                        <c:pt idx="6">
                          <c:v>Orta bal (şagird)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təhlil'!$FQ$21:$GG$21</c15:sqref>
                        </c15:formulaRef>
                      </c:ext>
                    </c:extLst>
                    <c:numCache>
                      <c:formatCode>0.00</c:formatCode>
                      <c:ptCount val="7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 formatCode="0.0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1-AD2A-4E17-BEF4-D1560F802766}"/>
                  </c:ext>
                </c:extLst>
              </c15:ser>
            </c15:filteredBarSeries>
            <c15:filteredBarSeries>
              <c15:ser>
                <c:idx val="18"/>
                <c:order val="1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təhlil'!$FP$22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1">
                      <a:lumMod val="8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təhlil'!$FQ$3:$GG$4</c15:sqref>
                        </c15:formulaRef>
                      </c:ext>
                    </c:extLst>
                    <c:multiLvlStrCache>
                      <c:ptCount val="7"/>
                      <c:lvl>
                        <c:pt idx="0">
                          <c:v>Ümumi</c:v>
                        </c:pt>
                        <c:pt idx="1">
                          <c:v>Ümumi</c:v>
                        </c:pt>
                        <c:pt idx="2">
                          <c:v>Ümumi</c:v>
                        </c:pt>
                        <c:pt idx="4">
                          <c:v>Ümumi</c:v>
                        </c:pt>
                      </c:lvl>
                      <c:lvl>
                        <c:pt idx="3">
                          <c:v>Yekun ümumi nəticə</c:v>
                        </c:pt>
                        <c:pt idx="5">
                          <c:v>Orta yaş</c:v>
                        </c:pt>
                        <c:pt idx="6">
                          <c:v>Orta bal (şagird)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təhlil'!$FQ$22:$GG$22</c15:sqref>
                        </c15:formulaRef>
                      </c:ext>
                    </c:extLst>
                    <c:numCache>
                      <c:formatCode>0.00</c:formatCode>
                      <c:ptCount val="7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 formatCode="0.0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2-AD2A-4E17-BEF4-D1560F802766}"/>
                  </c:ext>
                </c:extLst>
              </c15:ser>
            </c15:filteredBarSeries>
          </c:ext>
        </c:extLst>
      </c:barChart>
      <c:catAx>
        <c:axId val="1570187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bg1"/>
                </a:solidFill>
                <a:latin typeface="Palatino Linotype" panose="02040502050505030304" pitchFamily="18" charset="0"/>
                <a:ea typeface="+mn-ea"/>
                <a:cs typeface="+mn-cs"/>
              </a:defRPr>
            </a:pPr>
            <a:endParaRPr lang="en-US"/>
          </a:p>
        </c:txPr>
        <c:crossAx val="1570198352"/>
        <c:crosses val="autoZero"/>
        <c:auto val="1"/>
        <c:lblAlgn val="ctr"/>
        <c:lblOffset val="100"/>
        <c:noMultiLvlLbl val="0"/>
      </c:catAx>
      <c:valAx>
        <c:axId val="1570198352"/>
        <c:scaling>
          <c:orientation val="minMax"/>
        </c:scaling>
        <c:delete val="1"/>
        <c:axPos val="l"/>
        <c:numFmt formatCode="0.00" sourceLinked="1"/>
        <c:majorTickMark val="none"/>
        <c:minorTickMark val="none"/>
        <c:tickLblPos val="nextTo"/>
        <c:crossAx val="15701871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bg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tx1">
        <a:lumMod val="65000"/>
        <a:lumOff val="35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>
          <a:solidFill>
            <a:schemeClr val="tx1"/>
          </a:solidFill>
          <a:latin typeface="Palatino Linotype" panose="02040502050505030304" pitchFamily="18" charset="0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pPr>
            <a:r>
              <a:rPr lang="az-Latn-AZ" sz="2400" b="1">
                <a:solidFill>
                  <a:schemeClr val="tx1"/>
                </a:solidFill>
              </a:rPr>
              <a:t>Müəllimlərin</a:t>
            </a:r>
            <a:r>
              <a:rPr lang="az-Latn-AZ" sz="2400" b="1" baseline="0">
                <a:solidFill>
                  <a:schemeClr val="tx1"/>
                </a:solidFill>
              </a:rPr>
              <a:t> yaş intervalları üzrə təhlili </a:t>
            </a:r>
            <a:r>
              <a:rPr lang="az-Latn-AZ" sz="1800" b="0" i="1" baseline="0">
                <a:solidFill>
                  <a:schemeClr val="tx1"/>
                </a:solidFill>
              </a:rPr>
              <a:t>(Ümumi)</a:t>
            </a:r>
          </a:p>
        </c:rich>
      </c:tx>
      <c:layout>
        <c:manualLayout>
          <c:xMode val="edge"/>
          <c:yMode val="edge"/>
          <c:x val="0.26443006436431588"/>
          <c:y val="6.218553257665019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"/>
          <c:y val="0.10028453553527789"/>
          <c:w val="0.98175756760603661"/>
          <c:h val="0.65636274698143104"/>
        </c:manualLayout>
      </c:layout>
      <c:barChart>
        <c:barDir val="col"/>
        <c:grouping val="clustered"/>
        <c:varyColors val="0"/>
        <c:ser>
          <c:idx val="8"/>
          <c:order val="8"/>
          <c:tx>
            <c:v>Ümumi</c:v>
          </c:tx>
          <c:spPr>
            <a:gradFill flip="none" rotWithShape="1">
              <a:gsLst>
                <a:gs pos="0">
                  <a:srgbClr val="FF7C80">
                    <a:shade val="30000"/>
                    <a:satMod val="115000"/>
                  </a:srgbClr>
                </a:gs>
                <a:gs pos="50000">
                  <a:srgbClr val="FF7C80">
                    <a:shade val="67500"/>
                    <a:satMod val="115000"/>
                  </a:srgbClr>
                </a:gs>
                <a:gs pos="100000">
                  <a:srgbClr val="FF7C80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90500" h="38100"/>
            </a:sp3d>
          </c:spPr>
          <c:invertIfNegative val="0"/>
          <c:dPt>
            <c:idx val="0"/>
            <c:invertIfNegative val="0"/>
            <c:bubble3D val="0"/>
            <c:spPr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1-263C-4AE1-8EF2-5D0929633F63}"/>
              </c:ext>
            </c:extLst>
          </c:dPt>
          <c:dPt>
            <c:idx val="1"/>
            <c:invertIfNegative val="0"/>
            <c:bubble3D val="0"/>
            <c:spPr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3-263C-4AE1-8EF2-5D0929633F63}"/>
              </c:ext>
            </c:extLst>
          </c:dPt>
          <c:dPt>
            <c:idx val="2"/>
            <c:invertIfNegative val="0"/>
            <c:bubble3D val="0"/>
            <c:spPr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5-263C-4AE1-8EF2-5D0929633F63}"/>
              </c:ext>
            </c:extLst>
          </c:dPt>
          <c:dPt>
            <c:idx val="3"/>
            <c:invertIfNegative val="0"/>
            <c:bubble3D val="0"/>
            <c:spPr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7-263C-4AE1-8EF2-5D0929633F63}"/>
              </c:ext>
            </c:extLst>
          </c:dPt>
          <c:dPt>
            <c:idx val="4"/>
            <c:invertIfNegative val="0"/>
            <c:bubble3D val="0"/>
            <c:spPr>
              <a:solidFill>
                <a:schemeClr val="bg2">
                  <a:lumMod val="75000"/>
                </a:schemeClr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9-263C-4AE1-8EF2-5D0929633F63}"/>
              </c:ext>
            </c:extLst>
          </c:dPt>
          <c:dPt>
            <c:idx val="5"/>
            <c:invertIfNegative val="0"/>
            <c:bubble3D val="0"/>
            <c:spPr>
              <a:solidFill>
                <a:schemeClr val="bg2">
                  <a:lumMod val="75000"/>
                </a:schemeClr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B-263C-4AE1-8EF2-5D0929633F63}"/>
              </c:ext>
            </c:extLst>
          </c:dPt>
          <c:dPt>
            <c:idx val="6"/>
            <c:invertIfNegative val="0"/>
            <c:bubble3D val="0"/>
            <c:spPr>
              <a:solidFill>
                <a:schemeClr val="bg2">
                  <a:lumMod val="75000"/>
                </a:schemeClr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D-263C-4AE1-8EF2-5D0929633F63}"/>
              </c:ext>
            </c:extLst>
          </c:dPt>
          <c:dPt>
            <c:idx val="7"/>
            <c:invertIfNegative val="0"/>
            <c:bubble3D val="0"/>
            <c:spPr>
              <a:solidFill>
                <a:schemeClr val="bg2">
                  <a:lumMod val="75000"/>
                </a:schemeClr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F-263C-4AE1-8EF2-5D0929633F63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11-263C-4AE1-8EF2-5D0929633F63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13-263C-4AE1-8EF2-5D0929633F63}"/>
              </c:ext>
            </c:extLst>
          </c:dPt>
          <c:dPt>
            <c:idx val="10"/>
            <c:invertIfNegative val="0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15-263C-4AE1-8EF2-5D0929633F63}"/>
              </c:ext>
            </c:extLst>
          </c:dPt>
          <c:dPt>
            <c:idx val="11"/>
            <c:invertIfNegative val="0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17-263C-4AE1-8EF2-5D0929633F63}"/>
              </c:ext>
            </c:extLst>
          </c:dPt>
          <c:dPt>
            <c:idx val="12"/>
            <c:invertIfNegative val="0"/>
            <c:bubble3D val="0"/>
            <c:spPr>
              <a:solidFill>
                <a:srgbClr val="33CCCC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19-263C-4AE1-8EF2-5D0929633F63}"/>
              </c:ext>
            </c:extLst>
          </c:dPt>
          <c:dPt>
            <c:idx val="13"/>
            <c:invertIfNegative val="0"/>
            <c:bubble3D val="0"/>
            <c:spPr>
              <a:solidFill>
                <a:srgbClr val="33CCCC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1B-263C-4AE1-8EF2-5D0929633F63}"/>
              </c:ext>
            </c:extLst>
          </c:dPt>
          <c:dPt>
            <c:idx val="14"/>
            <c:invertIfNegative val="0"/>
            <c:bubble3D val="0"/>
            <c:spPr>
              <a:solidFill>
                <a:srgbClr val="33CCCC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1D-263C-4AE1-8EF2-5D0929633F63}"/>
              </c:ext>
            </c:extLst>
          </c:dPt>
          <c:dPt>
            <c:idx val="15"/>
            <c:invertIfNegative val="0"/>
            <c:bubble3D val="0"/>
            <c:spPr>
              <a:solidFill>
                <a:srgbClr val="33CCCC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1F-263C-4AE1-8EF2-5D0929633F63}"/>
              </c:ext>
            </c:extLst>
          </c:dPt>
          <c:dPt>
            <c:idx val="16"/>
            <c:invertIfNegative val="0"/>
            <c:bubble3D val="0"/>
            <c:spPr>
              <a:solidFill>
                <a:srgbClr val="FF7C80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21-263C-4AE1-8EF2-5D0929633F63}"/>
              </c:ext>
            </c:extLst>
          </c:dPt>
          <c:dPt>
            <c:idx val="17"/>
            <c:invertIfNegative val="0"/>
            <c:bubble3D val="0"/>
            <c:spPr>
              <a:solidFill>
                <a:srgbClr val="FF7C80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23-263C-4AE1-8EF2-5D0929633F63}"/>
              </c:ext>
            </c:extLst>
          </c:dPt>
          <c:dPt>
            <c:idx val="18"/>
            <c:invertIfNegative val="0"/>
            <c:bubble3D val="0"/>
            <c:spPr>
              <a:solidFill>
                <a:srgbClr val="FF7C80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25-263C-4AE1-8EF2-5D0929633F63}"/>
              </c:ext>
            </c:extLst>
          </c:dPt>
          <c:dPt>
            <c:idx val="19"/>
            <c:invertIfNegative val="0"/>
            <c:bubble3D val="0"/>
            <c:spPr>
              <a:solidFill>
                <a:srgbClr val="FF7C80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27-263C-4AE1-8EF2-5D0929633F6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'Ümumi təhlil'!$BJ$2:$EK$4</c:f>
              <c:multiLvlStrCache>
                <c:ptCount val="20"/>
                <c:lvl>
                  <c:pt idx="2">
                    <c:v>Ümumi</c:v>
                  </c:pt>
                  <c:pt idx="6">
                    <c:v>Ümumi</c:v>
                  </c:pt>
                  <c:pt idx="10">
                    <c:v>Ümumi</c:v>
                  </c:pt>
                  <c:pt idx="14">
                    <c:v>Ümumi</c:v>
                  </c:pt>
                  <c:pt idx="18">
                    <c:v>Ümumi</c:v>
                  </c:pt>
                </c:lvl>
                <c:lvl>
                  <c:pt idx="0">
                    <c:v>Say</c:v>
                  </c:pt>
                  <c:pt idx="1">
                    <c:v>Yekun ümumi nəticə</c:v>
                  </c:pt>
                  <c:pt idx="3">
                    <c:v>Orta bal (şagird)</c:v>
                  </c:pt>
                  <c:pt idx="4">
                    <c:v>Say</c:v>
                  </c:pt>
                  <c:pt idx="5">
                    <c:v>Yekun ümumi nəticə</c:v>
                  </c:pt>
                  <c:pt idx="7">
                    <c:v>Orta bal (şagird)</c:v>
                  </c:pt>
                  <c:pt idx="8">
                    <c:v>Say</c:v>
                  </c:pt>
                  <c:pt idx="9">
                    <c:v>Yekun ümumi nəticə</c:v>
                  </c:pt>
                  <c:pt idx="11">
                    <c:v>Orta bal (şagird)</c:v>
                  </c:pt>
                  <c:pt idx="12">
                    <c:v>Say</c:v>
                  </c:pt>
                  <c:pt idx="13">
                    <c:v>Yekun ümumi nəticə</c:v>
                  </c:pt>
                  <c:pt idx="15">
                    <c:v>Orta bal (şagird)</c:v>
                  </c:pt>
                  <c:pt idx="16">
                    <c:v>Say</c:v>
                  </c:pt>
                  <c:pt idx="17">
                    <c:v>Yekun ümumi nəticə</c:v>
                  </c:pt>
                  <c:pt idx="19">
                    <c:v>Orta bal (şagird)</c:v>
                  </c:pt>
                </c:lvl>
                <c:lvl>
                  <c:pt idx="0">
                    <c:v>&lt;34</c:v>
                  </c:pt>
                  <c:pt idx="4">
                    <c:v>35-44</c:v>
                  </c:pt>
                  <c:pt idx="8">
                    <c:v>45-54</c:v>
                  </c:pt>
                  <c:pt idx="12">
                    <c:v>55-64</c:v>
                  </c:pt>
                  <c:pt idx="16">
                    <c:v>65&lt;</c:v>
                  </c:pt>
                </c:lvl>
              </c:multiLvlStrCache>
            </c:multiLvlStrRef>
          </c:cat>
          <c:val>
            <c:numRef>
              <c:f>'Ümumi təhlil'!$BJ$13:$EK$13</c:f>
              <c:numCache>
                <c:formatCode>0.00</c:formatCode>
                <c:ptCount val="20"/>
                <c:pt idx="0" formatCode="General">
                  <c:v>6</c:v>
                </c:pt>
                <c:pt idx="1">
                  <c:v>87.236111111111128</c:v>
                </c:pt>
                <c:pt idx="2" formatCode="0.0">
                  <c:v>21.333333333333332</c:v>
                </c:pt>
                <c:pt idx="3">
                  <c:v>76</c:v>
                </c:pt>
                <c:pt idx="4" formatCode="General">
                  <c:v>15</c:v>
                </c:pt>
                <c:pt idx="5">
                  <c:v>70</c:v>
                </c:pt>
                <c:pt idx="6" formatCode="0.0">
                  <c:v>20.433333333333334</c:v>
                </c:pt>
                <c:pt idx="7">
                  <c:v>66.071428571428569</c:v>
                </c:pt>
                <c:pt idx="8" formatCode="General">
                  <c:v>38</c:v>
                </c:pt>
                <c:pt idx="9">
                  <c:v>65.307017543859644</c:v>
                </c:pt>
                <c:pt idx="10" formatCode="0.0">
                  <c:v>20.881578947368421</c:v>
                </c:pt>
                <c:pt idx="11">
                  <c:v>69.535294117647055</c:v>
                </c:pt>
                <c:pt idx="12" formatCode="General">
                  <c:v>64</c:v>
                </c:pt>
                <c:pt idx="13">
                  <c:v>0</c:v>
                </c:pt>
                <c:pt idx="14" formatCode="0.0">
                  <c:v>20.3671875</c:v>
                </c:pt>
                <c:pt idx="15">
                  <c:v>67.084126984126982</c:v>
                </c:pt>
                <c:pt idx="16" formatCode="General">
                  <c:v>9</c:v>
                </c:pt>
                <c:pt idx="17">
                  <c:v>63.333333333333336</c:v>
                </c:pt>
                <c:pt idx="18" formatCode="0.0">
                  <c:v>15.555555555555555</c:v>
                </c:pt>
                <c:pt idx="19">
                  <c:v>71.333333333333329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8-263C-4AE1-8EF2-5D0929633F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"/>
        <c:axId val="893308192"/>
        <c:axId val="893313184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'Ümumi təhlil'!$BH$5:$BI$5</c15:sqref>
                        </c15:formulaRef>
                      </c:ext>
                    </c:extLst>
                    <c:strCache>
                      <c:ptCount val="2"/>
                      <c:pt idx="0">
                        <c:v>A</c:v>
                      </c:pt>
                      <c:pt idx="1">
                        <c:v>Q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>
                      <c:ext uri="{02D57815-91ED-43cb-92C2-25804820EDAC}">
                        <c15:formulaRef>
                          <c15:sqref>'Ümumi təhlil'!$BJ$2:$EK$4</c15:sqref>
                        </c15:formulaRef>
                      </c:ext>
                    </c:extLst>
                    <c:multiLvlStrCache>
                      <c:ptCount val="20"/>
                      <c:lvl>
                        <c:pt idx="2">
                          <c:v>Ümumi</c:v>
                        </c:pt>
                        <c:pt idx="6">
                          <c:v>Ümumi</c:v>
                        </c:pt>
                        <c:pt idx="10">
                          <c:v>Ümumi</c:v>
                        </c:pt>
                        <c:pt idx="14">
                          <c:v>Ümumi</c:v>
                        </c:pt>
                        <c:pt idx="18">
                          <c:v>Ümumi</c:v>
                        </c:pt>
                      </c:lvl>
                      <c:lvl>
                        <c:pt idx="0">
                          <c:v>Say</c:v>
                        </c:pt>
                        <c:pt idx="1">
                          <c:v>Yekun ümumi nəticə</c:v>
                        </c:pt>
                        <c:pt idx="3">
                          <c:v>Orta bal (şagird)</c:v>
                        </c:pt>
                        <c:pt idx="4">
                          <c:v>Say</c:v>
                        </c:pt>
                        <c:pt idx="5">
                          <c:v>Yekun ümumi nəticə</c:v>
                        </c:pt>
                        <c:pt idx="7">
                          <c:v>Orta bal (şagird)</c:v>
                        </c:pt>
                        <c:pt idx="8">
                          <c:v>Say</c:v>
                        </c:pt>
                        <c:pt idx="9">
                          <c:v>Yekun ümumi nəticə</c:v>
                        </c:pt>
                        <c:pt idx="11">
                          <c:v>Orta bal (şagird)</c:v>
                        </c:pt>
                        <c:pt idx="12">
                          <c:v>Say</c:v>
                        </c:pt>
                        <c:pt idx="13">
                          <c:v>Yekun ümumi nəticə</c:v>
                        </c:pt>
                        <c:pt idx="15">
                          <c:v>Orta bal (şagird)</c:v>
                        </c:pt>
                        <c:pt idx="16">
                          <c:v>Say</c:v>
                        </c:pt>
                        <c:pt idx="17">
                          <c:v>Yekun ümumi nəticə</c:v>
                        </c:pt>
                        <c:pt idx="19">
                          <c:v>Orta bal (şagird)</c:v>
                        </c:pt>
                      </c:lvl>
                      <c:lvl>
                        <c:pt idx="0">
                          <c:v>&lt;34</c:v>
                        </c:pt>
                        <c:pt idx="4">
                          <c:v>35-44</c:v>
                        </c:pt>
                        <c:pt idx="8">
                          <c:v>45-54</c:v>
                        </c:pt>
                        <c:pt idx="12">
                          <c:v>55-64</c:v>
                        </c:pt>
                        <c:pt idx="16">
                          <c:v>65&lt;</c:v>
                        </c:pt>
                      </c:lvl>
                    </c:multiLvlStrCache>
                  </c:multiLvlStrRef>
                </c:cat>
                <c:val>
                  <c:numRef>
                    <c:extLst>
                      <c:ext uri="{02D57815-91ED-43cb-92C2-25804820EDAC}">
                        <c15:formulaRef>
                          <c15:sqref>'Ümumi təhlil'!$BJ$5:$EK$5</c15:sqref>
                        </c15:formulaRef>
                      </c:ext>
                    </c:extLst>
                    <c:numCache>
                      <c:formatCode>0.00</c:formatCode>
                      <c:ptCount val="20"/>
                      <c:pt idx="0" formatCode="General">
                        <c:v>0</c:v>
                      </c:pt>
                      <c:pt idx="1">
                        <c:v>0</c:v>
                      </c:pt>
                      <c:pt idx="2" formatCode="0.0">
                        <c:v>0</c:v>
                      </c:pt>
                      <c:pt idx="3">
                        <c:v>0</c:v>
                      </c:pt>
                      <c:pt idx="4" formatCode="General">
                        <c:v>0</c:v>
                      </c:pt>
                      <c:pt idx="5">
                        <c:v>0</c:v>
                      </c:pt>
                      <c:pt idx="6" formatCode="0.0">
                        <c:v>0</c:v>
                      </c:pt>
                      <c:pt idx="7">
                        <c:v>0</c:v>
                      </c:pt>
                      <c:pt idx="8" formatCode="General">
                        <c:v>0</c:v>
                      </c:pt>
                      <c:pt idx="9">
                        <c:v>0</c:v>
                      </c:pt>
                      <c:pt idx="10" formatCode="0.0">
                        <c:v>0</c:v>
                      </c:pt>
                      <c:pt idx="11">
                        <c:v>0</c:v>
                      </c:pt>
                      <c:pt idx="12" formatCode="General">
                        <c:v>0</c:v>
                      </c:pt>
                      <c:pt idx="13">
                        <c:v>0</c:v>
                      </c:pt>
                      <c:pt idx="14" formatCode="0.0">
                        <c:v>0</c:v>
                      </c:pt>
                      <c:pt idx="15">
                        <c:v>0</c:v>
                      </c:pt>
                      <c:pt idx="16" formatCode="General">
                        <c:v>0</c:v>
                      </c:pt>
                      <c:pt idx="17">
                        <c:v>0</c:v>
                      </c:pt>
                      <c:pt idx="18" formatCode="0.0">
                        <c:v>0</c:v>
                      </c:pt>
                      <c:pt idx="19">
                        <c:v>0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29-263C-4AE1-8EF2-5D0929633F63}"/>
                  </c:ext>
                </c:extLst>
              </c15:ser>
            </c15:filteredBarSeries>
            <c15:filteredB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təhlil'!$BH$6:$BI$6</c15:sqref>
                        </c15:formulaRef>
                      </c:ext>
                    </c:extLst>
                    <c:strCache>
                      <c:ptCount val="2"/>
                      <c:pt idx="0">
                        <c:v>A</c:v>
                      </c:pt>
                      <c:pt idx="1">
                        <c:v>K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təhlil'!$BJ$2:$EK$4</c15:sqref>
                        </c15:formulaRef>
                      </c:ext>
                    </c:extLst>
                    <c:multiLvlStrCache>
                      <c:ptCount val="20"/>
                      <c:lvl>
                        <c:pt idx="2">
                          <c:v>Ümumi</c:v>
                        </c:pt>
                        <c:pt idx="6">
                          <c:v>Ümumi</c:v>
                        </c:pt>
                        <c:pt idx="10">
                          <c:v>Ümumi</c:v>
                        </c:pt>
                        <c:pt idx="14">
                          <c:v>Ümumi</c:v>
                        </c:pt>
                        <c:pt idx="18">
                          <c:v>Ümumi</c:v>
                        </c:pt>
                      </c:lvl>
                      <c:lvl>
                        <c:pt idx="0">
                          <c:v>Say</c:v>
                        </c:pt>
                        <c:pt idx="1">
                          <c:v>Yekun ümumi nəticə</c:v>
                        </c:pt>
                        <c:pt idx="3">
                          <c:v>Orta bal (şagird)</c:v>
                        </c:pt>
                        <c:pt idx="4">
                          <c:v>Say</c:v>
                        </c:pt>
                        <c:pt idx="5">
                          <c:v>Yekun ümumi nəticə</c:v>
                        </c:pt>
                        <c:pt idx="7">
                          <c:v>Orta bal (şagird)</c:v>
                        </c:pt>
                        <c:pt idx="8">
                          <c:v>Say</c:v>
                        </c:pt>
                        <c:pt idx="9">
                          <c:v>Yekun ümumi nəticə</c:v>
                        </c:pt>
                        <c:pt idx="11">
                          <c:v>Orta bal (şagird)</c:v>
                        </c:pt>
                        <c:pt idx="12">
                          <c:v>Say</c:v>
                        </c:pt>
                        <c:pt idx="13">
                          <c:v>Yekun ümumi nəticə</c:v>
                        </c:pt>
                        <c:pt idx="15">
                          <c:v>Orta bal (şagird)</c:v>
                        </c:pt>
                        <c:pt idx="16">
                          <c:v>Say</c:v>
                        </c:pt>
                        <c:pt idx="17">
                          <c:v>Yekun ümumi nəticə</c:v>
                        </c:pt>
                        <c:pt idx="19">
                          <c:v>Orta bal (şagird)</c:v>
                        </c:pt>
                      </c:lvl>
                      <c:lvl>
                        <c:pt idx="0">
                          <c:v>&lt;34</c:v>
                        </c:pt>
                        <c:pt idx="4">
                          <c:v>35-44</c:v>
                        </c:pt>
                        <c:pt idx="8">
                          <c:v>45-54</c:v>
                        </c:pt>
                        <c:pt idx="12">
                          <c:v>55-64</c:v>
                        </c:pt>
                        <c:pt idx="16">
                          <c:v>65&lt;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təhlil'!$BJ$6:$EK$6</c15:sqref>
                        </c15:formulaRef>
                      </c:ext>
                    </c:extLst>
                    <c:numCache>
                      <c:formatCode>0.00</c:formatCode>
                      <c:ptCount val="20"/>
                      <c:pt idx="0" formatCode="General">
                        <c:v>0</c:v>
                      </c:pt>
                      <c:pt idx="1">
                        <c:v>0</c:v>
                      </c:pt>
                      <c:pt idx="2" formatCode="0.0">
                        <c:v>0</c:v>
                      </c:pt>
                      <c:pt idx="3">
                        <c:v>0</c:v>
                      </c:pt>
                      <c:pt idx="4" formatCode="General">
                        <c:v>0</c:v>
                      </c:pt>
                      <c:pt idx="5">
                        <c:v>0</c:v>
                      </c:pt>
                      <c:pt idx="6" formatCode="0.0">
                        <c:v>0</c:v>
                      </c:pt>
                      <c:pt idx="7">
                        <c:v>0</c:v>
                      </c:pt>
                      <c:pt idx="8" formatCode="General">
                        <c:v>0</c:v>
                      </c:pt>
                      <c:pt idx="9">
                        <c:v>0</c:v>
                      </c:pt>
                      <c:pt idx="10" formatCode="0.0">
                        <c:v>0</c:v>
                      </c:pt>
                      <c:pt idx="11">
                        <c:v>0</c:v>
                      </c:pt>
                      <c:pt idx="12" formatCode="General">
                        <c:v>0</c:v>
                      </c:pt>
                      <c:pt idx="13">
                        <c:v>0</c:v>
                      </c:pt>
                      <c:pt idx="14" formatCode="0.0">
                        <c:v>0</c:v>
                      </c:pt>
                      <c:pt idx="15">
                        <c:v>0</c:v>
                      </c:pt>
                      <c:pt idx="16" formatCode="General">
                        <c:v>0</c:v>
                      </c:pt>
                      <c:pt idx="17">
                        <c:v>0</c:v>
                      </c:pt>
                      <c:pt idx="18" formatCode="0.0">
                        <c:v>0</c:v>
                      </c:pt>
                      <c:pt idx="19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A-263C-4AE1-8EF2-5D0929633F63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v>Azərbaycan bölməsi</c:v>
                </c:tx>
                <c:spPr>
                  <a:gradFill flip="none" rotWithShape="1">
                    <a:gsLst>
                      <a:gs pos="0">
                        <a:srgbClr val="33CCCC">
                          <a:shade val="30000"/>
                          <a:satMod val="115000"/>
                        </a:srgbClr>
                      </a:gs>
                      <a:gs pos="50000">
                        <a:srgbClr val="33CCCC">
                          <a:shade val="67500"/>
                          <a:satMod val="115000"/>
                        </a:srgbClr>
                      </a:gs>
                      <a:gs pos="100000">
                        <a:srgbClr val="33CCCC">
                          <a:shade val="100000"/>
                          <a:satMod val="115000"/>
                        </a:srgbClr>
                      </a:gs>
                    </a:gsLst>
                    <a:lin ang="0" scaled="1"/>
                    <a:tileRect/>
                  </a:gradFill>
                  <a:ln>
                    <a:noFill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 w="190500" h="38100"/>
                  </a:sp3d>
                </c:spPr>
                <c:invertIfNegative val="0"/>
                <c:dPt>
                  <c:idx val="0"/>
                  <c:invertIfNegative val="0"/>
                  <c:bubble3D val="0"/>
                  <c:spPr>
                    <a:gradFill flip="none" rotWithShape="1">
                      <a:gsLst>
                        <a:gs pos="0">
                          <a:srgbClr val="33CCCC">
                            <a:shade val="30000"/>
                            <a:satMod val="115000"/>
                          </a:srgbClr>
                        </a:gs>
                        <a:gs pos="50000">
                          <a:srgbClr val="33CCCC">
                            <a:shade val="67500"/>
                            <a:satMod val="115000"/>
                          </a:srgbClr>
                        </a:gs>
                        <a:gs pos="100000">
                          <a:srgbClr val="33CCCC">
                            <a:shade val="100000"/>
                            <a:satMod val="115000"/>
                          </a:srgbClr>
                        </a:gs>
                      </a:gsLst>
                      <a:lin ang="0" scaled="1"/>
                      <a:tileRect/>
                    </a:gradFill>
                    <a:ln>
                      <a:noFill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90500" h="38100"/>
                    </a:sp3d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2C-263C-4AE1-8EF2-5D0929633F63}"/>
                    </c:ext>
                  </c:extLst>
                </c:dPt>
                <c:dPt>
                  <c:idx val="4"/>
                  <c:invertIfNegative val="0"/>
                  <c:bubble3D val="0"/>
                  <c:spPr>
                    <a:gradFill flip="none" rotWithShape="1">
                      <a:gsLst>
                        <a:gs pos="0">
                          <a:srgbClr val="33CCCC">
                            <a:shade val="30000"/>
                            <a:satMod val="115000"/>
                          </a:srgbClr>
                        </a:gs>
                        <a:gs pos="50000">
                          <a:srgbClr val="33CCCC">
                            <a:shade val="67500"/>
                            <a:satMod val="115000"/>
                          </a:srgbClr>
                        </a:gs>
                        <a:gs pos="100000">
                          <a:srgbClr val="33CCCC">
                            <a:shade val="100000"/>
                            <a:satMod val="115000"/>
                          </a:srgbClr>
                        </a:gs>
                      </a:gsLst>
                      <a:lin ang="0" scaled="1"/>
                      <a:tileRect/>
                    </a:gradFill>
                    <a:ln>
                      <a:noFill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90500" h="38100"/>
                    </a:sp3d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2E-263C-4AE1-8EF2-5D0929633F63}"/>
                    </c:ext>
                  </c:extLst>
                </c:dPt>
                <c:dPt>
                  <c:idx val="12"/>
                  <c:invertIfNegative val="0"/>
                  <c:bubble3D val="0"/>
                  <c:spPr>
                    <a:gradFill flip="none" rotWithShape="1">
                      <a:gsLst>
                        <a:gs pos="0">
                          <a:srgbClr val="33CCCC">
                            <a:shade val="30000"/>
                            <a:satMod val="115000"/>
                          </a:srgbClr>
                        </a:gs>
                        <a:gs pos="50000">
                          <a:srgbClr val="33CCCC">
                            <a:shade val="67500"/>
                            <a:satMod val="115000"/>
                          </a:srgbClr>
                        </a:gs>
                        <a:gs pos="100000">
                          <a:srgbClr val="33CCCC">
                            <a:shade val="100000"/>
                            <a:satMod val="115000"/>
                          </a:srgbClr>
                        </a:gs>
                      </a:gsLst>
                      <a:lin ang="0" scaled="1"/>
                      <a:tileRect/>
                    </a:gradFill>
                    <a:ln>
                      <a:noFill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90500" h="38100"/>
                    </a:sp3d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30-263C-4AE1-8EF2-5D0929633F63}"/>
                    </c:ext>
                  </c:extLst>
                </c:dPt>
                <c:dPt>
                  <c:idx val="16"/>
                  <c:invertIfNegative val="0"/>
                  <c:bubble3D val="0"/>
                  <c:spPr>
                    <a:gradFill flip="none" rotWithShape="1">
                      <a:gsLst>
                        <a:gs pos="0">
                          <a:srgbClr val="33CCCC">
                            <a:shade val="30000"/>
                            <a:satMod val="115000"/>
                          </a:srgbClr>
                        </a:gs>
                        <a:gs pos="50000">
                          <a:srgbClr val="33CCCC">
                            <a:shade val="67500"/>
                            <a:satMod val="115000"/>
                          </a:srgbClr>
                        </a:gs>
                        <a:gs pos="100000">
                          <a:srgbClr val="33CCCC">
                            <a:shade val="100000"/>
                            <a:satMod val="115000"/>
                          </a:srgbClr>
                        </a:gs>
                      </a:gsLst>
                      <a:lin ang="0" scaled="1"/>
                      <a:tileRect/>
                    </a:gradFill>
                    <a:ln>
                      <a:noFill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90500" h="38100"/>
                    </a:sp3d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32-263C-4AE1-8EF2-5D0929633F63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8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təhlil'!$BJ$2:$EK$4</c15:sqref>
                        </c15:formulaRef>
                      </c:ext>
                    </c:extLst>
                    <c:multiLvlStrCache>
                      <c:ptCount val="20"/>
                      <c:lvl>
                        <c:pt idx="2">
                          <c:v>Ümumi</c:v>
                        </c:pt>
                        <c:pt idx="6">
                          <c:v>Ümumi</c:v>
                        </c:pt>
                        <c:pt idx="10">
                          <c:v>Ümumi</c:v>
                        </c:pt>
                        <c:pt idx="14">
                          <c:v>Ümumi</c:v>
                        </c:pt>
                        <c:pt idx="18">
                          <c:v>Ümumi</c:v>
                        </c:pt>
                      </c:lvl>
                      <c:lvl>
                        <c:pt idx="0">
                          <c:v>Say</c:v>
                        </c:pt>
                        <c:pt idx="1">
                          <c:v>Yekun ümumi nəticə</c:v>
                        </c:pt>
                        <c:pt idx="3">
                          <c:v>Orta bal (şagird)</c:v>
                        </c:pt>
                        <c:pt idx="4">
                          <c:v>Say</c:v>
                        </c:pt>
                        <c:pt idx="5">
                          <c:v>Yekun ümumi nəticə</c:v>
                        </c:pt>
                        <c:pt idx="7">
                          <c:v>Orta bal (şagird)</c:v>
                        </c:pt>
                        <c:pt idx="8">
                          <c:v>Say</c:v>
                        </c:pt>
                        <c:pt idx="9">
                          <c:v>Yekun ümumi nəticə</c:v>
                        </c:pt>
                        <c:pt idx="11">
                          <c:v>Orta bal (şagird)</c:v>
                        </c:pt>
                        <c:pt idx="12">
                          <c:v>Say</c:v>
                        </c:pt>
                        <c:pt idx="13">
                          <c:v>Yekun ümumi nəticə</c:v>
                        </c:pt>
                        <c:pt idx="15">
                          <c:v>Orta bal (şagird)</c:v>
                        </c:pt>
                        <c:pt idx="16">
                          <c:v>Say</c:v>
                        </c:pt>
                        <c:pt idx="17">
                          <c:v>Yekun ümumi nəticə</c:v>
                        </c:pt>
                        <c:pt idx="19">
                          <c:v>Orta bal (şagird)</c:v>
                        </c:pt>
                      </c:lvl>
                      <c:lvl>
                        <c:pt idx="0">
                          <c:v>&lt;34</c:v>
                        </c:pt>
                        <c:pt idx="4">
                          <c:v>35-44</c:v>
                        </c:pt>
                        <c:pt idx="8">
                          <c:v>45-54</c:v>
                        </c:pt>
                        <c:pt idx="12">
                          <c:v>55-64</c:v>
                        </c:pt>
                        <c:pt idx="16">
                          <c:v>65&lt;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təhlil'!$BJ$7:$EK$7</c15:sqref>
                        </c15:formulaRef>
                      </c:ext>
                    </c:extLst>
                    <c:numCache>
                      <c:formatCode>0.00</c:formatCode>
                      <c:ptCount val="20"/>
                      <c:pt idx="0" formatCode="General">
                        <c:v>0</c:v>
                      </c:pt>
                      <c:pt idx="1">
                        <c:v>0</c:v>
                      </c:pt>
                      <c:pt idx="2" formatCode="0.0">
                        <c:v>0</c:v>
                      </c:pt>
                      <c:pt idx="3">
                        <c:v>0</c:v>
                      </c:pt>
                      <c:pt idx="4" formatCode="General">
                        <c:v>0</c:v>
                      </c:pt>
                      <c:pt idx="5">
                        <c:v>0</c:v>
                      </c:pt>
                      <c:pt idx="6" formatCode="0.0">
                        <c:v>0</c:v>
                      </c:pt>
                      <c:pt idx="7">
                        <c:v>0</c:v>
                      </c:pt>
                      <c:pt idx="8" formatCode="General">
                        <c:v>0</c:v>
                      </c:pt>
                      <c:pt idx="9">
                        <c:v>0</c:v>
                      </c:pt>
                      <c:pt idx="10" formatCode="0.0">
                        <c:v>0</c:v>
                      </c:pt>
                      <c:pt idx="11">
                        <c:v>0</c:v>
                      </c:pt>
                      <c:pt idx="12" formatCode="General">
                        <c:v>0</c:v>
                      </c:pt>
                      <c:pt idx="13">
                        <c:v>0</c:v>
                      </c:pt>
                      <c:pt idx="14" formatCode="0.0">
                        <c:v>0</c:v>
                      </c:pt>
                      <c:pt idx="15">
                        <c:v>0</c:v>
                      </c:pt>
                      <c:pt idx="16" formatCode="General">
                        <c:v>0</c:v>
                      </c:pt>
                      <c:pt idx="17">
                        <c:v>0</c:v>
                      </c:pt>
                      <c:pt idx="18" formatCode="0.0">
                        <c:v>0</c:v>
                      </c:pt>
                      <c:pt idx="19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33-263C-4AE1-8EF2-5D0929633F63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təhlil'!$BH$8:$BI$8</c15:sqref>
                        </c15:formulaRef>
                      </c:ext>
                    </c:extLst>
                    <c:strCache>
                      <c:ptCount val="2"/>
                      <c:pt idx="0">
                        <c:v>R</c:v>
                      </c:pt>
                      <c:pt idx="1">
                        <c:v>Q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təhlil'!$BJ$2:$EK$4</c15:sqref>
                        </c15:formulaRef>
                      </c:ext>
                    </c:extLst>
                    <c:multiLvlStrCache>
                      <c:ptCount val="20"/>
                      <c:lvl>
                        <c:pt idx="2">
                          <c:v>Ümumi</c:v>
                        </c:pt>
                        <c:pt idx="6">
                          <c:v>Ümumi</c:v>
                        </c:pt>
                        <c:pt idx="10">
                          <c:v>Ümumi</c:v>
                        </c:pt>
                        <c:pt idx="14">
                          <c:v>Ümumi</c:v>
                        </c:pt>
                        <c:pt idx="18">
                          <c:v>Ümumi</c:v>
                        </c:pt>
                      </c:lvl>
                      <c:lvl>
                        <c:pt idx="0">
                          <c:v>Say</c:v>
                        </c:pt>
                        <c:pt idx="1">
                          <c:v>Yekun ümumi nəticə</c:v>
                        </c:pt>
                        <c:pt idx="3">
                          <c:v>Orta bal (şagird)</c:v>
                        </c:pt>
                        <c:pt idx="4">
                          <c:v>Say</c:v>
                        </c:pt>
                        <c:pt idx="5">
                          <c:v>Yekun ümumi nəticə</c:v>
                        </c:pt>
                        <c:pt idx="7">
                          <c:v>Orta bal (şagird)</c:v>
                        </c:pt>
                        <c:pt idx="8">
                          <c:v>Say</c:v>
                        </c:pt>
                        <c:pt idx="9">
                          <c:v>Yekun ümumi nəticə</c:v>
                        </c:pt>
                        <c:pt idx="11">
                          <c:v>Orta bal (şagird)</c:v>
                        </c:pt>
                        <c:pt idx="12">
                          <c:v>Say</c:v>
                        </c:pt>
                        <c:pt idx="13">
                          <c:v>Yekun ümumi nəticə</c:v>
                        </c:pt>
                        <c:pt idx="15">
                          <c:v>Orta bal (şagird)</c:v>
                        </c:pt>
                        <c:pt idx="16">
                          <c:v>Say</c:v>
                        </c:pt>
                        <c:pt idx="17">
                          <c:v>Yekun ümumi nəticə</c:v>
                        </c:pt>
                        <c:pt idx="19">
                          <c:v>Orta bal (şagird)</c:v>
                        </c:pt>
                      </c:lvl>
                      <c:lvl>
                        <c:pt idx="0">
                          <c:v>&lt;34</c:v>
                        </c:pt>
                        <c:pt idx="4">
                          <c:v>35-44</c:v>
                        </c:pt>
                        <c:pt idx="8">
                          <c:v>45-54</c:v>
                        </c:pt>
                        <c:pt idx="12">
                          <c:v>55-64</c:v>
                        </c:pt>
                        <c:pt idx="16">
                          <c:v>65&lt;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təhlil'!$BJ$8:$EK$8</c15:sqref>
                        </c15:formulaRef>
                      </c:ext>
                    </c:extLst>
                    <c:numCache>
                      <c:formatCode>0.00</c:formatCode>
                      <c:ptCount val="20"/>
                      <c:pt idx="0" formatCode="General">
                        <c:v>0</c:v>
                      </c:pt>
                      <c:pt idx="1">
                        <c:v>0</c:v>
                      </c:pt>
                      <c:pt idx="2" formatCode="0.0">
                        <c:v>0</c:v>
                      </c:pt>
                      <c:pt idx="3">
                        <c:v>0</c:v>
                      </c:pt>
                      <c:pt idx="4" formatCode="General">
                        <c:v>0</c:v>
                      </c:pt>
                      <c:pt idx="5">
                        <c:v>0</c:v>
                      </c:pt>
                      <c:pt idx="6" formatCode="0.0">
                        <c:v>0</c:v>
                      </c:pt>
                      <c:pt idx="7">
                        <c:v>0</c:v>
                      </c:pt>
                      <c:pt idx="8" formatCode="General">
                        <c:v>0</c:v>
                      </c:pt>
                      <c:pt idx="9">
                        <c:v>0</c:v>
                      </c:pt>
                      <c:pt idx="10" formatCode="0.0">
                        <c:v>0</c:v>
                      </c:pt>
                      <c:pt idx="11">
                        <c:v>0</c:v>
                      </c:pt>
                      <c:pt idx="12" formatCode="General">
                        <c:v>0</c:v>
                      </c:pt>
                      <c:pt idx="13">
                        <c:v>0</c:v>
                      </c:pt>
                      <c:pt idx="14" formatCode="0.0">
                        <c:v>0</c:v>
                      </c:pt>
                      <c:pt idx="15">
                        <c:v>0</c:v>
                      </c:pt>
                      <c:pt idx="16" formatCode="General">
                        <c:v>0</c:v>
                      </c:pt>
                      <c:pt idx="17">
                        <c:v>0</c:v>
                      </c:pt>
                      <c:pt idx="18" formatCode="0.0">
                        <c:v>0</c:v>
                      </c:pt>
                      <c:pt idx="19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34-263C-4AE1-8EF2-5D0929633F63}"/>
                  </c:ext>
                </c:extLst>
              </c15:ser>
            </c15:filteredBarSeries>
            <c15:filteredBa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təhlil'!$BH$9:$BI$9</c15:sqref>
                        </c15:formulaRef>
                      </c:ext>
                    </c:extLst>
                    <c:strCache>
                      <c:ptCount val="2"/>
                      <c:pt idx="0">
                        <c:v>R</c:v>
                      </c:pt>
                      <c:pt idx="1">
                        <c:v>K</c:v>
                      </c:pt>
                    </c:strCache>
                  </c:strRef>
                </c:tx>
                <c:spPr>
                  <a:solidFill>
                    <a:schemeClr val="accent5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təhlil'!$BJ$2:$EK$4</c15:sqref>
                        </c15:formulaRef>
                      </c:ext>
                    </c:extLst>
                    <c:multiLvlStrCache>
                      <c:ptCount val="20"/>
                      <c:lvl>
                        <c:pt idx="2">
                          <c:v>Ümumi</c:v>
                        </c:pt>
                        <c:pt idx="6">
                          <c:v>Ümumi</c:v>
                        </c:pt>
                        <c:pt idx="10">
                          <c:v>Ümumi</c:v>
                        </c:pt>
                        <c:pt idx="14">
                          <c:v>Ümumi</c:v>
                        </c:pt>
                        <c:pt idx="18">
                          <c:v>Ümumi</c:v>
                        </c:pt>
                      </c:lvl>
                      <c:lvl>
                        <c:pt idx="0">
                          <c:v>Say</c:v>
                        </c:pt>
                        <c:pt idx="1">
                          <c:v>Yekun ümumi nəticə</c:v>
                        </c:pt>
                        <c:pt idx="3">
                          <c:v>Orta bal (şagird)</c:v>
                        </c:pt>
                        <c:pt idx="4">
                          <c:v>Say</c:v>
                        </c:pt>
                        <c:pt idx="5">
                          <c:v>Yekun ümumi nəticə</c:v>
                        </c:pt>
                        <c:pt idx="7">
                          <c:v>Orta bal (şagird)</c:v>
                        </c:pt>
                        <c:pt idx="8">
                          <c:v>Say</c:v>
                        </c:pt>
                        <c:pt idx="9">
                          <c:v>Yekun ümumi nəticə</c:v>
                        </c:pt>
                        <c:pt idx="11">
                          <c:v>Orta bal (şagird)</c:v>
                        </c:pt>
                        <c:pt idx="12">
                          <c:v>Say</c:v>
                        </c:pt>
                        <c:pt idx="13">
                          <c:v>Yekun ümumi nəticə</c:v>
                        </c:pt>
                        <c:pt idx="15">
                          <c:v>Orta bal (şagird)</c:v>
                        </c:pt>
                        <c:pt idx="16">
                          <c:v>Say</c:v>
                        </c:pt>
                        <c:pt idx="17">
                          <c:v>Yekun ümumi nəticə</c:v>
                        </c:pt>
                        <c:pt idx="19">
                          <c:v>Orta bal (şagird)</c:v>
                        </c:pt>
                      </c:lvl>
                      <c:lvl>
                        <c:pt idx="0">
                          <c:v>&lt;34</c:v>
                        </c:pt>
                        <c:pt idx="4">
                          <c:v>35-44</c:v>
                        </c:pt>
                        <c:pt idx="8">
                          <c:v>45-54</c:v>
                        </c:pt>
                        <c:pt idx="12">
                          <c:v>55-64</c:v>
                        </c:pt>
                        <c:pt idx="16">
                          <c:v>65&lt;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təhlil'!$BJ$9:$EK$9</c15:sqref>
                        </c15:formulaRef>
                      </c:ext>
                    </c:extLst>
                    <c:numCache>
                      <c:formatCode>0.00</c:formatCode>
                      <c:ptCount val="20"/>
                      <c:pt idx="0" formatCode="General">
                        <c:v>0</c:v>
                      </c:pt>
                      <c:pt idx="1">
                        <c:v>0</c:v>
                      </c:pt>
                      <c:pt idx="2" formatCode="0.0">
                        <c:v>0</c:v>
                      </c:pt>
                      <c:pt idx="3">
                        <c:v>0</c:v>
                      </c:pt>
                      <c:pt idx="4" formatCode="General">
                        <c:v>0</c:v>
                      </c:pt>
                      <c:pt idx="5">
                        <c:v>0</c:v>
                      </c:pt>
                      <c:pt idx="6" formatCode="0.0">
                        <c:v>0</c:v>
                      </c:pt>
                      <c:pt idx="7">
                        <c:v>0</c:v>
                      </c:pt>
                      <c:pt idx="8" formatCode="General">
                        <c:v>0</c:v>
                      </c:pt>
                      <c:pt idx="9">
                        <c:v>0</c:v>
                      </c:pt>
                      <c:pt idx="10" formatCode="0.0">
                        <c:v>0</c:v>
                      </c:pt>
                      <c:pt idx="11">
                        <c:v>0</c:v>
                      </c:pt>
                      <c:pt idx="12" formatCode="General">
                        <c:v>0</c:v>
                      </c:pt>
                      <c:pt idx="13">
                        <c:v>0</c:v>
                      </c:pt>
                      <c:pt idx="14" formatCode="0.0">
                        <c:v>0</c:v>
                      </c:pt>
                      <c:pt idx="15">
                        <c:v>0</c:v>
                      </c:pt>
                      <c:pt idx="16" formatCode="General">
                        <c:v>0</c:v>
                      </c:pt>
                      <c:pt idx="17">
                        <c:v>0</c:v>
                      </c:pt>
                      <c:pt idx="18" formatCode="0.0">
                        <c:v>0</c:v>
                      </c:pt>
                      <c:pt idx="19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35-263C-4AE1-8EF2-5D0929633F63}"/>
                  </c:ext>
                </c:extLst>
              </c15:ser>
            </c15:filteredBarSeries>
            <c15:filteredBarSeries>
              <c15:ser>
                <c:idx val="5"/>
                <c:order val="5"/>
                <c:tx>
                  <c:v>Rus bölməsi</c:v>
                </c:tx>
                <c:spPr>
                  <a:gradFill flip="none" rotWithShape="1">
                    <a:gsLst>
                      <a:gs pos="0">
                        <a:schemeClr val="bg1">
                          <a:lumMod val="85000"/>
                          <a:shade val="30000"/>
                          <a:satMod val="115000"/>
                        </a:schemeClr>
                      </a:gs>
                      <a:gs pos="50000">
                        <a:schemeClr val="bg1">
                          <a:lumMod val="85000"/>
                          <a:shade val="67500"/>
                          <a:satMod val="115000"/>
                        </a:schemeClr>
                      </a:gs>
                      <a:gs pos="100000">
                        <a:schemeClr val="bg1">
                          <a:lumMod val="85000"/>
                          <a:shade val="100000"/>
                          <a:satMod val="115000"/>
                        </a:schemeClr>
                      </a:gs>
                    </a:gsLst>
                    <a:lin ang="0" scaled="1"/>
                    <a:tileRect/>
                  </a:gradFill>
                  <a:ln>
                    <a:noFill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 w="190500" h="38100"/>
                  </a:sp3d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6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təhlil'!$BJ$2:$EK$4</c15:sqref>
                        </c15:formulaRef>
                      </c:ext>
                    </c:extLst>
                    <c:multiLvlStrCache>
                      <c:ptCount val="20"/>
                      <c:lvl>
                        <c:pt idx="2">
                          <c:v>Ümumi</c:v>
                        </c:pt>
                        <c:pt idx="6">
                          <c:v>Ümumi</c:v>
                        </c:pt>
                        <c:pt idx="10">
                          <c:v>Ümumi</c:v>
                        </c:pt>
                        <c:pt idx="14">
                          <c:v>Ümumi</c:v>
                        </c:pt>
                        <c:pt idx="18">
                          <c:v>Ümumi</c:v>
                        </c:pt>
                      </c:lvl>
                      <c:lvl>
                        <c:pt idx="0">
                          <c:v>Say</c:v>
                        </c:pt>
                        <c:pt idx="1">
                          <c:v>Yekun ümumi nəticə</c:v>
                        </c:pt>
                        <c:pt idx="3">
                          <c:v>Orta bal (şagird)</c:v>
                        </c:pt>
                        <c:pt idx="4">
                          <c:v>Say</c:v>
                        </c:pt>
                        <c:pt idx="5">
                          <c:v>Yekun ümumi nəticə</c:v>
                        </c:pt>
                        <c:pt idx="7">
                          <c:v>Orta bal (şagird)</c:v>
                        </c:pt>
                        <c:pt idx="8">
                          <c:v>Say</c:v>
                        </c:pt>
                        <c:pt idx="9">
                          <c:v>Yekun ümumi nəticə</c:v>
                        </c:pt>
                        <c:pt idx="11">
                          <c:v>Orta bal (şagird)</c:v>
                        </c:pt>
                        <c:pt idx="12">
                          <c:v>Say</c:v>
                        </c:pt>
                        <c:pt idx="13">
                          <c:v>Yekun ümumi nəticə</c:v>
                        </c:pt>
                        <c:pt idx="15">
                          <c:v>Orta bal (şagird)</c:v>
                        </c:pt>
                        <c:pt idx="16">
                          <c:v>Say</c:v>
                        </c:pt>
                        <c:pt idx="17">
                          <c:v>Yekun ümumi nəticə</c:v>
                        </c:pt>
                        <c:pt idx="19">
                          <c:v>Orta bal (şagird)</c:v>
                        </c:pt>
                      </c:lvl>
                      <c:lvl>
                        <c:pt idx="0">
                          <c:v>&lt;34</c:v>
                        </c:pt>
                        <c:pt idx="4">
                          <c:v>35-44</c:v>
                        </c:pt>
                        <c:pt idx="8">
                          <c:v>45-54</c:v>
                        </c:pt>
                        <c:pt idx="12">
                          <c:v>55-64</c:v>
                        </c:pt>
                        <c:pt idx="16">
                          <c:v>65&lt;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təhlil'!$BJ$10:$EK$10</c15:sqref>
                        </c15:formulaRef>
                      </c:ext>
                    </c:extLst>
                    <c:numCache>
                      <c:formatCode>0.00</c:formatCode>
                      <c:ptCount val="20"/>
                      <c:pt idx="0" formatCode="General">
                        <c:v>0</c:v>
                      </c:pt>
                      <c:pt idx="1">
                        <c:v>0</c:v>
                      </c:pt>
                      <c:pt idx="2" formatCode="0.0">
                        <c:v>0</c:v>
                      </c:pt>
                      <c:pt idx="3">
                        <c:v>0</c:v>
                      </c:pt>
                      <c:pt idx="4" formatCode="General">
                        <c:v>0</c:v>
                      </c:pt>
                      <c:pt idx="5">
                        <c:v>0</c:v>
                      </c:pt>
                      <c:pt idx="6" formatCode="0.0">
                        <c:v>0</c:v>
                      </c:pt>
                      <c:pt idx="7">
                        <c:v>0</c:v>
                      </c:pt>
                      <c:pt idx="8" formatCode="General">
                        <c:v>0</c:v>
                      </c:pt>
                      <c:pt idx="9">
                        <c:v>0</c:v>
                      </c:pt>
                      <c:pt idx="10" formatCode="0.0">
                        <c:v>0</c:v>
                      </c:pt>
                      <c:pt idx="11">
                        <c:v>0</c:v>
                      </c:pt>
                      <c:pt idx="12" formatCode="General">
                        <c:v>0</c:v>
                      </c:pt>
                      <c:pt idx="13">
                        <c:v>0</c:v>
                      </c:pt>
                      <c:pt idx="14" formatCode="0.0">
                        <c:v>0</c:v>
                      </c:pt>
                      <c:pt idx="15">
                        <c:v>0</c:v>
                      </c:pt>
                      <c:pt idx="16" formatCode="General">
                        <c:v>0</c:v>
                      </c:pt>
                      <c:pt idx="17">
                        <c:v>0</c:v>
                      </c:pt>
                      <c:pt idx="18" formatCode="0.0">
                        <c:v>0</c:v>
                      </c:pt>
                      <c:pt idx="19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36-263C-4AE1-8EF2-5D0929633F63}"/>
                  </c:ext>
                </c:extLst>
              </c15:ser>
            </c15:filteredBarSeries>
            <c15:filteredBar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təhlil'!$BH$11:$BI$11</c15:sqref>
                        </c15:formulaRef>
                      </c:ext>
                    </c:extLst>
                    <c:strCache>
                      <c:ptCount val="2"/>
                      <c:pt idx="0">
                        <c:v>Ü</c:v>
                      </c:pt>
                      <c:pt idx="1">
                        <c:v>Q</c:v>
                      </c:pt>
                    </c:strCache>
                  </c:strRef>
                </c:tx>
                <c:spPr>
                  <a:solidFill>
                    <a:schemeClr val="accent1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təhlil'!$BJ$2:$EK$4</c15:sqref>
                        </c15:formulaRef>
                      </c:ext>
                    </c:extLst>
                    <c:multiLvlStrCache>
                      <c:ptCount val="20"/>
                      <c:lvl>
                        <c:pt idx="2">
                          <c:v>Ümumi</c:v>
                        </c:pt>
                        <c:pt idx="6">
                          <c:v>Ümumi</c:v>
                        </c:pt>
                        <c:pt idx="10">
                          <c:v>Ümumi</c:v>
                        </c:pt>
                        <c:pt idx="14">
                          <c:v>Ümumi</c:v>
                        </c:pt>
                        <c:pt idx="18">
                          <c:v>Ümumi</c:v>
                        </c:pt>
                      </c:lvl>
                      <c:lvl>
                        <c:pt idx="0">
                          <c:v>Say</c:v>
                        </c:pt>
                        <c:pt idx="1">
                          <c:v>Yekun ümumi nəticə</c:v>
                        </c:pt>
                        <c:pt idx="3">
                          <c:v>Orta bal (şagird)</c:v>
                        </c:pt>
                        <c:pt idx="4">
                          <c:v>Say</c:v>
                        </c:pt>
                        <c:pt idx="5">
                          <c:v>Yekun ümumi nəticə</c:v>
                        </c:pt>
                        <c:pt idx="7">
                          <c:v>Orta bal (şagird)</c:v>
                        </c:pt>
                        <c:pt idx="8">
                          <c:v>Say</c:v>
                        </c:pt>
                        <c:pt idx="9">
                          <c:v>Yekun ümumi nəticə</c:v>
                        </c:pt>
                        <c:pt idx="11">
                          <c:v>Orta bal (şagird)</c:v>
                        </c:pt>
                        <c:pt idx="12">
                          <c:v>Say</c:v>
                        </c:pt>
                        <c:pt idx="13">
                          <c:v>Yekun ümumi nəticə</c:v>
                        </c:pt>
                        <c:pt idx="15">
                          <c:v>Orta bal (şagird)</c:v>
                        </c:pt>
                        <c:pt idx="16">
                          <c:v>Say</c:v>
                        </c:pt>
                        <c:pt idx="17">
                          <c:v>Yekun ümumi nəticə</c:v>
                        </c:pt>
                        <c:pt idx="19">
                          <c:v>Orta bal (şagird)</c:v>
                        </c:pt>
                      </c:lvl>
                      <c:lvl>
                        <c:pt idx="0">
                          <c:v>&lt;34</c:v>
                        </c:pt>
                        <c:pt idx="4">
                          <c:v>35-44</c:v>
                        </c:pt>
                        <c:pt idx="8">
                          <c:v>45-54</c:v>
                        </c:pt>
                        <c:pt idx="12">
                          <c:v>55-64</c:v>
                        </c:pt>
                        <c:pt idx="16">
                          <c:v>65&lt;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təhlil'!$BJ$11:$EK$11</c15:sqref>
                        </c15:formulaRef>
                      </c:ext>
                    </c:extLst>
                    <c:numCache>
                      <c:formatCode>0.00</c:formatCode>
                      <c:ptCount val="20"/>
                      <c:pt idx="0" formatCode="General">
                        <c:v>5</c:v>
                      </c:pt>
                      <c:pt idx="1">
                        <c:v>87.533333333333331</c:v>
                      </c:pt>
                      <c:pt idx="2" formatCode="0.0">
                        <c:v>20.8</c:v>
                      </c:pt>
                      <c:pt idx="3">
                        <c:v>73.5</c:v>
                      </c:pt>
                      <c:pt idx="4" formatCode="General">
                        <c:v>14</c:v>
                      </c:pt>
                      <c:pt idx="5">
                        <c:v>68.928571428571431</c:v>
                      </c:pt>
                      <c:pt idx="6" formatCode="0.0">
                        <c:v>20.25</c:v>
                      </c:pt>
                      <c:pt idx="7">
                        <c:v>66.538461538461533</c:v>
                      </c:pt>
                      <c:pt idx="8" formatCode="General">
                        <c:v>34</c:v>
                      </c:pt>
                      <c:pt idx="9">
                        <c:v>65.735294117647044</c:v>
                      </c:pt>
                      <c:pt idx="10" formatCode="0.0">
                        <c:v>21.426470588235293</c:v>
                      </c:pt>
                      <c:pt idx="11">
                        <c:v>69.296774193548387</c:v>
                      </c:pt>
                      <c:pt idx="12" formatCode="General">
                        <c:v>61</c:v>
                      </c:pt>
                      <c:pt idx="13">
                        <c:v>0</c:v>
                      </c:pt>
                      <c:pt idx="14" formatCode="0.0">
                        <c:v>20.139344262295083</c:v>
                      </c:pt>
                      <c:pt idx="15">
                        <c:v>66.838333333333338</c:v>
                      </c:pt>
                      <c:pt idx="16" formatCode="General">
                        <c:v>7</c:v>
                      </c:pt>
                      <c:pt idx="17">
                        <c:v>69.761904761904759</c:v>
                      </c:pt>
                      <c:pt idx="18" formatCode="0.0">
                        <c:v>14</c:v>
                      </c:pt>
                      <c:pt idx="19">
                        <c:v>71.428571428571431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37-263C-4AE1-8EF2-5D0929633F63}"/>
                  </c:ext>
                </c:extLst>
              </c15:ser>
            </c15:filteredBarSeries>
            <c15:filteredBar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təhlil'!$BH$12:$BI$12</c15:sqref>
                        </c15:formulaRef>
                      </c:ext>
                    </c:extLst>
                    <c:strCache>
                      <c:ptCount val="2"/>
                      <c:pt idx="0">
                        <c:v>Ü</c:v>
                      </c:pt>
                      <c:pt idx="1">
                        <c:v>K</c:v>
                      </c:pt>
                    </c:strCache>
                  </c:strRef>
                </c:tx>
                <c:spPr>
                  <a:solidFill>
                    <a:schemeClr val="accent2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təhlil'!$BJ$2:$EK$4</c15:sqref>
                        </c15:formulaRef>
                      </c:ext>
                    </c:extLst>
                    <c:multiLvlStrCache>
                      <c:ptCount val="20"/>
                      <c:lvl>
                        <c:pt idx="2">
                          <c:v>Ümumi</c:v>
                        </c:pt>
                        <c:pt idx="6">
                          <c:v>Ümumi</c:v>
                        </c:pt>
                        <c:pt idx="10">
                          <c:v>Ümumi</c:v>
                        </c:pt>
                        <c:pt idx="14">
                          <c:v>Ümumi</c:v>
                        </c:pt>
                        <c:pt idx="18">
                          <c:v>Ümumi</c:v>
                        </c:pt>
                      </c:lvl>
                      <c:lvl>
                        <c:pt idx="0">
                          <c:v>Say</c:v>
                        </c:pt>
                        <c:pt idx="1">
                          <c:v>Yekun ümumi nəticə</c:v>
                        </c:pt>
                        <c:pt idx="3">
                          <c:v>Orta bal (şagird)</c:v>
                        </c:pt>
                        <c:pt idx="4">
                          <c:v>Say</c:v>
                        </c:pt>
                        <c:pt idx="5">
                          <c:v>Yekun ümumi nəticə</c:v>
                        </c:pt>
                        <c:pt idx="7">
                          <c:v>Orta bal (şagird)</c:v>
                        </c:pt>
                        <c:pt idx="8">
                          <c:v>Say</c:v>
                        </c:pt>
                        <c:pt idx="9">
                          <c:v>Yekun ümumi nəticə</c:v>
                        </c:pt>
                        <c:pt idx="11">
                          <c:v>Orta bal (şagird)</c:v>
                        </c:pt>
                        <c:pt idx="12">
                          <c:v>Say</c:v>
                        </c:pt>
                        <c:pt idx="13">
                          <c:v>Yekun ümumi nəticə</c:v>
                        </c:pt>
                        <c:pt idx="15">
                          <c:v>Orta bal (şagird)</c:v>
                        </c:pt>
                        <c:pt idx="16">
                          <c:v>Say</c:v>
                        </c:pt>
                        <c:pt idx="17">
                          <c:v>Yekun ümumi nəticə</c:v>
                        </c:pt>
                        <c:pt idx="19">
                          <c:v>Orta bal (şagird)</c:v>
                        </c:pt>
                      </c:lvl>
                      <c:lvl>
                        <c:pt idx="0">
                          <c:v>&lt;34</c:v>
                        </c:pt>
                        <c:pt idx="4">
                          <c:v>35-44</c:v>
                        </c:pt>
                        <c:pt idx="8">
                          <c:v>45-54</c:v>
                        </c:pt>
                        <c:pt idx="12">
                          <c:v>55-64</c:v>
                        </c:pt>
                        <c:pt idx="16">
                          <c:v>65&lt;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təhlil'!$BJ$12:$EK$12</c15:sqref>
                        </c15:formulaRef>
                      </c:ext>
                    </c:extLst>
                    <c:numCache>
                      <c:formatCode>0.00</c:formatCode>
                      <c:ptCount val="20"/>
                      <c:pt idx="0" formatCode="General">
                        <c:v>1</c:v>
                      </c:pt>
                      <c:pt idx="1">
                        <c:v>85.75</c:v>
                      </c:pt>
                      <c:pt idx="2" formatCode="0.0">
                        <c:v>24</c:v>
                      </c:pt>
                      <c:pt idx="3">
                        <c:v>86</c:v>
                      </c:pt>
                      <c:pt idx="4" formatCode="General">
                        <c:v>1</c:v>
                      </c:pt>
                      <c:pt idx="5">
                        <c:v>85</c:v>
                      </c:pt>
                      <c:pt idx="6" formatCode="0.0">
                        <c:v>23</c:v>
                      </c:pt>
                      <c:pt idx="7">
                        <c:v>60</c:v>
                      </c:pt>
                      <c:pt idx="8" formatCode="General">
                        <c:v>4</c:v>
                      </c:pt>
                      <c:pt idx="9">
                        <c:v>61.666666666666664</c:v>
                      </c:pt>
                      <c:pt idx="10" formatCode="0.0">
                        <c:v>16.25</c:v>
                      </c:pt>
                      <c:pt idx="11">
                        <c:v>72</c:v>
                      </c:pt>
                      <c:pt idx="12" formatCode="General">
                        <c:v>3</c:v>
                      </c:pt>
                      <c:pt idx="13">
                        <c:v>72.777777777777771</c:v>
                      </c:pt>
                      <c:pt idx="14" formatCode="0.0">
                        <c:v>25</c:v>
                      </c:pt>
                      <c:pt idx="15">
                        <c:v>72</c:v>
                      </c:pt>
                      <c:pt idx="16" formatCode="General">
                        <c:v>2</c:v>
                      </c:pt>
                      <c:pt idx="17">
                        <c:v>40.833333333333336</c:v>
                      </c:pt>
                      <c:pt idx="18" formatCode="0.0">
                        <c:v>21</c:v>
                      </c:pt>
                      <c:pt idx="19">
                        <c:v>71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38-263C-4AE1-8EF2-5D0929633F63}"/>
                  </c:ext>
                </c:extLst>
              </c15:ser>
            </c15:filteredBarSeries>
          </c:ext>
        </c:extLst>
      </c:barChart>
      <c:catAx>
        <c:axId val="893308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pPr>
            <a:endParaRPr lang="en-US"/>
          </a:p>
        </c:txPr>
        <c:crossAx val="893313184"/>
        <c:crosses val="autoZero"/>
        <c:auto val="1"/>
        <c:lblAlgn val="ctr"/>
        <c:lblOffset val="100"/>
        <c:noMultiLvlLbl val="0"/>
      </c:catAx>
      <c:valAx>
        <c:axId val="89331318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933081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rgbClr val="FFE1E2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>
          <a:latin typeface="Palatino Linotype" panose="02040502050505030304" pitchFamily="18" charset="0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pPr>
            <a:r>
              <a:rPr lang="az-Latn-AZ" sz="2000" b="1">
                <a:solidFill>
                  <a:schemeClr val="tx1"/>
                </a:solidFill>
              </a:rPr>
              <a:t>Müəllimlərin</a:t>
            </a:r>
            <a:r>
              <a:rPr lang="az-Latn-AZ" sz="2000" b="1" baseline="0">
                <a:solidFill>
                  <a:schemeClr val="tx1"/>
                </a:solidFill>
              </a:rPr>
              <a:t> yaş intervalları üzrə</a:t>
            </a:r>
            <a:r>
              <a:rPr lang="en-US" sz="2000" b="1" baseline="0">
                <a:solidFill>
                  <a:schemeClr val="tx1"/>
                </a:solidFill>
              </a:rPr>
              <a:t> </a:t>
            </a:r>
            <a:r>
              <a:rPr lang="az-Latn-AZ" sz="2000" b="1" baseline="0">
                <a:solidFill>
                  <a:schemeClr val="tx1"/>
                </a:solidFill>
              </a:rPr>
              <a:t>faiz göstəriciləri </a:t>
            </a:r>
          </a:p>
          <a:p>
            <a:pPr>
              <a:defRPr>
                <a:solidFill>
                  <a:schemeClr val="tx1"/>
                </a:solidFill>
              </a:defRPr>
            </a:pPr>
            <a:r>
              <a:rPr lang="az-Latn-AZ" sz="1800" b="0" i="1" baseline="0">
                <a:solidFill>
                  <a:schemeClr val="tx1"/>
                </a:solidFill>
              </a:rPr>
              <a:t>(Ümumi)</a:t>
            </a:r>
          </a:p>
        </c:rich>
      </c:tx>
      <c:layout>
        <c:manualLayout>
          <c:xMode val="edge"/>
          <c:yMode val="edge"/>
          <c:x val="1.6545560286216313E-3"/>
          <c:y val="2.062812924253888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8"/>
          <c:order val="8"/>
          <c:tx>
            <c:v>Ümumi</c:v>
          </c:tx>
          <c:spPr>
            <a:gradFill flip="none" rotWithShape="1">
              <a:gsLst>
                <a:gs pos="0">
                  <a:srgbClr val="FF7C80">
                    <a:shade val="30000"/>
                    <a:satMod val="115000"/>
                  </a:srgbClr>
                </a:gs>
                <a:gs pos="50000">
                  <a:srgbClr val="FF7C80">
                    <a:shade val="67500"/>
                    <a:satMod val="115000"/>
                  </a:srgbClr>
                </a:gs>
                <a:gs pos="100000">
                  <a:srgbClr val="FF7C80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scene3d>
              <a:camera prst="orthographicFront"/>
              <a:lightRig rig="threePt" dir="t"/>
            </a:scene3d>
            <a:sp3d>
              <a:bevelT w="190500" h="38100"/>
            </a:sp3d>
          </c:spPr>
          <c:dPt>
            <c:idx val="0"/>
            <c:bubble3D val="0"/>
            <c:spPr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1-C464-4E08-AB29-77531208BD23}"/>
              </c:ext>
            </c:extLst>
          </c:dPt>
          <c:dPt>
            <c:idx val="1"/>
            <c:bubble3D val="0"/>
            <c:spPr>
              <a:solidFill>
                <a:schemeClr val="bg2">
                  <a:lumMod val="75000"/>
                </a:schemeClr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3-C464-4E08-AB29-77531208BD23}"/>
              </c:ext>
            </c:extLst>
          </c:dPt>
          <c:dPt>
            <c:idx val="2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5-C464-4E08-AB29-77531208BD23}"/>
              </c:ext>
            </c:extLst>
          </c:dPt>
          <c:dPt>
            <c:idx val="3"/>
            <c:bubble3D val="0"/>
            <c:spPr>
              <a:solidFill>
                <a:srgbClr val="33CCCC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7-C464-4E08-AB29-77531208BD23}"/>
              </c:ext>
            </c:extLst>
          </c:dPt>
          <c:dPt>
            <c:idx val="4"/>
            <c:bubble3D val="0"/>
            <c:spPr>
              <a:solidFill>
                <a:srgbClr val="FF7C80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9-C464-4E08-AB29-77531208BD2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 xmlns:c15="http://schemas.microsoft.com/office/drawing/2012/chart">
              <c:ext xmlns:c15="http://schemas.microsoft.com/office/drawing/2012/chart" uri="{CE6537A1-D6FC-4f65-9D91-7224C49458BB}"/>
            </c:extLst>
          </c:dLbls>
          <c:cat>
            <c:strRef>
              <c:f>'Ümumi təhlil'!$BJ$2:$EK$2</c:f>
              <c:strCache>
                <c:ptCount val="5"/>
                <c:pt idx="0">
                  <c:v>&lt;34</c:v>
                </c:pt>
                <c:pt idx="1">
                  <c:v>35-44</c:v>
                </c:pt>
                <c:pt idx="2">
                  <c:v>45-54</c:v>
                </c:pt>
                <c:pt idx="3">
                  <c:v>55-64</c:v>
                </c:pt>
                <c:pt idx="4">
                  <c:v>65&lt;</c:v>
                </c:pt>
              </c:strCache>
            </c:strRef>
          </c:cat>
          <c:val>
            <c:numRef>
              <c:f>'Ümumi təhlil'!$BJ$13:$EK$13</c:f>
              <c:numCache>
                <c:formatCode>General</c:formatCode>
                <c:ptCount val="5"/>
                <c:pt idx="0">
                  <c:v>6</c:v>
                </c:pt>
                <c:pt idx="1">
                  <c:v>15</c:v>
                </c:pt>
                <c:pt idx="2">
                  <c:v>38</c:v>
                </c:pt>
                <c:pt idx="3">
                  <c:v>64</c:v>
                </c:pt>
                <c:pt idx="4">
                  <c:v>9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A-C464-4E08-AB29-77531208BD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extLst>
          <c:ext xmlns:c15="http://schemas.microsoft.com/office/drawing/2012/chart" uri="{02D57815-91ED-43cb-92C2-25804820EDAC}">
            <c15:filteredPi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'Ümumi təhlil'!$BH$5:$BI$5</c15:sqref>
                        </c15:formulaRef>
                      </c:ext>
                    </c:extLst>
                    <c:strCache>
                      <c:ptCount val="2"/>
                      <c:pt idx="0">
                        <c:v>A</c:v>
                      </c:pt>
                      <c:pt idx="1">
                        <c:v>Q</c:v>
                      </c:pt>
                    </c:strCache>
                  </c:strRef>
                </c:tx>
                <c:dPt>
                  <c:idx val="0"/>
                  <c:bubble3D val="0"/>
                  <c:spPr>
                    <a:solidFill>
                      <a:schemeClr val="accent1"/>
                    </a:solidFill>
                    <a:ln>
                      <a:noFill/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0C-C464-4E08-AB29-77531208BD23}"/>
                    </c:ext>
                  </c:extLst>
                </c:dPt>
                <c:dPt>
                  <c:idx val="1"/>
                  <c:bubble3D val="0"/>
                  <c:spPr>
                    <a:solidFill>
                      <a:schemeClr val="accent2"/>
                    </a:solidFill>
                    <a:ln>
                      <a:noFill/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0E-C464-4E08-AB29-77531208BD23}"/>
                    </c:ext>
                  </c:extLst>
                </c:dPt>
                <c:dPt>
                  <c:idx val="2"/>
                  <c:bubble3D val="0"/>
                  <c:spPr>
                    <a:solidFill>
                      <a:schemeClr val="accent3"/>
                    </a:solidFill>
                    <a:ln>
                      <a:noFill/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10-C464-4E08-AB29-77531208BD23}"/>
                    </c:ext>
                  </c:extLst>
                </c:dPt>
                <c:dPt>
                  <c:idx val="3"/>
                  <c:bubble3D val="0"/>
                  <c:spPr>
                    <a:solidFill>
                      <a:schemeClr val="accent4"/>
                    </a:solidFill>
                    <a:ln>
                      <a:noFill/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12-C464-4E08-AB29-77531208BD23}"/>
                    </c:ext>
                  </c:extLst>
                </c:dPt>
                <c:dPt>
                  <c:idx val="4"/>
                  <c:bubble3D val="0"/>
                  <c:spPr>
                    <a:solidFill>
                      <a:schemeClr val="accent5"/>
                    </a:solidFill>
                    <a:ln>
                      <a:noFill/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14-C464-4E08-AB29-77531208BD23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 cap="flat" cmpd="sng" algn="ctr">
                        <a:solidFill>
                          <a:schemeClr val="tx1">
                            <a:lumMod val="35000"/>
                            <a:lumOff val="65000"/>
                          </a:schemeClr>
                        </a:solidFill>
                        <a:round/>
                      </a:ln>
                      <a:effectLst/>
                    </c:spPr>
                  </c:leaderLines>
                  <c:extLst>
                    <c:ext uri="{CE6537A1-D6FC-4f65-9D91-7224C49458BB}"/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'Ümumi təhlil'!$BJ$2:$EK$2</c15:sqref>
                        </c15:formulaRef>
                      </c:ext>
                    </c:extLst>
                    <c:strCache>
                      <c:ptCount val="5"/>
                      <c:pt idx="0">
                        <c:v>&lt;34</c:v>
                      </c:pt>
                      <c:pt idx="1">
                        <c:v>35-44</c:v>
                      </c:pt>
                      <c:pt idx="2">
                        <c:v>45-54</c:v>
                      </c:pt>
                      <c:pt idx="3">
                        <c:v>55-64</c:v>
                      </c:pt>
                      <c:pt idx="4">
                        <c:v>65&lt;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'Ümumi təhlil'!$BJ$5:$EK$5</c15:sqref>
                        </c15:formulaRef>
                      </c:ext>
                    </c:extLst>
                    <c:numCache>
                      <c:formatCode>General</c:formatCode>
                      <c:ptCount val="5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15-C464-4E08-AB29-77531208BD23}"/>
                  </c:ext>
                </c:extLst>
              </c15:ser>
            </c15:filteredPieSeries>
            <c15:filteredPi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təhlil'!$BH$6:$BI$6</c15:sqref>
                        </c15:formulaRef>
                      </c:ext>
                    </c:extLst>
                    <c:strCache>
                      <c:ptCount val="2"/>
                      <c:pt idx="0">
                        <c:v>A</c:v>
                      </c:pt>
                      <c:pt idx="1">
                        <c:v>K</c:v>
                      </c:pt>
                    </c:strCache>
                  </c:strRef>
                </c:tx>
                <c:dPt>
                  <c:idx val="0"/>
                  <c:bubble3D val="0"/>
                  <c:spPr>
                    <a:solidFill>
                      <a:schemeClr val="accent1"/>
                    </a:solidFill>
                    <a:ln>
                      <a:noFill/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17-C464-4E08-AB29-77531208BD23}"/>
                    </c:ext>
                  </c:extLst>
                </c:dPt>
                <c:dPt>
                  <c:idx val="1"/>
                  <c:bubble3D val="0"/>
                  <c:spPr>
                    <a:solidFill>
                      <a:schemeClr val="accent2"/>
                    </a:solidFill>
                    <a:ln>
                      <a:noFill/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19-C464-4E08-AB29-77531208BD23}"/>
                    </c:ext>
                  </c:extLst>
                </c:dPt>
                <c:dPt>
                  <c:idx val="2"/>
                  <c:bubble3D val="0"/>
                  <c:spPr>
                    <a:solidFill>
                      <a:schemeClr val="accent3"/>
                    </a:solidFill>
                    <a:ln>
                      <a:noFill/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1B-C464-4E08-AB29-77531208BD23}"/>
                    </c:ext>
                  </c:extLst>
                </c:dPt>
                <c:dPt>
                  <c:idx val="3"/>
                  <c:bubble3D val="0"/>
                  <c:spPr>
                    <a:solidFill>
                      <a:schemeClr val="accent4"/>
                    </a:solidFill>
                    <a:ln>
                      <a:noFill/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1D-C464-4E08-AB29-77531208BD23}"/>
                    </c:ext>
                  </c:extLst>
                </c:dPt>
                <c:dPt>
                  <c:idx val="4"/>
                  <c:bubble3D val="0"/>
                  <c:spPr>
                    <a:solidFill>
                      <a:schemeClr val="accent5"/>
                    </a:solidFill>
                    <a:ln>
                      <a:noFill/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1F-C464-4E08-AB29-77531208BD23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 cap="flat" cmpd="sng" algn="ctr">
                        <a:solidFill>
                          <a:schemeClr val="tx1">
                            <a:lumMod val="35000"/>
                            <a:lumOff val="65000"/>
                          </a:schemeClr>
                        </a:solidFill>
                        <a:round/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təhlil'!$BJ$2:$EK$2</c15:sqref>
                        </c15:formulaRef>
                      </c:ext>
                    </c:extLst>
                    <c:strCache>
                      <c:ptCount val="5"/>
                      <c:pt idx="0">
                        <c:v>&lt;34</c:v>
                      </c:pt>
                      <c:pt idx="1">
                        <c:v>35-44</c:v>
                      </c:pt>
                      <c:pt idx="2">
                        <c:v>45-54</c:v>
                      </c:pt>
                      <c:pt idx="3">
                        <c:v>55-64</c:v>
                      </c:pt>
                      <c:pt idx="4">
                        <c:v>65&lt;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təhlil'!$BJ$6:$EK$6</c15:sqref>
                        </c15:formulaRef>
                      </c:ext>
                    </c:extLst>
                    <c:numCache>
                      <c:formatCode>General</c:formatCode>
                      <c:ptCount val="5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0-C464-4E08-AB29-77531208BD23}"/>
                  </c:ext>
                </c:extLst>
              </c15:ser>
            </c15:filteredPieSeries>
            <c15:filteredPieSeries>
              <c15:ser>
                <c:idx val="2"/>
                <c:order val="2"/>
                <c:tx>
                  <c:v>Azərbaycan bölməsi</c:v>
                </c:tx>
                <c:spPr>
                  <a:gradFill flip="none" rotWithShape="1">
                    <a:gsLst>
                      <a:gs pos="0">
                        <a:srgbClr val="33CCCC">
                          <a:shade val="30000"/>
                          <a:satMod val="115000"/>
                        </a:srgbClr>
                      </a:gs>
                      <a:gs pos="50000">
                        <a:srgbClr val="33CCCC">
                          <a:shade val="67500"/>
                          <a:satMod val="115000"/>
                        </a:srgbClr>
                      </a:gs>
                      <a:gs pos="100000">
                        <a:srgbClr val="33CCCC">
                          <a:shade val="100000"/>
                          <a:satMod val="115000"/>
                        </a:srgbClr>
                      </a:gs>
                    </a:gsLst>
                    <a:lin ang="0" scaled="1"/>
                    <a:tileRect/>
                  </a:gradFill>
                  <a:scene3d>
                    <a:camera prst="orthographicFront"/>
                    <a:lightRig rig="threePt" dir="t"/>
                  </a:scene3d>
                  <a:sp3d>
                    <a:bevelT w="190500" h="38100"/>
                  </a:sp3d>
                </c:spPr>
                <c:dPt>
                  <c:idx val="0"/>
                  <c:bubble3D val="0"/>
                  <c:spPr>
                    <a:solidFill>
                      <a:schemeClr val="tx2">
                        <a:lumMod val="40000"/>
                        <a:lumOff val="60000"/>
                      </a:schemeClr>
                    </a:solidFill>
                    <a:ln>
                      <a:noFill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90500" h="38100"/>
                    </a:sp3d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22-C464-4E08-AB29-77531208BD23}"/>
                    </c:ext>
                  </c:extLst>
                </c:dPt>
                <c:dPt>
                  <c:idx val="1"/>
                  <c:bubble3D val="0"/>
                  <c:spPr>
                    <a:solidFill>
                      <a:schemeClr val="bg2">
                        <a:lumMod val="75000"/>
                      </a:schemeClr>
                    </a:solidFill>
                    <a:ln>
                      <a:noFill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90500" h="38100"/>
                    </a:sp3d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24-C464-4E08-AB29-77531208BD23}"/>
                    </c:ext>
                  </c:extLst>
                </c:dPt>
                <c:dPt>
                  <c:idx val="2"/>
                  <c:bubble3D val="0"/>
                  <c:spPr>
                    <a:solidFill>
                      <a:schemeClr val="accent5">
                        <a:lumMod val="60000"/>
                        <a:lumOff val="40000"/>
                      </a:schemeClr>
                    </a:solidFill>
                    <a:ln>
                      <a:noFill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90500" h="38100"/>
                    </a:sp3d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26-C464-4E08-AB29-77531208BD23}"/>
                    </c:ext>
                  </c:extLst>
                </c:dPt>
                <c:dPt>
                  <c:idx val="3"/>
                  <c:bubble3D val="0"/>
                  <c:spPr>
                    <a:solidFill>
                      <a:srgbClr val="33CCCC"/>
                    </a:solidFill>
                    <a:ln>
                      <a:noFill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90500" h="38100"/>
                    </a:sp3d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28-C464-4E08-AB29-77531208BD23}"/>
                    </c:ext>
                  </c:extLst>
                </c:dPt>
                <c:dPt>
                  <c:idx val="4"/>
                  <c:bubble3D val="0"/>
                  <c:spPr>
                    <a:solidFill>
                      <a:srgbClr val="FF7C80"/>
                    </a:solidFill>
                    <a:ln>
                      <a:noFill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90500" h="38100"/>
                    </a:sp3d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2A-C464-4E08-AB29-77531208BD23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8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0"/>
                  <c:showCatName val="0"/>
                  <c:showSerName val="0"/>
                  <c:showPercent val="1"/>
                  <c:showBubbleSize val="0"/>
                  <c:showLeaderLines val="1"/>
                  <c:leaderLines>
                    <c:spPr>
                      <a:ln w="9525" cap="flat" cmpd="sng" algn="ctr">
                        <a:solidFill>
                          <a:schemeClr val="tx1">
                            <a:lumMod val="35000"/>
                            <a:lumOff val="65000"/>
                          </a:schemeClr>
                        </a:solidFill>
                        <a:round/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təhlil'!$BJ$2:$EK$2</c15:sqref>
                        </c15:formulaRef>
                      </c:ext>
                    </c:extLst>
                    <c:strCache>
                      <c:ptCount val="5"/>
                      <c:pt idx="0">
                        <c:v>&lt;34</c:v>
                      </c:pt>
                      <c:pt idx="1">
                        <c:v>35-44</c:v>
                      </c:pt>
                      <c:pt idx="2">
                        <c:v>45-54</c:v>
                      </c:pt>
                      <c:pt idx="3">
                        <c:v>55-64</c:v>
                      </c:pt>
                      <c:pt idx="4">
                        <c:v>65&lt;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təhlil'!$BJ$7:$EK$7</c15:sqref>
                        </c15:formulaRef>
                      </c:ext>
                    </c:extLst>
                    <c:numCache>
                      <c:formatCode>General</c:formatCode>
                      <c:ptCount val="5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B-C464-4E08-AB29-77531208BD23}"/>
                  </c:ext>
                </c:extLst>
              </c15:ser>
            </c15:filteredPieSeries>
            <c15:filteredPi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təhlil'!$BH$8:$BI$8</c15:sqref>
                        </c15:formulaRef>
                      </c:ext>
                    </c:extLst>
                    <c:strCache>
                      <c:ptCount val="2"/>
                      <c:pt idx="0">
                        <c:v>R</c:v>
                      </c:pt>
                      <c:pt idx="1">
                        <c:v>Q</c:v>
                      </c:pt>
                    </c:strCache>
                  </c:strRef>
                </c:tx>
                <c:dPt>
                  <c:idx val="0"/>
                  <c:bubble3D val="0"/>
                  <c:spPr>
                    <a:solidFill>
                      <a:schemeClr val="accent1"/>
                    </a:solidFill>
                    <a:ln>
                      <a:noFill/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2D-C464-4E08-AB29-77531208BD23}"/>
                    </c:ext>
                  </c:extLst>
                </c:dPt>
                <c:dPt>
                  <c:idx val="1"/>
                  <c:bubble3D val="0"/>
                  <c:spPr>
                    <a:solidFill>
                      <a:schemeClr val="accent2"/>
                    </a:solidFill>
                    <a:ln>
                      <a:noFill/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2F-C464-4E08-AB29-77531208BD23}"/>
                    </c:ext>
                  </c:extLst>
                </c:dPt>
                <c:dPt>
                  <c:idx val="2"/>
                  <c:bubble3D val="0"/>
                  <c:spPr>
                    <a:solidFill>
                      <a:schemeClr val="accent3"/>
                    </a:solidFill>
                    <a:ln>
                      <a:noFill/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31-C464-4E08-AB29-77531208BD23}"/>
                    </c:ext>
                  </c:extLst>
                </c:dPt>
                <c:dPt>
                  <c:idx val="3"/>
                  <c:bubble3D val="0"/>
                  <c:spPr>
                    <a:solidFill>
                      <a:schemeClr val="accent4"/>
                    </a:solidFill>
                    <a:ln>
                      <a:noFill/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33-C464-4E08-AB29-77531208BD23}"/>
                    </c:ext>
                  </c:extLst>
                </c:dPt>
                <c:dPt>
                  <c:idx val="4"/>
                  <c:bubble3D val="0"/>
                  <c:spPr>
                    <a:solidFill>
                      <a:schemeClr val="accent5"/>
                    </a:solidFill>
                    <a:ln>
                      <a:noFill/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35-C464-4E08-AB29-77531208BD23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 cap="flat" cmpd="sng" algn="ctr">
                        <a:solidFill>
                          <a:schemeClr val="tx1">
                            <a:lumMod val="35000"/>
                            <a:lumOff val="65000"/>
                          </a:schemeClr>
                        </a:solidFill>
                        <a:round/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təhlil'!$BJ$2:$EK$2</c15:sqref>
                        </c15:formulaRef>
                      </c:ext>
                    </c:extLst>
                    <c:strCache>
                      <c:ptCount val="5"/>
                      <c:pt idx="0">
                        <c:v>&lt;34</c:v>
                      </c:pt>
                      <c:pt idx="1">
                        <c:v>35-44</c:v>
                      </c:pt>
                      <c:pt idx="2">
                        <c:v>45-54</c:v>
                      </c:pt>
                      <c:pt idx="3">
                        <c:v>55-64</c:v>
                      </c:pt>
                      <c:pt idx="4">
                        <c:v>65&lt;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təhlil'!$BJ$8:$EK$8</c15:sqref>
                        </c15:formulaRef>
                      </c:ext>
                    </c:extLst>
                    <c:numCache>
                      <c:formatCode>General</c:formatCode>
                      <c:ptCount val="5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36-C464-4E08-AB29-77531208BD23}"/>
                  </c:ext>
                </c:extLst>
              </c15:ser>
            </c15:filteredPieSeries>
            <c15:filteredPie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təhlil'!$BH$9:$BI$9</c15:sqref>
                        </c15:formulaRef>
                      </c:ext>
                    </c:extLst>
                    <c:strCache>
                      <c:ptCount val="2"/>
                      <c:pt idx="0">
                        <c:v>R</c:v>
                      </c:pt>
                      <c:pt idx="1">
                        <c:v>K</c:v>
                      </c:pt>
                    </c:strCache>
                  </c:strRef>
                </c:tx>
                <c:dPt>
                  <c:idx val="0"/>
                  <c:bubble3D val="0"/>
                  <c:spPr>
                    <a:solidFill>
                      <a:schemeClr val="accent1"/>
                    </a:solidFill>
                    <a:ln>
                      <a:noFill/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38-C464-4E08-AB29-77531208BD23}"/>
                    </c:ext>
                  </c:extLst>
                </c:dPt>
                <c:dPt>
                  <c:idx val="1"/>
                  <c:bubble3D val="0"/>
                  <c:spPr>
                    <a:solidFill>
                      <a:schemeClr val="accent2"/>
                    </a:solidFill>
                    <a:ln>
                      <a:noFill/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3A-C464-4E08-AB29-77531208BD23}"/>
                    </c:ext>
                  </c:extLst>
                </c:dPt>
                <c:dPt>
                  <c:idx val="2"/>
                  <c:bubble3D val="0"/>
                  <c:spPr>
                    <a:solidFill>
                      <a:schemeClr val="accent3"/>
                    </a:solidFill>
                    <a:ln>
                      <a:noFill/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3C-C464-4E08-AB29-77531208BD23}"/>
                    </c:ext>
                  </c:extLst>
                </c:dPt>
                <c:dPt>
                  <c:idx val="3"/>
                  <c:bubble3D val="0"/>
                  <c:spPr>
                    <a:solidFill>
                      <a:schemeClr val="accent4"/>
                    </a:solidFill>
                    <a:ln>
                      <a:noFill/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3E-C464-4E08-AB29-77531208BD23}"/>
                    </c:ext>
                  </c:extLst>
                </c:dPt>
                <c:dPt>
                  <c:idx val="4"/>
                  <c:bubble3D val="0"/>
                  <c:spPr>
                    <a:solidFill>
                      <a:schemeClr val="accent5"/>
                    </a:solidFill>
                    <a:ln>
                      <a:noFill/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40-C464-4E08-AB29-77531208BD23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 cap="flat" cmpd="sng" algn="ctr">
                        <a:solidFill>
                          <a:schemeClr val="tx1">
                            <a:lumMod val="35000"/>
                            <a:lumOff val="65000"/>
                          </a:schemeClr>
                        </a:solidFill>
                        <a:round/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təhlil'!$BJ$2:$EK$2</c15:sqref>
                        </c15:formulaRef>
                      </c:ext>
                    </c:extLst>
                    <c:strCache>
                      <c:ptCount val="5"/>
                      <c:pt idx="0">
                        <c:v>&lt;34</c:v>
                      </c:pt>
                      <c:pt idx="1">
                        <c:v>35-44</c:v>
                      </c:pt>
                      <c:pt idx="2">
                        <c:v>45-54</c:v>
                      </c:pt>
                      <c:pt idx="3">
                        <c:v>55-64</c:v>
                      </c:pt>
                      <c:pt idx="4">
                        <c:v>65&lt;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təhlil'!$BJ$9:$EK$9</c15:sqref>
                        </c15:formulaRef>
                      </c:ext>
                    </c:extLst>
                    <c:numCache>
                      <c:formatCode>General</c:formatCode>
                      <c:ptCount val="5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41-C464-4E08-AB29-77531208BD23}"/>
                  </c:ext>
                </c:extLst>
              </c15:ser>
            </c15:filteredPieSeries>
            <c15:filteredPieSeries>
              <c15:ser>
                <c:idx val="5"/>
                <c:order val="5"/>
                <c:tx>
                  <c:v>Rus bölməsi</c:v>
                </c:tx>
                <c:spPr>
                  <a:gradFill flip="none" rotWithShape="1">
                    <a:gsLst>
                      <a:gs pos="0">
                        <a:schemeClr val="bg1">
                          <a:lumMod val="85000"/>
                          <a:shade val="30000"/>
                          <a:satMod val="115000"/>
                        </a:schemeClr>
                      </a:gs>
                      <a:gs pos="50000">
                        <a:schemeClr val="bg1">
                          <a:lumMod val="85000"/>
                          <a:shade val="67500"/>
                          <a:satMod val="115000"/>
                        </a:schemeClr>
                      </a:gs>
                      <a:gs pos="100000">
                        <a:schemeClr val="bg1">
                          <a:lumMod val="85000"/>
                          <a:shade val="100000"/>
                          <a:satMod val="115000"/>
                        </a:schemeClr>
                      </a:gs>
                    </a:gsLst>
                    <a:lin ang="0" scaled="1"/>
                    <a:tileRect/>
                  </a:gradFill>
                  <a:scene3d>
                    <a:camera prst="orthographicFront"/>
                    <a:lightRig rig="threePt" dir="t"/>
                  </a:scene3d>
                  <a:sp3d>
                    <a:bevelT w="190500" h="38100"/>
                  </a:sp3d>
                </c:spPr>
                <c:dPt>
                  <c:idx val="0"/>
                  <c:bubble3D val="0"/>
                  <c:spPr>
                    <a:solidFill>
                      <a:schemeClr val="tx2">
                        <a:lumMod val="40000"/>
                        <a:lumOff val="60000"/>
                      </a:schemeClr>
                    </a:solidFill>
                    <a:ln>
                      <a:noFill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90500" h="38100"/>
                    </a:sp3d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43-C464-4E08-AB29-77531208BD23}"/>
                    </c:ext>
                  </c:extLst>
                </c:dPt>
                <c:dPt>
                  <c:idx val="1"/>
                  <c:bubble3D val="0"/>
                  <c:spPr>
                    <a:solidFill>
                      <a:schemeClr val="bg2">
                        <a:lumMod val="75000"/>
                      </a:schemeClr>
                    </a:solidFill>
                    <a:ln>
                      <a:noFill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90500" h="38100"/>
                    </a:sp3d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45-C464-4E08-AB29-77531208BD23}"/>
                    </c:ext>
                  </c:extLst>
                </c:dPt>
                <c:dPt>
                  <c:idx val="2"/>
                  <c:bubble3D val="0"/>
                  <c:spPr>
                    <a:solidFill>
                      <a:schemeClr val="accent5">
                        <a:lumMod val="60000"/>
                        <a:lumOff val="40000"/>
                      </a:schemeClr>
                    </a:solidFill>
                    <a:ln>
                      <a:noFill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90500" h="38100"/>
                    </a:sp3d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47-C464-4E08-AB29-77531208BD23}"/>
                    </c:ext>
                  </c:extLst>
                </c:dPt>
                <c:dPt>
                  <c:idx val="3"/>
                  <c:bubble3D val="0"/>
                  <c:spPr>
                    <a:solidFill>
                      <a:srgbClr val="33CCCC"/>
                    </a:solidFill>
                    <a:ln>
                      <a:noFill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90500" h="38100"/>
                    </a:sp3d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49-C464-4E08-AB29-77531208BD23}"/>
                    </c:ext>
                  </c:extLst>
                </c:dPt>
                <c:dPt>
                  <c:idx val="4"/>
                  <c:bubble3D val="0"/>
                  <c:spPr>
                    <a:solidFill>
                      <a:srgbClr val="FF7C80"/>
                    </a:solidFill>
                    <a:ln>
                      <a:noFill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90500" h="38100"/>
                    </a:sp3d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4B-C464-4E08-AB29-77531208BD23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8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0"/>
                  <c:showCatName val="0"/>
                  <c:showSerName val="0"/>
                  <c:showPercent val="1"/>
                  <c:showBubbleSize val="0"/>
                  <c:showLeaderLines val="1"/>
                  <c:leaderLines>
                    <c:spPr>
                      <a:ln w="9525" cap="flat" cmpd="sng" algn="ctr">
                        <a:solidFill>
                          <a:schemeClr val="tx1">
                            <a:lumMod val="35000"/>
                            <a:lumOff val="65000"/>
                          </a:schemeClr>
                        </a:solidFill>
                        <a:round/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təhlil'!$BJ$2:$EK$2</c15:sqref>
                        </c15:formulaRef>
                      </c:ext>
                    </c:extLst>
                    <c:strCache>
                      <c:ptCount val="5"/>
                      <c:pt idx="0">
                        <c:v>&lt;34</c:v>
                      </c:pt>
                      <c:pt idx="1">
                        <c:v>35-44</c:v>
                      </c:pt>
                      <c:pt idx="2">
                        <c:v>45-54</c:v>
                      </c:pt>
                      <c:pt idx="3">
                        <c:v>55-64</c:v>
                      </c:pt>
                      <c:pt idx="4">
                        <c:v>65&lt;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təhlil'!$BJ$10:$EK$10</c15:sqref>
                        </c15:formulaRef>
                      </c:ext>
                    </c:extLst>
                    <c:numCache>
                      <c:formatCode>General</c:formatCode>
                      <c:ptCount val="5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4C-C464-4E08-AB29-77531208BD23}"/>
                  </c:ext>
                </c:extLst>
              </c15:ser>
            </c15:filteredPieSeries>
            <c15:filteredPie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təhlil'!$BH$11:$BI$11</c15:sqref>
                        </c15:formulaRef>
                      </c:ext>
                    </c:extLst>
                    <c:strCache>
                      <c:ptCount val="2"/>
                      <c:pt idx="0">
                        <c:v>Ü</c:v>
                      </c:pt>
                      <c:pt idx="1">
                        <c:v>Q</c:v>
                      </c:pt>
                    </c:strCache>
                  </c:strRef>
                </c:tx>
                <c:dPt>
                  <c:idx val="0"/>
                  <c:bubble3D val="0"/>
                  <c:spPr>
                    <a:solidFill>
                      <a:schemeClr val="accent1"/>
                    </a:solidFill>
                    <a:ln>
                      <a:noFill/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4E-C464-4E08-AB29-77531208BD23}"/>
                    </c:ext>
                  </c:extLst>
                </c:dPt>
                <c:dPt>
                  <c:idx val="1"/>
                  <c:bubble3D val="0"/>
                  <c:spPr>
                    <a:solidFill>
                      <a:schemeClr val="accent2"/>
                    </a:solidFill>
                    <a:ln>
                      <a:noFill/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50-C464-4E08-AB29-77531208BD23}"/>
                    </c:ext>
                  </c:extLst>
                </c:dPt>
                <c:dPt>
                  <c:idx val="2"/>
                  <c:bubble3D val="0"/>
                  <c:spPr>
                    <a:solidFill>
                      <a:schemeClr val="accent3"/>
                    </a:solidFill>
                    <a:ln>
                      <a:noFill/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52-C464-4E08-AB29-77531208BD23}"/>
                    </c:ext>
                  </c:extLst>
                </c:dPt>
                <c:dPt>
                  <c:idx val="3"/>
                  <c:bubble3D val="0"/>
                  <c:spPr>
                    <a:solidFill>
                      <a:schemeClr val="accent4"/>
                    </a:solidFill>
                    <a:ln>
                      <a:noFill/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54-C464-4E08-AB29-77531208BD23}"/>
                    </c:ext>
                  </c:extLst>
                </c:dPt>
                <c:dPt>
                  <c:idx val="4"/>
                  <c:bubble3D val="0"/>
                  <c:spPr>
                    <a:solidFill>
                      <a:schemeClr val="accent5"/>
                    </a:solidFill>
                    <a:ln>
                      <a:noFill/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56-C464-4E08-AB29-77531208BD23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 cap="flat" cmpd="sng" algn="ctr">
                        <a:solidFill>
                          <a:schemeClr val="tx1">
                            <a:lumMod val="35000"/>
                            <a:lumOff val="65000"/>
                          </a:schemeClr>
                        </a:solidFill>
                        <a:round/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təhlil'!$BJ$2:$EK$2</c15:sqref>
                        </c15:formulaRef>
                      </c:ext>
                    </c:extLst>
                    <c:strCache>
                      <c:ptCount val="5"/>
                      <c:pt idx="0">
                        <c:v>&lt;34</c:v>
                      </c:pt>
                      <c:pt idx="1">
                        <c:v>35-44</c:v>
                      </c:pt>
                      <c:pt idx="2">
                        <c:v>45-54</c:v>
                      </c:pt>
                      <c:pt idx="3">
                        <c:v>55-64</c:v>
                      </c:pt>
                      <c:pt idx="4">
                        <c:v>65&lt;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təhlil'!$BJ$11:$EK$11</c15:sqref>
                        </c15:formulaRef>
                      </c:ext>
                    </c:extLst>
                    <c:numCache>
                      <c:formatCode>General</c:formatCode>
                      <c:ptCount val="5"/>
                      <c:pt idx="0">
                        <c:v>5</c:v>
                      </c:pt>
                      <c:pt idx="1">
                        <c:v>14</c:v>
                      </c:pt>
                      <c:pt idx="2">
                        <c:v>34</c:v>
                      </c:pt>
                      <c:pt idx="3">
                        <c:v>61</c:v>
                      </c:pt>
                      <c:pt idx="4">
                        <c:v>7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57-C464-4E08-AB29-77531208BD23}"/>
                  </c:ext>
                </c:extLst>
              </c15:ser>
            </c15:filteredPieSeries>
            <c15:filteredPie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təhlil'!$BH$12:$BI$12</c15:sqref>
                        </c15:formulaRef>
                      </c:ext>
                    </c:extLst>
                    <c:strCache>
                      <c:ptCount val="2"/>
                      <c:pt idx="0">
                        <c:v>Ü</c:v>
                      </c:pt>
                      <c:pt idx="1">
                        <c:v>K</c:v>
                      </c:pt>
                    </c:strCache>
                  </c:strRef>
                </c:tx>
                <c:dPt>
                  <c:idx val="0"/>
                  <c:bubble3D val="0"/>
                  <c:spPr>
                    <a:solidFill>
                      <a:schemeClr val="accent1"/>
                    </a:solidFill>
                    <a:ln>
                      <a:noFill/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59-C464-4E08-AB29-77531208BD23}"/>
                    </c:ext>
                  </c:extLst>
                </c:dPt>
                <c:dPt>
                  <c:idx val="1"/>
                  <c:bubble3D val="0"/>
                  <c:spPr>
                    <a:solidFill>
                      <a:schemeClr val="accent2"/>
                    </a:solidFill>
                    <a:ln>
                      <a:noFill/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5B-C464-4E08-AB29-77531208BD23}"/>
                    </c:ext>
                  </c:extLst>
                </c:dPt>
                <c:dPt>
                  <c:idx val="2"/>
                  <c:bubble3D val="0"/>
                  <c:spPr>
                    <a:solidFill>
                      <a:schemeClr val="accent3"/>
                    </a:solidFill>
                    <a:ln>
                      <a:noFill/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5D-C464-4E08-AB29-77531208BD23}"/>
                    </c:ext>
                  </c:extLst>
                </c:dPt>
                <c:dPt>
                  <c:idx val="3"/>
                  <c:bubble3D val="0"/>
                  <c:spPr>
                    <a:solidFill>
                      <a:schemeClr val="accent4"/>
                    </a:solidFill>
                    <a:ln>
                      <a:noFill/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5F-C464-4E08-AB29-77531208BD23}"/>
                    </c:ext>
                  </c:extLst>
                </c:dPt>
                <c:dPt>
                  <c:idx val="4"/>
                  <c:bubble3D val="0"/>
                  <c:spPr>
                    <a:solidFill>
                      <a:schemeClr val="accent5"/>
                    </a:solidFill>
                    <a:ln>
                      <a:noFill/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61-C464-4E08-AB29-77531208BD23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 cap="flat" cmpd="sng" algn="ctr">
                        <a:solidFill>
                          <a:schemeClr val="tx1">
                            <a:lumMod val="35000"/>
                            <a:lumOff val="65000"/>
                          </a:schemeClr>
                        </a:solidFill>
                        <a:round/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təhlil'!$BJ$2:$EK$2</c15:sqref>
                        </c15:formulaRef>
                      </c:ext>
                    </c:extLst>
                    <c:strCache>
                      <c:ptCount val="5"/>
                      <c:pt idx="0">
                        <c:v>&lt;34</c:v>
                      </c:pt>
                      <c:pt idx="1">
                        <c:v>35-44</c:v>
                      </c:pt>
                      <c:pt idx="2">
                        <c:v>45-54</c:v>
                      </c:pt>
                      <c:pt idx="3">
                        <c:v>55-64</c:v>
                      </c:pt>
                      <c:pt idx="4">
                        <c:v>65&lt;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'Ümumi təhlil'!$BJ$12:$EK$12</c15:sqref>
                        </c15:formulaRef>
                      </c:ext>
                    </c:extLst>
                    <c:numCache>
                      <c:formatCode>General</c:formatCode>
                      <c:ptCount val="5"/>
                      <c:pt idx="0">
                        <c:v>1</c:v>
                      </c:pt>
                      <c:pt idx="1">
                        <c:v>1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62-C464-4E08-AB29-77531208BD23}"/>
                  </c:ext>
                </c:extLst>
              </c15:ser>
            </c15:filteredPieSeries>
          </c:ext>
        </c:extLst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E1E2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>
          <a:latin typeface="Palatino Linotype" panose="02040502050505030304" pitchFamily="18" charset="0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Palatino Linotype" panose="02040502050505030304" pitchFamily="18" charset="0"/>
                <a:ea typeface="+mn-ea"/>
                <a:cs typeface="+mn-cs"/>
              </a:defRPr>
            </a:pPr>
            <a:r>
              <a:rPr lang="az-Latn-AZ" sz="1600" b="1"/>
              <a:t>Reytinq</a:t>
            </a:r>
            <a:r>
              <a:rPr lang="az-Latn-AZ" sz="1600" b="1" baseline="0"/>
              <a:t> göstəriciləri</a:t>
            </a:r>
            <a:endParaRPr lang="en-US" sz="1600" b="1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>
                  <a:lumMod val="95000"/>
                  <a:lumOff val="5000"/>
                </a:schemeClr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Təhsil müəssisəsinin yeri</c:v>
          </c:tx>
          <c:spPr>
            <a:gradFill flip="none" rotWithShape="1">
              <a:gsLst>
                <a:gs pos="0">
                  <a:schemeClr val="bg2">
                    <a:lumMod val="50000"/>
                    <a:shade val="30000"/>
                    <a:satMod val="115000"/>
                  </a:schemeClr>
                </a:gs>
                <a:gs pos="50000">
                  <a:schemeClr val="bg2">
                    <a:lumMod val="50000"/>
                    <a:shade val="67500"/>
                    <a:satMod val="115000"/>
                  </a:schemeClr>
                </a:gs>
                <a:gs pos="100000">
                  <a:schemeClr val="bg2">
                    <a:lumMod val="50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90500" h="381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'IV monitorinq nəticələri-2022'!$T$2:$Y$3</c:f>
              <c:multiLvlStrCache>
                <c:ptCount val="6"/>
                <c:lvl>
                  <c:pt idx="0">
                    <c:v>Azərbaycan bölməsi</c:v>
                  </c:pt>
                  <c:pt idx="1">
                    <c:v>Rus bölməsi</c:v>
                  </c:pt>
                  <c:pt idx="2">
                    <c:v>Ümumi</c:v>
                  </c:pt>
                  <c:pt idx="3">
                    <c:v>Azərbaycan bölməsi</c:v>
                  </c:pt>
                  <c:pt idx="4">
                    <c:v>Rus bölməsi</c:v>
                  </c:pt>
                  <c:pt idx="5">
                    <c:v>Ümumi</c:v>
                  </c:pt>
                </c:lvl>
                <c:lvl>
                  <c:pt idx="0">
                    <c:v>BŞTİ üzrə reytinq</c:v>
                  </c:pt>
                  <c:pt idx="3">
                    <c:v>Rayon üzrə reytinq</c:v>
                  </c:pt>
                </c:lvl>
              </c:multiLvlStrCache>
            </c:multiLvlStrRef>
          </c:cat>
          <c:val>
            <c:numRef>
              <c:f>'IV monitorinq nəticələri-2022'!$T$4:$Y$4</c:f>
              <c:numCache>
                <c:formatCode>General</c:formatCode>
                <c:ptCount val="6"/>
                <c:pt idx="0">
                  <c:v>208</c:v>
                </c:pt>
                <c:pt idx="1">
                  <c:v>0</c:v>
                </c:pt>
                <c:pt idx="2">
                  <c:v>207</c:v>
                </c:pt>
                <c:pt idx="3">
                  <c:v>27</c:v>
                </c:pt>
                <c:pt idx="4">
                  <c:v>0</c:v>
                </c:pt>
                <c:pt idx="5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97-4B25-89A2-08C7F62CA3D3}"/>
            </c:ext>
          </c:extLst>
        </c:ser>
        <c:ser>
          <c:idx val="3"/>
          <c:order val="3"/>
          <c:tx>
            <c:v>Ümumi yerlərin sayı</c:v>
          </c:tx>
          <c:spPr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90500" h="381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'IV monitorinq nəticələri-2022'!$T$2:$Y$3</c:f>
              <c:multiLvlStrCache>
                <c:ptCount val="6"/>
                <c:lvl>
                  <c:pt idx="0">
                    <c:v>Azərbaycan bölməsi</c:v>
                  </c:pt>
                  <c:pt idx="1">
                    <c:v>Rus bölməsi</c:v>
                  </c:pt>
                  <c:pt idx="2">
                    <c:v>Ümumi</c:v>
                  </c:pt>
                  <c:pt idx="3">
                    <c:v>Azərbaycan bölməsi</c:v>
                  </c:pt>
                  <c:pt idx="4">
                    <c:v>Rus bölməsi</c:v>
                  </c:pt>
                  <c:pt idx="5">
                    <c:v>Ümumi</c:v>
                  </c:pt>
                </c:lvl>
                <c:lvl>
                  <c:pt idx="0">
                    <c:v>BŞTİ üzrə reytinq</c:v>
                  </c:pt>
                  <c:pt idx="3">
                    <c:v>Rayon üzrə reytinq</c:v>
                  </c:pt>
                </c:lvl>
              </c:multiLvlStrCache>
            </c:multiLvlStrRef>
          </c:cat>
          <c:val>
            <c:numRef>
              <c:f>'IV monitorinq nəticələri-2022'!$T$7:$Y$7</c:f>
              <c:numCache>
                <c:formatCode>General</c:formatCode>
                <c:ptCount val="6"/>
                <c:pt idx="0">
                  <c:v>313</c:v>
                </c:pt>
                <c:pt idx="1">
                  <c:v>124</c:v>
                </c:pt>
                <c:pt idx="2">
                  <c:v>313</c:v>
                </c:pt>
                <c:pt idx="3">
                  <c:v>34</c:v>
                </c:pt>
                <c:pt idx="4">
                  <c:v>18</c:v>
                </c:pt>
                <c:pt idx="5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A97-4B25-89A2-08C7F62CA3D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2"/>
        <c:axId val="647854416"/>
        <c:axId val="647863568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>
                      <c:ext uri="{02D57815-91ED-43cb-92C2-25804820EDAC}">
                        <c15:formulaRef>
                          <c15:sqref>'IV monitorinq nəticələri-2022'!$T$2:$Y$3</c15:sqref>
                        </c15:formulaRef>
                      </c:ext>
                    </c:extLst>
                    <c:multiLvlStrCache>
                      <c:ptCount val="6"/>
                      <c:lvl>
                        <c:pt idx="0">
                          <c:v>Azərbaycan bölməsi</c:v>
                        </c:pt>
                        <c:pt idx="1">
                          <c:v>Rus bölməsi</c:v>
                        </c:pt>
                        <c:pt idx="2">
                          <c:v>Ümumi</c:v>
                        </c:pt>
                        <c:pt idx="3">
                          <c:v>Azərbaycan bölməsi</c:v>
                        </c:pt>
                        <c:pt idx="4">
                          <c:v>Rus bölməsi</c:v>
                        </c:pt>
                        <c:pt idx="5">
                          <c:v>Ümumi</c:v>
                        </c:pt>
                      </c:lvl>
                      <c:lvl>
                        <c:pt idx="0">
                          <c:v>BŞTİ üzrə reytinq</c:v>
                        </c:pt>
                        <c:pt idx="3">
                          <c:v>Rayon üzrə reytinq</c:v>
                        </c:pt>
                      </c:lvl>
                    </c:multiLvlStrCache>
                  </c:multiLvlStrRef>
                </c:cat>
                <c:val>
                  <c:numRef>
                    <c:extLst>
                      <c:ext uri="{02D57815-91ED-43cb-92C2-25804820EDAC}">
                        <c15:formulaRef>
                          <c15:sqref>'IV monitorinq nəticələri-2022'!$T$5:$Y$5</c15:sqref>
                        </c15:formulaRef>
                      </c:ext>
                    </c:extLst>
                    <c:numCache>
                      <c:formatCode>General</c:formatCode>
                      <c:ptCount val="6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4A97-4B25-89A2-08C7F62CA3D3}"/>
                  </c:ext>
                </c:extLst>
              </c15:ser>
            </c15:filteredBarSeries>
            <c15:filteredBarSeries>
              <c15:ser>
                <c:idx val="2"/>
                <c:order val="2"/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'IV monitorinq nəticələri-2022'!$T$2:$Y$3</c15:sqref>
                        </c15:formulaRef>
                      </c:ext>
                    </c:extLst>
                    <c:multiLvlStrCache>
                      <c:ptCount val="6"/>
                      <c:lvl>
                        <c:pt idx="0">
                          <c:v>Azərbaycan bölməsi</c:v>
                        </c:pt>
                        <c:pt idx="1">
                          <c:v>Rus bölməsi</c:v>
                        </c:pt>
                        <c:pt idx="2">
                          <c:v>Ümumi</c:v>
                        </c:pt>
                        <c:pt idx="3">
                          <c:v>Azərbaycan bölməsi</c:v>
                        </c:pt>
                        <c:pt idx="4">
                          <c:v>Rus bölməsi</c:v>
                        </c:pt>
                        <c:pt idx="5">
                          <c:v>Ümumi</c:v>
                        </c:pt>
                      </c:lvl>
                      <c:lvl>
                        <c:pt idx="0">
                          <c:v>BŞTİ üzrə reytinq</c:v>
                        </c:pt>
                        <c:pt idx="3">
                          <c:v>Rayon üzrə reytinq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'IV monitorinq nəticələri-2022'!$T$6:$Y$6</c15:sqref>
                        </c15:formulaRef>
                      </c:ext>
                    </c:extLst>
                    <c:numCache>
                      <c:formatCode>General</c:formatCode>
                      <c:ptCount val="6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4A97-4B25-89A2-08C7F62CA3D3}"/>
                  </c:ext>
                </c:extLst>
              </c15:ser>
            </c15:filteredBarSeries>
          </c:ext>
        </c:extLst>
      </c:barChart>
      <c:catAx>
        <c:axId val="647854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Palatino Linotype" panose="02040502050505030304" pitchFamily="18" charset="0"/>
                <a:ea typeface="+mn-ea"/>
                <a:cs typeface="+mn-cs"/>
              </a:defRPr>
            </a:pPr>
            <a:endParaRPr lang="en-US"/>
          </a:p>
        </c:txPr>
        <c:crossAx val="647863568"/>
        <c:crosses val="autoZero"/>
        <c:auto val="1"/>
        <c:lblAlgn val="ctr"/>
        <c:lblOffset val="100"/>
        <c:noMultiLvlLbl val="0"/>
      </c:catAx>
      <c:valAx>
        <c:axId val="6478635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6478544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95000"/>
                  <a:lumOff val="5000"/>
                </a:schemeClr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2">
        <a:lumMod val="90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>
          <a:solidFill>
            <a:schemeClr val="tx1">
              <a:lumMod val="95000"/>
              <a:lumOff val="5000"/>
            </a:schemeClr>
          </a:solidFill>
          <a:latin typeface="Palatino Linotype" panose="02040502050505030304" pitchFamily="18" charset="0"/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pPr>
            <a:r>
              <a:rPr lang="az-Latn-AZ" sz="1800" b="1" baseline="0"/>
              <a:t>Riyaziyyat</a:t>
            </a:r>
          </a:p>
          <a:p>
            <a:pPr>
              <a:defRPr/>
            </a:pPr>
            <a:r>
              <a:rPr lang="az-Latn-AZ" sz="1400" i="1" baseline="0"/>
              <a:t>(Azərbaycan bölməsi)</a:t>
            </a:r>
            <a:endParaRPr lang="en-US" sz="1400" i="1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1-1302-4479-B6C5-6A66157B354D}"/>
              </c:ext>
            </c:extLst>
          </c:dPt>
          <c:dPt>
            <c:idx val="1"/>
            <c:bubble3D val="0"/>
            <c:spPr>
              <a:solidFill>
                <a:srgbClr val="66FF66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3-1302-4479-B6C5-6A66157B354D}"/>
              </c:ext>
            </c:extLst>
          </c:dPt>
          <c:dPt>
            <c:idx val="2"/>
            <c:bubble3D val="0"/>
            <c:spPr>
              <a:solidFill>
                <a:srgbClr val="33CCCC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5-1302-4479-B6C5-6A66157B354D}"/>
              </c:ext>
            </c:extLst>
          </c:dPt>
          <c:dPt>
            <c:idx val="3"/>
            <c:bubble3D val="0"/>
            <c:spPr>
              <a:solidFill>
                <a:srgbClr val="813DB9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7-1302-4479-B6C5-6A66157B354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'IV monitorinq nəticələri-2022'!$N$3:$Q$3</c:f>
              <c:strCache>
                <c:ptCount val="4"/>
                <c:pt idx="0">
                  <c:v>[0-30]</c:v>
                </c:pt>
                <c:pt idx="1">
                  <c:v>(30-60]</c:v>
                </c:pt>
                <c:pt idx="2">
                  <c:v>(60-80]</c:v>
                </c:pt>
                <c:pt idx="3">
                  <c:v>(80-100]</c:v>
                </c:pt>
              </c:strCache>
            </c:strRef>
          </c:cat>
          <c:val>
            <c:numRef>
              <c:f>'IV monitorinq nəticələri-2022'!$N$4:$Q$4</c:f>
              <c:numCache>
                <c:formatCode>General</c:formatCode>
                <c:ptCount val="4"/>
                <c:pt idx="0">
                  <c:v>31</c:v>
                </c:pt>
                <c:pt idx="1">
                  <c:v>69</c:v>
                </c:pt>
                <c:pt idx="2">
                  <c:v>37</c:v>
                </c:pt>
                <c:pt idx="3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302-4479-B6C5-6A66157B35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2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>
          <a:solidFill>
            <a:schemeClr val="tx1"/>
          </a:solidFill>
          <a:latin typeface="Palatino Linotype" panose="02040502050505030304" pitchFamily="18" charset="0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pPr>
            <a:r>
              <a:rPr lang="az-Latn-AZ" sz="1800" b="1"/>
              <a:t>Tə</a:t>
            </a:r>
            <a:r>
              <a:rPr lang="en-US" sz="1800" b="1"/>
              <a:t>dris</a:t>
            </a:r>
            <a:r>
              <a:rPr lang="en-US" sz="1800" b="1" baseline="0"/>
              <a:t> dili</a:t>
            </a:r>
            <a:endParaRPr lang="az-Latn-AZ" sz="1800" b="1" baseline="0"/>
          </a:p>
          <a:p>
            <a:pPr>
              <a:defRPr/>
            </a:pPr>
            <a:r>
              <a:rPr lang="az-Latn-AZ" sz="1400" i="1" baseline="0"/>
              <a:t>(Azərbaycan bölməsi)</a:t>
            </a:r>
            <a:endParaRPr lang="en-US" sz="1400" i="1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1-BF5B-42C2-8EA6-EA84CD9C97EC}"/>
              </c:ext>
            </c:extLst>
          </c:dPt>
          <c:dPt>
            <c:idx val="1"/>
            <c:bubble3D val="0"/>
            <c:spPr>
              <a:solidFill>
                <a:srgbClr val="66FF66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3-BF5B-42C2-8EA6-EA84CD9C97EC}"/>
              </c:ext>
            </c:extLst>
          </c:dPt>
          <c:dPt>
            <c:idx val="2"/>
            <c:bubble3D val="0"/>
            <c:spPr>
              <a:solidFill>
                <a:srgbClr val="33CCCC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5-BF5B-42C2-8EA6-EA84CD9C97EC}"/>
              </c:ext>
            </c:extLst>
          </c:dPt>
          <c:dPt>
            <c:idx val="3"/>
            <c:bubble3D val="0"/>
            <c:spPr>
              <a:solidFill>
                <a:srgbClr val="813DB9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7-BF5B-42C2-8EA6-EA84CD9C97E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'IV monitorinq nəticələri-2022'!$H$3:$K$3</c:f>
              <c:strCache>
                <c:ptCount val="4"/>
                <c:pt idx="0">
                  <c:v>[0-30]</c:v>
                </c:pt>
                <c:pt idx="1">
                  <c:v>(30-60]</c:v>
                </c:pt>
                <c:pt idx="2">
                  <c:v>(60-80]</c:v>
                </c:pt>
                <c:pt idx="3">
                  <c:v>(80-100]</c:v>
                </c:pt>
              </c:strCache>
            </c:strRef>
          </c:cat>
          <c:val>
            <c:numRef>
              <c:f>'IV monitorinq nəticələri-2022'!$H$4:$K$4</c:f>
              <c:numCache>
                <c:formatCode>General</c:formatCode>
                <c:ptCount val="4"/>
                <c:pt idx="0">
                  <c:v>19</c:v>
                </c:pt>
                <c:pt idx="1">
                  <c:v>65</c:v>
                </c:pt>
                <c:pt idx="2">
                  <c:v>33</c:v>
                </c:pt>
                <c:pt idx="3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F5B-42C2-8EA6-EA84CD9C97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2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>
          <a:solidFill>
            <a:schemeClr val="tx1"/>
          </a:solidFill>
          <a:latin typeface="Palatino Linotype" panose="02040502050505030304" pitchFamily="18" charset="0"/>
        </a:defRPr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Palatino Linotype" panose="02040502050505030304" pitchFamily="18" charset="0"/>
                <a:ea typeface="+mn-ea"/>
                <a:cs typeface="+mn-cs"/>
              </a:defRPr>
            </a:pPr>
            <a:r>
              <a:rPr lang="az-Latn-AZ" sz="1600" b="1"/>
              <a:t>Reytinq</a:t>
            </a:r>
            <a:r>
              <a:rPr lang="az-Latn-AZ" sz="1600" b="1" baseline="0"/>
              <a:t> göstəriciləri</a:t>
            </a:r>
            <a:endParaRPr lang="en-US" sz="1600" b="1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>
                  <a:lumMod val="95000"/>
                  <a:lumOff val="5000"/>
                </a:schemeClr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Təhsil müəssisəsinin yeri</c:v>
          </c:tx>
          <c:spPr>
            <a:gradFill flip="none" rotWithShape="1">
              <a:gsLst>
                <a:gs pos="0">
                  <a:schemeClr val="bg2">
                    <a:lumMod val="50000"/>
                    <a:shade val="30000"/>
                    <a:satMod val="115000"/>
                  </a:schemeClr>
                </a:gs>
                <a:gs pos="50000">
                  <a:schemeClr val="bg2">
                    <a:lumMod val="50000"/>
                    <a:shade val="67500"/>
                    <a:satMod val="115000"/>
                  </a:schemeClr>
                </a:gs>
                <a:gs pos="100000">
                  <a:schemeClr val="bg2">
                    <a:lumMod val="50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90500" h="381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'IV monitorinq nəticələri-2022'!$T$2:$Y$3</c:f>
              <c:multiLvlStrCache>
                <c:ptCount val="6"/>
                <c:lvl>
                  <c:pt idx="0">
                    <c:v>Azərbaycan bölməsi</c:v>
                  </c:pt>
                  <c:pt idx="1">
                    <c:v>Rus bölməsi</c:v>
                  </c:pt>
                  <c:pt idx="2">
                    <c:v>Ümumi</c:v>
                  </c:pt>
                  <c:pt idx="3">
                    <c:v>Azərbaycan bölməsi</c:v>
                  </c:pt>
                  <c:pt idx="4">
                    <c:v>Rus bölməsi</c:v>
                  </c:pt>
                  <c:pt idx="5">
                    <c:v>Ümumi</c:v>
                  </c:pt>
                </c:lvl>
                <c:lvl>
                  <c:pt idx="0">
                    <c:v>BŞTİ üzrə reytinq</c:v>
                  </c:pt>
                  <c:pt idx="3">
                    <c:v>Rayon üzrə reytinq</c:v>
                  </c:pt>
                </c:lvl>
              </c:multiLvlStrCache>
            </c:multiLvlStrRef>
          </c:cat>
          <c:val>
            <c:numRef>
              <c:f>'IV monitorinq nəticələri-2022'!$T$4:$Y$4</c:f>
              <c:numCache>
                <c:formatCode>General</c:formatCode>
                <c:ptCount val="6"/>
                <c:pt idx="0">
                  <c:v>208</c:v>
                </c:pt>
                <c:pt idx="1">
                  <c:v>0</c:v>
                </c:pt>
                <c:pt idx="2">
                  <c:v>207</c:v>
                </c:pt>
                <c:pt idx="3">
                  <c:v>27</c:v>
                </c:pt>
                <c:pt idx="4">
                  <c:v>0</c:v>
                </c:pt>
                <c:pt idx="5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14-410E-AF60-29059508BDE3}"/>
            </c:ext>
          </c:extLst>
        </c:ser>
        <c:ser>
          <c:idx val="3"/>
          <c:order val="3"/>
          <c:tx>
            <c:v>Ümumi yerlərin sayı</c:v>
          </c:tx>
          <c:spPr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90500" h="381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'IV monitorinq nəticələri-2022'!$T$2:$Y$3</c:f>
              <c:multiLvlStrCache>
                <c:ptCount val="6"/>
                <c:lvl>
                  <c:pt idx="0">
                    <c:v>Azərbaycan bölməsi</c:v>
                  </c:pt>
                  <c:pt idx="1">
                    <c:v>Rus bölməsi</c:v>
                  </c:pt>
                  <c:pt idx="2">
                    <c:v>Ümumi</c:v>
                  </c:pt>
                  <c:pt idx="3">
                    <c:v>Azərbaycan bölməsi</c:v>
                  </c:pt>
                  <c:pt idx="4">
                    <c:v>Rus bölməsi</c:v>
                  </c:pt>
                  <c:pt idx="5">
                    <c:v>Ümumi</c:v>
                  </c:pt>
                </c:lvl>
                <c:lvl>
                  <c:pt idx="0">
                    <c:v>BŞTİ üzrə reytinq</c:v>
                  </c:pt>
                  <c:pt idx="3">
                    <c:v>Rayon üzrə reytinq</c:v>
                  </c:pt>
                </c:lvl>
              </c:multiLvlStrCache>
            </c:multiLvlStrRef>
          </c:cat>
          <c:val>
            <c:numRef>
              <c:f>'IV monitorinq nəticələri-2022'!$T$7:$Y$7</c:f>
              <c:numCache>
                <c:formatCode>General</c:formatCode>
                <c:ptCount val="6"/>
                <c:pt idx="0">
                  <c:v>313</c:v>
                </c:pt>
                <c:pt idx="1">
                  <c:v>124</c:v>
                </c:pt>
                <c:pt idx="2">
                  <c:v>313</c:v>
                </c:pt>
                <c:pt idx="3">
                  <c:v>34</c:v>
                </c:pt>
                <c:pt idx="4">
                  <c:v>18</c:v>
                </c:pt>
                <c:pt idx="5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B14-410E-AF60-29059508BDE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2"/>
        <c:axId val="647854416"/>
        <c:axId val="647863568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>
                      <c:ext uri="{02D57815-91ED-43cb-92C2-25804820EDAC}">
                        <c15:formulaRef>
                          <c15:sqref>'IV monitorinq nəticələri-2022'!$T$2:$Y$3</c15:sqref>
                        </c15:formulaRef>
                      </c:ext>
                    </c:extLst>
                    <c:multiLvlStrCache>
                      <c:ptCount val="6"/>
                      <c:lvl>
                        <c:pt idx="0">
                          <c:v>Azərbaycan bölməsi</c:v>
                        </c:pt>
                        <c:pt idx="1">
                          <c:v>Rus bölməsi</c:v>
                        </c:pt>
                        <c:pt idx="2">
                          <c:v>Ümumi</c:v>
                        </c:pt>
                        <c:pt idx="3">
                          <c:v>Azərbaycan bölməsi</c:v>
                        </c:pt>
                        <c:pt idx="4">
                          <c:v>Rus bölməsi</c:v>
                        </c:pt>
                        <c:pt idx="5">
                          <c:v>Ümumi</c:v>
                        </c:pt>
                      </c:lvl>
                      <c:lvl>
                        <c:pt idx="0">
                          <c:v>BŞTİ üzrə reytinq</c:v>
                        </c:pt>
                        <c:pt idx="3">
                          <c:v>Rayon üzrə reytinq</c:v>
                        </c:pt>
                      </c:lvl>
                    </c:multiLvlStrCache>
                  </c:multiLvlStrRef>
                </c:cat>
                <c:val>
                  <c:numRef>
                    <c:extLst>
                      <c:ext uri="{02D57815-91ED-43cb-92C2-25804820EDAC}">
                        <c15:formulaRef>
                          <c15:sqref>'IV monitorinq nəticələri-2022'!$T$5:$Y$5</c15:sqref>
                        </c15:formulaRef>
                      </c:ext>
                    </c:extLst>
                    <c:numCache>
                      <c:formatCode>General</c:formatCode>
                      <c:ptCount val="6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4B14-410E-AF60-29059508BDE3}"/>
                  </c:ext>
                </c:extLst>
              </c15:ser>
            </c15:filteredBarSeries>
            <c15:filteredBarSeries>
              <c15:ser>
                <c:idx val="2"/>
                <c:order val="2"/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'IV monitorinq nəticələri-2022'!$T$2:$Y$3</c15:sqref>
                        </c15:formulaRef>
                      </c:ext>
                    </c:extLst>
                    <c:multiLvlStrCache>
                      <c:ptCount val="6"/>
                      <c:lvl>
                        <c:pt idx="0">
                          <c:v>Azərbaycan bölməsi</c:v>
                        </c:pt>
                        <c:pt idx="1">
                          <c:v>Rus bölməsi</c:v>
                        </c:pt>
                        <c:pt idx="2">
                          <c:v>Ümumi</c:v>
                        </c:pt>
                        <c:pt idx="3">
                          <c:v>Azərbaycan bölməsi</c:v>
                        </c:pt>
                        <c:pt idx="4">
                          <c:v>Rus bölməsi</c:v>
                        </c:pt>
                        <c:pt idx="5">
                          <c:v>Ümumi</c:v>
                        </c:pt>
                      </c:lvl>
                      <c:lvl>
                        <c:pt idx="0">
                          <c:v>BŞTİ üzrə reytinq</c:v>
                        </c:pt>
                        <c:pt idx="3">
                          <c:v>Rayon üzrə reytinq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'IV monitorinq nəticələri-2022'!$T$6:$Y$6</c15:sqref>
                        </c15:formulaRef>
                      </c:ext>
                    </c:extLst>
                    <c:numCache>
                      <c:formatCode>General</c:formatCode>
                      <c:ptCount val="6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4B14-410E-AF60-29059508BDE3}"/>
                  </c:ext>
                </c:extLst>
              </c15:ser>
            </c15:filteredBarSeries>
          </c:ext>
        </c:extLst>
      </c:barChart>
      <c:catAx>
        <c:axId val="647854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Palatino Linotype" panose="02040502050505030304" pitchFamily="18" charset="0"/>
                <a:ea typeface="+mn-ea"/>
                <a:cs typeface="+mn-cs"/>
              </a:defRPr>
            </a:pPr>
            <a:endParaRPr lang="en-US"/>
          </a:p>
        </c:txPr>
        <c:crossAx val="647863568"/>
        <c:crosses val="autoZero"/>
        <c:auto val="1"/>
        <c:lblAlgn val="ctr"/>
        <c:lblOffset val="100"/>
        <c:noMultiLvlLbl val="0"/>
      </c:catAx>
      <c:valAx>
        <c:axId val="6478635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6478544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95000"/>
                  <a:lumOff val="5000"/>
                </a:schemeClr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2">
        <a:lumMod val="90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>
          <a:solidFill>
            <a:schemeClr val="tx1">
              <a:lumMod val="95000"/>
              <a:lumOff val="5000"/>
            </a:schemeClr>
          </a:solidFill>
          <a:latin typeface="Palatino Linotype" panose="02040502050505030304" pitchFamily="18" charset="0"/>
        </a:defRPr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pPr>
            <a:r>
              <a:rPr lang="az-Latn-AZ" sz="1800" b="1"/>
              <a:t>Tədris</a:t>
            </a:r>
            <a:r>
              <a:rPr lang="az-Latn-AZ" sz="1800" b="1" baseline="0"/>
              <a:t> dili</a:t>
            </a:r>
          </a:p>
          <a:p>
            <a:pPr>
              <a:defRPr/>
            </a:pPr>
            <a:r>
              <a:rPr lang="az-Latn-AZ" sz="1400" i="1" baseline="0"/>
              <a:t>(Ümumi)</a:t>
            </a:r>
            <a:endParaRPr lang="en-US" sz="1400" i="1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spPr>
            <a:scene3d>
              <a:camera prst="orthographicFront"/>
              <a:lightRig rig="threePt" dir="t"/>
            </a:scene3d>
            <a:sp3d>
              <a:bevelT w="190500" h="38100"/>
            </a:sp3d>
          </c:spPr>
          <c:dPt>
            <c:idx val="0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1-5F5A-4BDC-B83F-3D5FCB01B37F}"/>
              </c:ext>
            </c:extLst>
          </c:dPt>
          <c:dPt>
            <c:idx val="1"/>
            <c:bubble3D val="0"/>
            <c:spPr>
              <a:solidFill>
                <a:srgbClr val="66FF66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3-5F5A-4BDC-B83F-3D5FCB01B37F}"/>
              </c:ext>
            </c:extLst>
          </c:dPt>
          <c:dPt>
            <c:idx val="2"/>
            <c:bubble3D val="0"/>
            <c:spPr>
              <a:solidFill>
                <a:srgbClr val="33CCCC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5-5F5A-4BDC-B83F-3D5FCB01B37F}"/>
              </c:ext>
            </c:extLst>
          </c:dPt>
          <c:dPt>
            <c:idx val="3"/>
            <c:bubble3D val="0"/>
            <c:spPr>
              <a:solidFill>
                <a:srgbClr val="813DB9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7-5F5A-4BDC-B83F-3D5FCB01B37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'Buraxılış 2022'!$L$3:$O$3</c:f>
              <c:strCache>
                <c:ptCount val="4"/>
                <c:pt idx="0">
                  <c:v>[0-30]</c:v>
                </c:pt>
                <c:pt idx="1">
                  <c:v>(30-60]</c:v>
                </c:pt>
                <c:pt idx="2">
                  <c:v>(60-80]</c:v>
                </c:pt>
                <c:pt idx="3">
                  <c:v>(80-100]</c:v>
                </c:pt>
              </c:strCache>
            </c:strRef>
          </c:cat>
          <c:val>
            <c:numRef>
              <c:f>'Buraxılış 2022'!$L$6:$O$6</c:f>
              <c:numCache>
                <c:formatCode>General</c:formatCode>
                <c:ptCount val="4"/>
                <c:pt idx="0">
                  <c:v>24</c:v>
                </c:pt>
                <c:pt idx="1">
                  <c:v>49</c:v>
                </c:pt>
                <c:pt idx="2">
                  <c:v>32</c:v>
                </c:pt>
                <c:pt idx="3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F5A-4BDC-B83F-3D5FCB01B3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2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b="0">
          <a:solidFill>
            <a:schemeClr val="tx1"/>
          </a:solidFill>
          <a:latin typeface="Palatino Linotype" panose="02040502050505030304" pitchFamily="18" charset="0"/>
        </a:defRPr>
      </a:pPr>
      <a:endParaRPr lang="en-US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pPr>
            <a:r>
              <a:rPr lang="az-Latn-AZ" sz="1800" b="1" baseline="0"/>
              <a:t>Riyaziyyat</a:t>
            </a:r>
          </a:p>
          <a:p>
            <a:pPr>
              <a:defRPr/>
            </a:pPr>
            <a:r>
              <a:rPr lang="az-Latn-AZ" sz="1400" i="1" baseline="0"/>
              <a:t>(Ümumi)</a:t>
            </a:r>
            <a:endParaRPr lang="en-US" sz="1400" i="1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spPr>
            <a:scene3d>
              <a:camera prst="orthographicFront"/>
              <a:lightRig rig="threePt" dir="t"/>
            </a:scene3d>
            <a:sp3d>
              <a:bevelT w="190500" h="38100"/>
            </a:sp3d>
          </c:spPr>
          <c:dPt>
            <c:idx val="0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1-3A42-4BDC-BB7D-B244092F2F69}"/>
              </c:ext>
            </c:extLst>
          </c:dPt>
          <c:dPt>
            <c:idx val="1"/>
            <c:bubble3D val="0"/>
            <c:spPr>
              <a:solidFill>
                <a:srgbClr val="66FF66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3-3A42-4BDC-BB7D-B244092F2F69}"/>
              </c:ext>
            </c:extLst>
          </c:dPt>
          <c:dPt>
            <c:idx val="2"/>
            <c:bubble3D val="0"/>
            <c:spPr>
              <a:solidFill>
                <a:srgbClr val="33CCCC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5-3A42-4BDC-BB7D-B244092F2F69}"/>
              </c:ext>
            </c:extLst>
          </c:dPt>
          <c:dPt>
            <c:idx val="3"/>
            <c:bubble3D val="0"/>
            <c:spPr>
              <a:solidFill>
                <a:srgbClr val="813DB9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7-3A42-4BDC-BB7D-B244092F2F6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'Buraxılış 2022'!$R$3:$U$3</c:f>
              <c:strCache>
                <c:ptCount val="4"/>
                <c:pt idx="0">
                  <c:v>[0-30]</c:v>
                </c:pt>
                <c:pt idx="1">
                  <c:v>(30-60]</c:v>
                </c:pt>
                <c:pt idx="2">
                  <c:v>(60-80]</c:v>
                </c:pt>
                <c:pt idx="3">
                  <c:v>(80-100]</c:v>
                </c:pt>
              </c:strCache>
            </c:strRef>
          </c:cat>
          <c:val>
            <c:numRef>
              <c:f>'Buraxılış 2022'!$R$6:$U$6</c:f>
              <c:numCache>
                <c:formatCode>General</c:formatCode>
                <c:ptCount val="4"/>
                <c:pt idx="0">
                  <c:v>78</c:v>
                </c:pt>
                <c:pt idx="1">
                  <c:v>32</c:v>
                </c:pt>
                <c:pt idx="2">
                  <c:v>13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A42-4BDC-BB7D-B244092F2F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ysClr val="window" lastClr="FFFFFF">
        <a:lumMod val="95000"/>
      </a:sys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b="0">
          <a:solidFill>
            <a:schemeClr val="tx1"/>
          </a:solidFill>
          <a:latin typeface="Palatino Linotype" panose="02040502050505030304" pitchFamily="18" charset="0"/>
        </a:defRPr>
      </a:pPr>
      <a:endParaRPr lang="en-US"/>
    </a:p>
  </c:txPr>
  <c:externalData r:id="rId4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pPr>
            <a:r>
              <a:rPr lang="az-Latn-AZ" sz="1800" b="1" baseline="0"/>
              <a:t>Xarici dil</a:t>
            </a:r>
          </a:p>
          <a:p>
            <a:pPr>
              <a:defRPr/>
            </a:pPr>
            <a:r>
              <a:rPr lang="az-Latn-AZ" sz="1400" i="1" baseline="0"/>
              <a:t>(Ümumi)</a:t>
            </a:r>
            <a:endParaRPr lang="en-US" sz="1400" i="1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spPr>
            <a:scene3d>
              <a:camera prst="orthographicFront"/>
              <a:lightRig rig="threePt" dir="t"/>
            </a:scene3d>
            <a:sp3d>
              <a:bevelT w="190500" h="38100"/>
            </a:sp3d>
          </c:spPr>
          <c:dPt>
            <c:idx val="0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1-5143-4CBD-B275-859ED497D306}"/>
              </c:ext>
            </c:extLst>
          </c:dPt>
          <c:dPt>
            <c:idx val="1"/>
            <c:bubble3D val="0"/>
            <c:spPr>
              <a:solidFill>
                <a:srgbClr val="66FF66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3-5143-4CBD-B275-859ED497D306}"/>
              </c:ext>
            </c:extLst>
          </c:dPt>
          <c:dPt>
            <c:idx val="2"/>
            <c:bubble3D val="0"/>
            <c:spPr>
              <a:solidFill>
                <a:srgbClr val="33CCCC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5-5143-4CBD-B275-859ED497D306}"/>
              </c:ext>
            </c:extLst>
          </c:dPt>
          <c:dPt>
            <c:idx val="3"/>
            <c:bubble3D val="0"/>
            <c:spPr>
              <a:solidFill>
                <a:srgbClr val="813DB9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7-5143-4CBD-B275-859ED497D30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'Buraxılış 2022'!$X$3:$AA$3</c:f>
              <c:strCache>
                <c:ptCount val="4"/>
                <c:pt idx="0">
                  <c:v>[0-30]</c:v>
                </c:pt>
                <c:pt idx="1">
                  <c:v>(30-60]</c:v>
                </c:pt>
                <c:pt idx="2">
                  <c:v>(60-80]</c:v>
                </c:pt>
                <c:pt idx="3">
                  <c:v>(80-100]</c:v>
                </c:pt>
              </c:strCache>
            </c:strRef>
          </c:cat>
          <c:val>
            <c:numRef>
              <c:f>'Buraxılış 2022'!$X$6:$AA$6</c:f>
              <c:numCache>
                <c:formatCode>General</c:formatCode>
                <c:ptCount val="4"/>
                <c:pt idx="0">
                  <c:v>65</c:v>
                </c:pt>
                <c:pt idx="1">
                  <c:v>40</c:v>
                </c:pt>
                <c:pt idx="2">
                  <c:v>13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143-4CBD-B275-859ED497D3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EEEAF2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b="0">
          <a:solidFill>
            <a:schemeClr val="tx1"/>
          </a:solidFill>
          <a:latin typeface="Palatino Linotype" panose="02040502050505030304" pitchFamily="18" charset="0"/>
        </a:defRPr>
      </a:pPr>
      <a:endParaRPr lang="en-US"/>
    </a:p>
  </c:txPr>
  <c:externalData r:id="rId4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spc="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pPr>
            <a:r>
              <a:rPr lang="az-Latn-AZ" sz="1800" b="1"/>
              <a:t>Reytinq</a:t>
            </a:r>
            <a:r>
              <a:rPr lang="az-Latn-AZ" sz="1800" b="1" baseline="0"/>
              <a:t> göstəriciləri</a:t>
            </a:r>
            <a:endParaRPr lang="en-US" sz="1800" b="1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spc="0" baseline="0">
              <a:solidFill>
                <a:schemeClr val="tx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Reytinq yeri</c:v>
          </c:tx>
          <c:spPr>
            <a:gradFill flip="none" rotWithShape="1">
              <a:gsLst>
                <a:gs pos="0">
                  <a:schemeClr val="bg2">
                    <a:lumMod val="50000"/>
                    <a:shade val="30000"/>
                    <a:satMod val="115000"/>
                  </a:schemeClr>
                </a:gs>
                <a:gs pos="50000">
                  <a:schemeClr val="bg2">
                    <a:lumMod val="50000"/>
                    <a:shade val="67500"/>
                    <a:satMod val="115000"/>
                  </a:schemeClr>
                </a:gs>
                <a:gs pos="100000">
                  <a:schemeClr val="bg2">
                    <a:lumMod val="50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90500" h="381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'Buraxılış 2022'!$AL$2:$AQ$3</c:f>
              <c:multiLvlStrCache>
                <c:ptCount val="6"/>
                <c:lvl>
                  <c:pt idx="0">
                    <c:v>Azərbaycan bölməsi</c:v>
                  </c:pt>
                  <c:pt idx="1">
                    <c:v>Rus bölməsi</c:v>
                  </c:pt>
                  <c:pt idx="2">
                    <c:v>Ümumi</c:v>
                  </c:pt>
                  <c:pt idx="3">
                    <c:v>Azərbaycan bölməsi</c:v>
                  </c:pt>
                  <c:pt idx="4">
                    <c:v>Rus bölməsi</c:v>
                  </c:pt>
                  <c:pt idx="5">
                    <c:v>Ümumi</c:v>
                  </c:pt>
                </c:lvl>
                <c:lvl>
                  <c:pt idx="0">
                    <c:v>BŞTİ üzrə reytinq</c:v>
                  </c:pt>
                  <c:pt idx="3">
                    <c:v>Rayon üzrə reytinq</c:v>
                  </c:pt>
                </c:lvl>
              </c:multiLvlStrCache>
            </c:multiLvlStrRef>
          </c:cat>
          <c:val>
            <c:numRef>
              <c:f>'Buraxılış 2022'!$AL$4:$AQ$4</c:f>
              <c:numCache>
                <c:formatCode>General</c:formatCode>
                <c:ptCount val="6"/>
                <c:pt idx="0">
                  <c:v>130</c:v>
                </c:pt>
                <c:pt idx="1">
                  <c:v>0</c:v>
                </c:pt>
                <c:pt idx="2">
                  <c:v>146</c:v>
                </c:pt>
                <c:pt idx="3">
                  <c:v>18</c:v>
                </c:pt>
                <c:pt idx="4">
                  <c:v>0</c:v>
                </c:pt>
                <c:pt idx="5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3A-4044-81F8-045CFFF996BC}"/>
            </c:ext>
          </c:extLst>
        </c:ser>
        <c:ser>
          <c:idx val="3"/>
          <c:order val="3"/>
          <c:tx>
            <c:v>Yerlərin ümumi sayı</c:v>
          </c:tx>
          <c:spPr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90500" h="381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'Buraxılış 2022'!$AL$2:$AQ$3</c:f>
              <c:multiLvlStrCache>
                <c:ptCount val="6"/>
                <c:lvl>
                  <c:pt idx="0">
                    <c:v>Azərbaycan bölməsi</c:v>
                  </c:pt>
                  <c:pt idx="1">
                    <c:v>Rus bölməsi</c:v>
                  </c:pt>
                  <c:pt idx="2">
                    <c:v>Ümumi</c:v>
                  </c:pt>
                  <c:pt idx="3">
                    <c:v>Azərbaycan bölməsi</c:v>
                  </c:pt>
                  <c:pt idx="4">
                    <c:v>Rus bölməsi</c:v>
                  </c:pt>
                  <c:pt idx="5">
                    <c:v>Ümumi</c:v>
                  </c:pt>
                </c:lvl>
                <c:lvl>
                  <c:pt idx="0">
                    <c:v>BŞTİ üzrə reytinq</c:v>
                  </c:pt>
                  <c:pt idx="3">
                    <c:v>Rayon üzrə reytinq</c:v>
                  </c:pt>
                </c:lvl>
              </c:multiLvlStrCache>
            </c:multiLvlStrRef>
          </c:cat>
          <c:val>
            <c:numRef>
              <c:f>'Buraxılış 2022'!$AL$7:$AQ$7</c:f>
              <c:numCache>
                <c:formatCode>General</c:formatCode>
                <c:ptCount val="6"/>
                <c:pt idx="0">
                  <c:v>313</c:v>
                </c:pt>
                <c:pt idx="1">
                  <c:v>134</c:v>
                </c:pt>
                <c:pt idx="2">
                  <c:v>313</c:v>
                </c:pt>
                <c:pt idx="3">
                  <c:v>34</c:v>
                </c:pt>
                <c:pt idx="4">
                  <c:v>19</c:v>
                </c:pt>
                <c:pt idx="5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83A-4044-81F8-045CFFF996B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2"/>
        <c:axId val="1085832959"/>
        <c:axId val="1085827551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>
                      <c:ext uri="{02D57815-91ED-43cb-92C2-25804820EDAC}">
                        <c15:formulaRef>
                          <c15:sqref>'Buraxılış 2022'!$AL$2:$AQ$3</c15:sqref>
                        </c15:formulaRef>
                      </c:ext>
                    </c:extLst>
                    <c:multiLvlStrCache>
                      <c:ptCount val="6"/>
                      <c:lvl>
                        <c:pt idx="0">
                          <c:v>Azərbaycan bölməsi</c:v>
                        </c:pt>
                        <c:pt idx="1">
                          <c:v>Rus bölməsi</c:v>
                        </c:pt>
                        <c:pt idx="2">
                          <c:v>Ümumi</c:v>
                        </c:pt>
                        <c:pt idx="3">
                          <c:v>Azərbaycan bölməsi</c:v>
                        </c:pt>
                        <c:pt idx="4">
                          <c:v>Rus bölməsi</c:v>
                        </c:pt>
                        <c:pt idx="5">
                          <c:v>Ümumi</c:v>
                        </c:pt>
                      </c:lvl>
                      <c:lvl>
                        <c:pt idx="0">
                          <c:v>BŞTİ üzrə reytinq</c:v>
                        </c:pt>
                        <c:pt idx="3">
                          <c:v>Rayon üzrə reytinq</c:v>
                        </c:pt>
                      </c:lvl>
                    </c:multiLvlStrCache>
                  </c:multiLvlStrRef>
                </c:cat>
                <c:val>
                  <c:numRef>
                    <c:extLst>
                      <c:ext uri="{02D57815-91ED-43cb-92C2-25804820EDAC}">
                        <c15:formulaRef>
                          <c15:sqref>'Buraxılış 2022'!$AL$5:$AQ$5</c15:sqref>
                        </c15:formulaRef>
                      </c:ext>
                    </c:extLst>
                    <c:numCache>
                      <c:formatCode>General</c:formatCode>
                      <c:ptCount val="6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083A-4044-81F8-045CFFF996BC}"/>
                  </c:ext>
                </c:extLst>
              </c15:ser>
            </c15:filteredBarSeries>
            <c15:filteredBarSeries>
              <c15:ser>
                <c:idx val="2"/>
                <c:order val="2"/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'Buraxılış 2022'!$AL$2:$AQ$3</c15:sqref>
                        </c15:formulaRef>
                      </c:ext>
                    </c:extLst>
                    <c:multiLvlStrCache>
                      <c:ptCount val="6"/>
                      <c:lvl>
                        <c:pt idx="0">
                          <c:v>Azərbaycan bölməsi</c:v>
                        </c:pt>
                        <c:pt idx="1">
                          <c:v>Rus bölməsi</c:v>
                        </c:pt>
                        <c:pt idx="2">
                          <c:v>Ümumi</c:v>
                        </c:pt>
                        <c:pt idx="3">
                          <c:v>Azərbaycan bölməsi</c:v>
                        </c:pt>
                        <c:pt idx="4">
                          <c:v>Rus bölməsi</c:v>
                        </c:pt>
                        <c:pt idx="5">
                          <c:v>Ümumi</c:v>
                        </c:pt>
                      </c:lvl>
                      <c:lvl>
                        <c:pt idx="0">
                          <c:v>BŞTİ üzrə reytinq</c:v>
                        </c:pt>
                        <c:pt idx="3">
                          <c:v>Rayon üzrə reytinq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'Buraxılış 2022'!$AL$6:$AQ$6</c15:sqref>
                        </c15:formulaRef>
                      </c:ext>
                    </c:extLst>
                    <c:numCache>
                      <c:formatCode>General</c:formatCode>
                      <c:ptCount val="6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083A-4044-81F8-045CFFF996BC}"/>
                  </c:ext>
                </c:extLst>
              </c15:ser>
            </c15:filteredBarSeries>
          </c:ext>
        </c:extLst>
      </c:barChart>
      <c:catAx>
        <c:axId val="10858329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pPr>
            <a:endParaRPr lang="en-US"/>
          </a:p>
        </c:txPr>
        <c:crossAx val="1085827551"/>
        <c:crosses val="autoZero"/>
        <c:auto val="1"/>
        <c:lblAlgn val="ctr"/>
        <c:lblOffset val="100"/>
        <c:noMultiLvlLbl val="0"/>
      </c:catAx>
      <c:valAx>
        <c:axId val="108582755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858329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2">
        <a:lumMod val="90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>
          <a:solidFill>
            <a:schemeClr val="tx1"/>
          </a:solidFill>
          <a:latin typeface="Palatino Linotype" panose="02040502050505030304" pitchFamily="18" charset="0"/>
        </a:defRPr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pPr>
            <a:r>
              <a:rPr lang="az-Latn-AZ" sz="1800" b="1"/>
              <a:t>Tədris</a:t>
            </a:r>
            <a:r>
              <a:rPr lang="az-Latn-AZ" sz="1800" b="1" baseline="0"/>
              <a:t> dili - 2021</a:t>
            </a:r>
            <a:endParaRPr lang="en-US" sz="1400" i="1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spPr>
            <a:scene3d>
              <a:camera prst="orthographicFront"/>
              <a:lightRig rig="threePt" dir="t"/>
            </a:scene3d>
            <a:sp3d>
              <a:bevelT w="190500" h="38100"/>
            </a:sp3d>
          </c:spPr>
          <c:dPt>
            <c:idx val="0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1-0F04-4C09-9452-3C9FAA3FE724}"/>
              </c:ext>
            </c:extLst>
          </c:dPt>
          <c:dPt>
            <c:idx val="1"/>
            <c:bubble3D val="0"/>
            <c:spPr>
              <a:solidFill>
                <a:srgbClr val="66FF66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3-0F04-4C09-9452-3C9FAA3FE724}"/>
              </c:ext>
            </c:extLst>
          </c:dPt>
          <c:dPt>
            <c:idx val="2"/>
            <c:bubble3D val="0"/>
            <c:spPr>
              <a:solidFill>
                <a:srgbClr val="33CCCC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5-0F04-4C09-9452-3C9FAA3FE724}"/>
              </c:ext>
            </c:extLst>
          </c:dPt>
          <c:dPt>
            <c:idx val="3"/>
            <c:bubble3D val="0"/>
            <c:spPr>
              <a:solidFill>
                <a:srgbClr val="813DB9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7-0F04-4C09-9452-3C9FAA3FE72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'Buraxılış müqayisəli təhlil'!$L$3:$O$3</c:f>
              <c:strCache>
                <c:ptCount val="4"/>
                <c:pt idx="0">
                  <c:v>[0-30]</c:v>
                </c:pt>
                <c:pt idx="1">
                  <c:v>(30-60]</c:v>
                </c:pt>
                <c:pt idx="2">
                  <c:v>(60-80]</c:v>
                </c:pt>
                <c:pt idx="3">
                  <c:v>(80-100]</c:v>
                </c:pt>
              </c:strCache>
            </c:strRef>
          </c:cat>
          <c:val>
            <c:numRef>
              <c:f>'Buraxılış müqayisəli təhlil'!$L$4:$O$4</c:f>
              <c:numCache>
                <c:formatCode>General</c:formatCode>
                <c:ptCount val="4"/>
                <c:pt idx="0">
                  <c:v>46</c:v>
                </c:pt>
                <c:pt idx="1">
                  <c:v>57</c:v>
                </c:pt>
                <c:pt idx="2">
                  <c:v>35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F04-4C09-9452-3C9FAA3FE7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2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b="0">
          <a:solidFill>
            <a:schemeClr val="tx1"/>
          </a:solidFill>
          <a:latin typeface="Palatino Linotype" panose="02040502050505030304" pitchFamily="18" charset="0"/>
        </a:defRPr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pPr>
            <a:r>
              <a:rPr lang="az-Latn-AZ" sz="1800" b="1" baseline="0"/>
              <a:t>Riyaziyyat - 2021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spPr>
            <a:scene3d>
              <a:camera prst="orthographicFront"/>
              <a:lightRig rig="threePt" dir="t"/>
            </a:scene3d>
            <a:sp3d>
              <a:bevelT w="190500" h="38100"/>
            </a:sp3d>
          </c:spPr>
          <c:dPt>
            <c:idx val="0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1-2097-408D-80B5-47A7BF26BE9A}"/>
              </c:ext>
            </c:extLst>
          </c:dPt>
          <c:dPt>
            <c:idx val="1"/>
            <c:bubble3D val="0"/>
            <c:spPr>
              <a:solidFill>
                <a:srgbClr val="66FF66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3-2097-408D-80B5-47A7BF26BE9A}"/>
              </c:ext>
            </c:extLst>
          </c:dPt>
          <c:dPt>
            <c:idx val="2"/>
            <c:bubble3D val="0"/>
            <c:spPr>
              <a:solidFill>
                <a:srgbClr val="33CCCC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5-2097-408D-80B5-47A7BF26BE9A}"/>
              </c:ext>
            </c:extLst>
          </c:dPt>
          <c:dPt>
            <c:idx val="3"/>
            <c:bubble3D val="0"/>
            <c:spPr>
              <a:solidFill>
                <a:srgbClr val="813DB9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7-2097-408D-80B5-47A7BF26BE9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'Buraxılış müqayisəli təhlil'!$R$3:$U$3</c:f>
              <c:strCache>
                <c:ptCount val="4"/>
                <c:pt idx="0">
                  <c:v>[0-30]</c:v>
                </c:pt>
                <c:pt idx="1">
                  <c:v>(30-60]</c:v>
                </c:pt>
                <c:pt idx="2">
                  <c:v>(60-80]</c:v>
                </c:pt>
                <c:pt idx="3">
                  <c:v>(80-100]</c:v>
                </c:pt>
              </c:strCache>
            </c:strRef>
          </c:cat>
          <c:val>
            <c:numRef>
              <c:f>'Buraxılış müqayisəli təhlil'!$R$4:$U$4</c:f>
              <c:numCache>
                <c:formatCode>General</c:formatCode>
                <c:ptCount val="4"/>
                <c:pt idx="0">
                  <c:v>64</c:v>
                </c:pt>
                <c:pt idx="1">
                  <c:v>49</c:v>
                </c:pt>
                <c:pt idx="2">
                  <c:v>19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097-408D-80B5-47A7BF26BE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>
        <a:lumMod val="95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b="0">
          <a:solidFill>
            <a:schemeClr val="tx1"/>
          </a:solidFill>
          <a:latin typeface="Palatino Linotype" panose="02040502050505030304" pitchFamily="18" charset="0"/>
        </a:defRPr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pPr>
            <a:r>
              <a:rPr lang="az-Latn-AZ" sz="1800" b="1" baseline="0"/>
              <a:t>Xarici dil - 2021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spPr>
            <a:scene3d>
              <a:camera prst="orthographicFront"/>
              <a:lightRig rig="threePt" dir="t"/>
            </a:scene3d>
            <a:sp3d>
              <a:bevelT w="190500" h="38100"/>
            </a:sp3d>
          </c:spPr>
          <c:dPt>
            <c:idx val="0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1-62FE-4137-B641-A5CA96E88D75}"/>
              </c:ext>
            </c:extLst>
          </c:dPt>
          <c:dPt>
            <c:idx val="1"/>
            <c:bubble3D val="0"/>
            <c:spPr>
              <a:solidFill>
                <a:srgbClr val="66FF66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3-62FE-4137-B641-A5CA96E88D75}"/>
              </c:ext>
            </c:extLst>
          </c:dPt>
          <c:dPt>
            <c:idx val="2"/>
            <c:bubble3D val="0"/>
            <c:spPr>
              <a:solidFill>
                <a:srgbClr val="33CCCC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5-62FE-4137-B641-A5CA96E88D75}"/>
              </c:ext>
            </c:extLst>
          </c:dPt>
          <c:dPt>
            <c:idx val="3"/>
            <c:bubble3D val="0"/>
            <c:spPr>
              <a:solidFill>
                <a:srgbClr val="813DB9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7-62FE-4137-B641-A5CA96E88D7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'Buraxılış müqayisəli təhlil'!$X$3:$AA$3</c:f>
              <c:strCache>
                <c:ptCount val="4"/>
                <c:pt idx="0">
                  <c:v>[0-30]</c:v>
                </c:pt>
                <c:pt idx="1">
                  <c:v>(30-60]</c:v>
                </c:pt>
                <c:pt idx="2">
                  <c:v>(60-80]</c:v>
                </c:pt>
                <c:pt idx="3">
                  <c:v>(80-100]</c:v>
                </c:pt>
              </c:strCache>
            </c:strRef>
          </c:cat>
          <c:val>
            <c:numRef>
              <c:f>'Buraxılış müqayisəli təhlil'!$X$4:$AA$4</c:f>
              <c:numCache>
                <c:formatCode>General</c:formatCode>
                <c:ptCount val="4"/>
                <c:pt idx="0">
                  <c:v>84</c:v>
                </c:pt>
                <c:pt idx="1">
                  <c:v>45</c:v>
                </c:pt>
                <c:pt idx="2">
                  <c:v>11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2FE-4137-B641-A5CA96E88D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EEEAF2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b="0">
          <a:solidFill>
            <a:schemeClr val="tx1"/>
          </a:solidFill>
          <a:latin typeface="Palatino Linotype" panose="02040502050505030304" pitchFamily="18" charset="0"/>
        </a:defRPr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cene3d>
              <a:camera prst="orthographicFront"/>
              <a:lightRig rig="threePt" dir="t"/>
            </a:scene3d>
            <a:sp3d>
              <a:bevelT w="190500" h="38100"/>
            </a:sp3d>
          </c:spPr>
          <c:dPt>
            <c:idx val="0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1-E404-424F-AF55-9A07A2A2EB4A}"/>
              </c:ext>
            </c:extLst>
          </c:dPt>
          <c:dPt>
            <c:idx val="1"/>
            <c:bubble3D val="0"/>
            <c:spPr>
              <a:solidFill>
                <a:srgbClr val="66FF66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3-E404-424F-AF55-9A07A2A2EB4A}"/>
              </c:ext>
            </c:extLst>
          </c:dPt>
          <c:dPt>
            <c:idx val="2"/>
            <c:bubble3D val="0"/>
            <c:spPr>
              <a:solidFill>
                <a:srgbClr val="33CCCC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5-E404-424F-AF55-9A07A2A2EB4A}"/>
              </c:ext>
            </c:extLst>
          </c:dPt>
          <c:dPt>
            <c:idx val="3"/>
            <c:bubble3D val="0"/>
            <c:spPr>
              <a:solidFill>
                <a:srgbClr val="813DB9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7-E404-424F-AF55-9A07A2A2EB4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'Buraxılış müqayisəli təhlil'!$L$3:$O$3</c:f>
              <c:strCache>
                <c:ptCount val="4"/>
                <c:pt idx="0">
                  <c:v>[0-30]</c:v>
                </c:pt>
                <c:pt idx="1">
                  <c:v>(30-60]</c:v>
                </c:pt>
                <c:pt idx="2">
                  <c:v>(60-80]</c:v>
                </c:pt>
                <c:pt idx="3">
                  <c:v>(80-100]</c:v>
                </c:pt>
              </c:strCache>
            </c:strRef>
          </c:cat>
          <c:val>
            <c:numRef>
              <c:f>'Buraxılış müqayisəli təhlil'!$L$5:$O$5</c:f>
              <c:numCache>
                <c:formatCode>General</c:formatCode>
                <c:ptCount val="4"/>
                <c:pt idx="0">
                  <c:v>24</c:v>
                </c:pt>
                <c:pt idx="1">
                  <c:v>49</c:v>
                </c:pt>
                <c:pt idx="2">
                  <c:v>32</c:v>
                </c:pt>
                <c:pt idx="3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404-424F-AF55-9A07A2A2EB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2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b="0">
          <a:solidFill>
            <a:schemeClr val="tx1"/>
          </a:solidFill>
          <a:latin typeface="Palatino Linotype" panose="02040502050505030304" pitchFamily="18" charset="0"/>
        </a:defRPr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pPr>
            <a:r>
              <a:rPr lang="az-Latn-AZ" sz="1800" b="1" baseline="0"/>
              <a:t>Riyaziyyat - 2022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spPr>
            <a:scene3d>
              <a:camera prst="orthographicFront"/>
              <a:lightRig rig="threePt" dir="t"/>
            </a:scene3d>
            <a:sp3d>
              <a:bevelT w="190500" h="38100"/>
            </a:sp3d>
          </c:spPr>
          <c:dPt>
            <c:idx val="0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1-FE01-43D7-92E3-5B0496F5DA50}"/>
              </c:ext>
            </c:extLst>
          </c:dPt>
          <c:dPt>
            <c:idx val="1"/>
            <c:bubble3D val="0"/>
            <c:spPr>
              <a:solidFill>
                <a:srgbClr val="66FF66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3-FE01-43D7-92E3-5B0496F5DA50}"/>
              </c:ext>
            </c:extLst>
          </c:dPt>
          <c:dPt>
            <c:idx val="2"/>
            <c:bubble3D val="0"/>
            <c:spPr>
              <a:solidFill>
                <a:srgbClr val="33CCCC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5-FE01-43D7-92E3-5B0496F5DA50}"/>
              </c:ext>
            </c:extLst>
          </c:dPt>
          <c:dPt>
            <c:idx val="3"/>
            <c:bubble3D val="0"/>
            <c:spPr>
              <a:solidFill>
                <a:srgbClr val="813DB9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7-FE01-43D7-92E3-5B0496F5DA5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'Buraxılış müqayisəli təhlil'!$R$3:$U$3</c:f>
              <c:strCache>
                <c:ptCount val="4"/>
                <c:pt idx="0">
                  <c:v>[0-30]</c:v>
                </c:pt>
                <c:pt idx="1">
                  <c:v>(30-60]</c:v>
                </c:pt>
                <c:pt idx="2">
                  <c:v>(60-80]</c:v>
                </c:pt>
                <c:pt idx="3">
                  <c:v>(80-100]</c:v>
                </c:pt>
              </c:strCache>
            </c:strRef>
          </c:cat>
          <c:val>
            <c:numRef>
              <c:f>'Buraxılış müqayisəli təhlil'!$R$5:$U$5</c:f>
              <c:numCache>
                <c:formatCode>General</c:formatCode>
                <c:ptCount val="4"/>
                <c:pt idx="0">
                  <c:v>78</c:v>
                </c:pt>
                <c:pt idx="1">
                  <c:v>32</c:v>
                </c:pt>
                <c:pt idx="2">
                  <c:v>13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E01-43D7-92E3-5B0496F5DA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>
        <a:lumMod val="95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b="0">
          <a:solidFill>
            <a:schemeClr val="tx1"/>
          </a:solidFill>
          <a:latin typeface="Palatino Linotype" panose="02040502050505030304" pitchFamily="18" charset="0"/>
        </a:defRPr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pPr>
            <a:r>
              <a:rPr lang="az-Latn-AZ" sz="1800" b="1" i="0" baseline="0"/>
              <a:t>Xarici dil - 2022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spPr>
            <a:scene3d>
              <a:camera prst="orthographicFront"/>
              <a:lightRig rig="threePt" dir="t"/>
            </a:scene3d>
            <a:sp3d>
              <a:bevelT w="190500" h="38100"/>
            </a:sp3d>
          </c:spPr>
          <c:dPt>
            <c:idx val="0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1-AD48-4C4F-AD16-2CB5BBC60AFB}"/>
              </c:ext>
            </c:extLst>
          </c:dPt>
          <c:dPt>
            <c:idx val="1"/>
            <c:bubble3D val="0"/>
            <c:spPr>
              <a:solidFill>
                <a:srgbClr val="66FF66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3-AD48-4C4F-AD16-2CB5BBC60AFB}"/>
              </c:ext>
            </c:extLst>
          </c:dPt>
          <c:dPt>
            <c:idx val="2"/>
            <c:bubble3D val="0"/>
            <c:spPr>
              <a:solidFill>
                <a:srgbClr val="33CCCC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5-AD48-4C4F-AD16-2CB5BBC60AFB}"/>
              </c:ext>
            </c:extLst>
          </c:dPt>
          <c:dPt>
            <c:idx val="3"/>
            <c:bubble3D val="0"/>
            <c:spPr>
              <a:solidFill>
                <a:srgbClr val="813DB9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7-AD48-4C4F-AD16-2CB5BBC60AF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'Buraxılış müqayisəli təhlil'!$X$3:$AA$3</c:f>
              <c:strCache>
                <c:ptCount val="4"/>
                <c:pt idx="0">
                  <c:v>[0-30]</c:v>
                </c:pt>
                <c:pt idx="1">
                  <c:v>(30-60]</c:v>
                </c:pt>
                <c:pt idx="2">
                  <c:v>(60-80]</c:v>
                </c:pt>
                <c:pt idx="3">
                  <c:v>(80-100]</c:v>
                </c:pt>
              </c:strCache>
            </c:strRef>
          </c:cat>
          <c:val>
            <c:numRef>
              <c:f>'Buraxılış müqayisəli təhlil'!$X$5:$AA$5</c:f>
              <c:numCache>
                <c:formatCode>General</c:formatCode>
                <c:ptCount val="4"/>
                <c:pt idx="0">
                  <c:v>65</c:v>
                </c:pt>
                <c:pt idx="1">
                  <c:v>40</c:v>
                </c:pt>
                <c:pt idx="2">
                  <c:v>13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D48-4C4F-AD16-2CB5BBC60A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/>
              </a:solidFill>
              <a:latin typeface="Palatino Linotype" panose="020405020505050303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EEEAF2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b="0">
          <a:solidFill>
            <a:schemeClr val="tx1"/>
          </a:solidFill>
          <a:latin typeface="Palatino Linotype" panose="02040502050505030304" pitchFamily="18" charset="0"/>
        </a:defRPr>
      </a:pPr>
      <a:endParaRPr lang="en-US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az-Latn-AZ" sz="2400" b="1" dirty="0"/>
              <a:t>Fənnlər </a:t>
            </a:r>
            <a:r>
              <a:rPr lang="az-Latn-AZ" sz="2400" b="1" dirty="0" smtClean="0"/>
              <a:t>üzrə nəticələr</a:t>
            </a:r>
            <a:endParaRPr lang="en-US" sz="2400" b="1" dirty="0"/>
          </a:p>
        </c:rich>
      </c:tx>
      <c:layout>
        <c:manualLayout>
          <c:xMode val="edge"/>
          <c:yMode val="edge"/>
          <c:x val="0.40918635170603673"/>
          <c:y val="1.594896331738436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Ötən tədris ili üzrə illik nəticə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Sheet1!$A$2:$A$17</c:f>
              <c:strCache>
                <c:ptCount val="16"/>
                <c:pt idx="0">
                  <c:v>Tədris dili</c:v>
                </c:pt>
                <c:pt idx="1">
                  <c:v>Ədəbiyyat</c:v>
                </c:pt>
                <c:pt idx="2">
                  <c:v>Xarici dil</c:v>
                </c:pt>
                <c:pt idx="3">
                  <c:v>Riyaziyyat</c:v>
                </c:pt>
                <c:pt idx="4">
                  <c:v>İnformatika</c:v>
                </c:pt>
                <c:pt idx="5">
                  <c:v>Azərbaycan tarixi</c:v>
                </c:pt>
                <c:pt idx="6">
                  <c:v>Ümumi tarix</c:v>
                </c:pt>
                <c:pt idx="7">
                  <c:v>Fizika</c:v>
                </c:pt>
                <c:pt idx="8">
                  <c:v>Kimya</c:v>
                </c:pt>
                <c:pt idx="9">
                  <c:v>Biologiya</c:v>
                </c:pt>
                <c:pt idx="10">
                  <c:v>Coğrafiya</c:v>
                </c:pt>
                <c:pt idx="11">
                  <c:v>Həyat bilgisi</c:v>
                </c:pt>
                <c:pt idx="12">
                  <c:v>Texnologiya</c:v>
                </c:pt>
                <c:pt idx="13">
                  <c:v>Fiziki tərbiyə</c:v>
                </c:pt>
                <c:pt idx="14">
                  <c:v>Musiqi</c:v>
                </c:pt>
                <c:pt idx="15">
                  <c:v>Təsviri incəsənət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68.151469616069164</c:v>
                </c:pt>
                <c:pt idx="1">
                  <c:v>70.445086193745226</c:v>
                </c:pt>
                <c:pt idx="2">
                  <c:v>68.578481057716758</c:v>
                </c:pt>
                <c:pt idx="3">
                  <c:v>69.289627765064822</c:v>
                </c:pt>
                <c:pt idx="4">
                  <c:v>0</c:v>
                </c:pt>
                <c:pt idx="5">
                  <c:v>69.750912789219427</c:v>
                </c:pt>
                <c:pt idx="6">
                  <c:v>69.003226036104749</c:v>
                </c:pt>
                <c:pt idx="7">
                  <c:v>68.419135011441639</c:v>
                </c:pt>
                <c:pt idx="8">
                  <c:v>0</c:v>
                </c:pt>
                <c:pt idx="9">
                  <c:v>74.994306636155599</c:v>
                </c:pt>
                <c:pt idx="10">
                  <c:v>71.50286244597001</c:v>
                </c:pt>
                <c:pt idx="11">
                  <c:v>76.446277142130683</c:v>
                </c:pt>
                <c:pt idx="12">
                  <c:v>81.250272056953989</c:v>
                </c:pt>
                <c:pt idx="13">
                  <c:v>79.857687770150008</c:v>
                </c:pt>
                <c:pt idx="14">
                  <c:v>82.7138474446987</c:v>
                </c:pt>
                <c:pt idx="15">
                  <c:v>76.678638189677102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BF-4490-8ABE-205AEB9B78A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İllik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Sheet1!$A$2:$A$17</c:f>
              <c:strCache>
                <c:ptCount val="16"/>
                <c:pt idx="0">
                  <c:v>Tədris dili</c:v>
                </c:pt>
                <c:pt idx="1">
                  <c:v>Ədəbiyyat</c:v>
                </c:pt>
                <c:pt idx="2">
                  <c:v>Xarici dil</c:v>
                </c:pt>
                <c:pt idx="3">
                  <c:v>Riyaziyyat</c:v>
                </c:pt>
                <c:pt idx="4">
                  <c:v>İnformatika</c:v>
                </c:pt>
                <c:pt idx="5">
                  <c:v>Azərbaycan tarixi</c:v>
                </c:pt>
                <c:pt idx="6">
                  <c:v>Ümumi tarix</c:v>
                </c:pt>
                <c:pt idx="7">
                  <c:v>Fizika</c:v>
                </c:pt>
                <c:pt idx="8">
                  <c:v>Kimya</c:v>
                </c:pt>
                <c:pt idx="9">
                  <c:v>Biologiya</c:v>
                </c:pt>
                <c:pt idx="10">
                  <c:v>Coğrafiya</c:v>
                </c:pt>
                <c:pt idx="11">
                  <c:v>Həyat bilgisi</c:v>
                </c:pt>
                <c:pt idx="12">
                  <c:v>Texnologiya</c:v>
                </c:pt>
                <c:pt idx="13">
                  <c:v>Fiziki tərbiyə</c:v>
                </c:pt>
                <c:pt idx="14">
                  <c:v>Musiqi</c:v>
                </c:pt>
                <c:pt idx="15">
                  <c:v>Təsviri incəsənət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59.536031170922477</c:v>
                </c:pt>
                <c:pt idx="1">
                  <c:v>63.682309472934463</c:v>
                </c:pt>
                <c:pt idx="2">
                  <c:v>57.354194360390011</c:v>
                </c:pt>
                <c:pt idx="3">
                  <c:v>54.129242470492471</c:v>
                </c:pt>
                <c:pt idx="4">
                  <c:v>59.851449275362327</c:v>
                </c:pt>
                <c:pt idx="5">
                  <c:v>58.626127103572763</c:v>
                </c:pt>
                <c:pt idx="6">
                  <c:v>59.979537280352496</c:v>
                </c:pt>
                <c:pt idx="7">
                  <c:v>63.420605612181703</c:v>
                </c:pt>
                <c:pt idx="8">
                  <c:v>58.698925430447161</c:v>
                </c:pt>
                <c:pt idx="9">
                  <c:v>64.946011506609338</c:v>
                </c:pt>
                <c:pt idx="10">
                  <c:v>63.819748588770317</c:v>
                </c:pt>
                <c:pt idx="11">
                  <c:v>67.325767992072343</c:v>
                </c:pt>
                <c:pt idx="12">
                  <c:v>77.644346454672544</c:v>
                </c:pt>
                <c:pt idx="13">
                  <c:v>83.135083047990676</c:v>
                </c:pt>
                <c:pt idx="14">
                  <c:v>80.418930274636807</c:v>
                </c:pt>
                <c:pt idx="15">
                  <c:v>77.179435198456943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2BF-4490-8ABE-205AEB9B78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14810976"/>
        <c:axId val="314813888"/>
      </c:barChart>
      <c:catAx>
        <c:axId val="3148109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4813888"/>
        <c:crosses val="autoZero"/>
        <c:auto val="1"/>
        <c:lblAlgn val="ctr"/>
        <c:lblOffset val="100"/>
        <c:noMultiLvlLbl val="0"/>
      </c:catAx>
      <c:valAx>
        <c:axId val="3148138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48109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az-Latn-AZ"/>
              <a:t>ıı</a:t>
            </a:r>
            <a:r>
              <a:rPr lang="az-Latn-AZ" baseline="0"/>
              <a:t> sinif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Ötən tədris ili üzrə illik nəticə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4C4-48EE-96FB-BF3E19D67F2F}"/>
              </c:ext>
            </c:extLst>
          </c:dPt>
          <c:val>
            <c:numRef>
              <c:f>Sheet1!$A$2</c:f>
              <c:numCache>
                <c:formatCode>0.00</c:formatCode>
                <c:ptCount val="1"/>
                <c:pt idx="0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4C4-48EE-96FB-BF3E19D67F2F}"/>
            </c:ext>
          </c:extLst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İllik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val>
            <c:numRef>
              <c:f>Sheet1!$B$2</c:f>
              <c:numCache>
                <c:formatCode>0.00</c:formatCode>
                <c:ptCount val="1"/>
                <c:pt idx="0">
                  <c:v>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4C4-48EE-96FB-BF3E19D67F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30056128"/>
        <c:axId val="1930061120"/>
      </c:barChart>
      <c:catAx>
        <c:axId val="1930056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30061120"/>
        <c:crosses val="autoZero"/>
        <c:auto val="1"/>
        <c:lblAlgn val="ctr"/>
        <c:lblOffset val="100"/>
        <c:noMultiLvlLbl val="0"/>
      </c:catAx>
      <c:valAx>
        <c:axId val="19300611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300561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az-Latn-AZ"/>
              <a:t>III</a:t>
            </a:r>
            <a:r>
              <a:rPr lang="az-Latn-AZ" baseline="0"/>
              <a:t> SİNİF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FF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E22-406A-BC41-7027A06C4713}"/>
              </c:ext>
            </c:extLst>
          </c:dPt>
          <c:val>
            <c:numRef>
              <c:f>Sheet1!$A$2</c:f>
              <c:numCache>
                <c:formatCode>General</c:formatCode>
                <c:ptCount val="1"/>
                <c:pt idx="0">
                  <c:v>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E22-406A-BC41-7027A06C4713}"/>
            </c:ext>
          </c:extLst>
        </c:ser>
        <c:ser>
          <c:idx val="1"/>
          <c:order val="1"/>
          <c:spPr>
            <a:solidFill>
              <a:srgbClr val="0070C0"/>
            </a:solidFill>
            <a:ln>
              <a:noFill/>
            </a:ln>
            <a:effectLst/>
          </c:spPr>
          <c:invertIfNegative val="0"/>
          <c:val>
            <c:numRef>
              <c:f>Sheet1!$B$2</c:f>
              <c:numCache>
                <c:formatCode>General</c:formatCode>
                <c:ptCount val="1"/>
                <c:pt idx="0">
                  <c:v>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E22-406A-BC41-7027A06C47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87060304"/>
        <c:axId val="1987072784"/>
      </c:barChart>
      <c:catAx>
        <c:axId val="198706030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7072784"/>
        <c:crosses val="autoZero"/>
        <c:auto val="1"/>
        <c:lblAlgn val="ctr"/>
        <c:lblOffset val="100"/>
        <c:noMultiLvlLbl val="0"/>
      </c:catAx>
      <c:valAx>
        <c:axId val="19870727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70603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az-Latn-AZ" dirty="0" smtClean="0"/>
              <a:t>Monitorinq orta illik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668-4F98-8D43-47CAEE6F6242}"/>
              </c:ext>
            </c:extLst>
          </c:dPt>
          <c:val>
            <c:numRef>
              <c:f>Sheet1!$A$2:$B$2</c:f>
              <c:numCache>
                <c:formatCode>General</c:formatCode>
                <c:ptCount val="2"/>
                <c:pt idx="0">
                  <c:v>66</c:v>
                </c:pt>
                <c:pt idx="1">
                  <c:v>4.05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668-4F98-8D43-47CAEE6F62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30057792"/>
        <c:axId val="1930061120"/>
      </c:barChart>
      <c:catAx>
        <c:axId val="193005779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30061120"/>
        <c:crosses val="autoZero"/>
        <c:auto val="1"/>
        <c:lblAlgn val="ctr"/>
        <c:lblOffset val="100"/>
        <c:noMultiLvlLbl val="0"/>
      </c:catAx>
      <c:valAx>
        <c:axId val="19300611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300577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az-Latn-AZ"/>
              <a:t>IV</a:t>
            </a:r>
            <a:r>
              <a:rPr lang="az-Latn-AZ" baseline="0"/>
              <a:t> sinif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6281296229100954E-2"/>
          <c:y val="9.0714080714277154E-2"/>
          <c:w val="0.86538035052284079"/>
          <c:h val="0.86690204955556716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FF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AC2-4558-BB00-A2E4197AFCB9}"/>
              </c:ext>
            </c:extLst>
          </c:dPt>
          <c:cat>
            <c:strRef>
              <c:f>Sheet1!$A$1:$B$1</c:f>
              <c:strCache>
                <c:ptCount val="2"/>
                <c:pt idx="0">
                  <c:v>Ötən tədris ili üzrə illik nəticə</c:v>
                </c:pt>
                <c:pt idx="1">
                  <c:v>İllik</c:v>
                </c:pt>
              </c:strCache>
            </c:strRef>
          </c:cat>
          <c:val>
            <c:numRef>
              <c:f>Sheet1!$A$2:$B$2</c:f>
              <c:numCache>
                <c:formatCode>General</c:formatCode>
                <c:ptCount val="2"/>
                <c:pt idx="0">
                  <c:v>71</c:v>
                </c:pt>
                <c:pt idx="1">
                  <c:v>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AC2-4558-BB00-A2E4197AFC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27417056"/>
        <c:axId val="1927420800"/>
      </c:barChart>
      <c:catAx>
        <c:axId val="19274170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7420800"/>
        <c:crosses val="autoZero"/>
        <c:auto val="1"/>
        <c:lblAlgn val="ctr"/>
        <c:lblOffset val="100"/>
        <c:noMultiLvlLbl val="0"/>
      </c:catAx>
      <c:valAx>
        <c:axId val="19274208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74170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az-Latn-AZ" sz="2000" b="1" dirty="0" smtClean="0"/>
              <a:t>TƏHSİL MÜƏSSİSƏSİ</a:t>
            </a:r>
            <a:r>
              <a:rPr lang="az-Latn-AZ" sz="2000" b="1" baseline="0" dirty="0" smtClean="0"/>
              <a:t> ÜZRƏ NƏTİCƏLƏR</a:t>
            </a:r>
            <a:endParaRPr lang="en-US" sz="2000" b="1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Sheet2!$B$1:$E$1</c:f>
              <c:strCache>
                <c:ptCount val="4"/>
                <c:pt idx="0">
                  <c:v>Ötən tədris ili üzrə illik nəticə</c:v>
                </c:pt>
                <c:pt idx="1">
                  <c:v>"KSQ orta" orta illik</c:v>
                </c:pt>
                <c:pt idx="2">
                  <c:v>"BSQ" orta illik</c:v>
                </c:pt>
                <c:pt idx="3">
                  <c:v>İllik</c:v>
                </c:pt>
              </c:strCache>
            </c:strRef>
          </c:cat>
          <c:val>
            <c:numRef>
              <c:f>Sheet2!$B$2:$E$2</c:f>
              <c:numCache>
                <c:formatCode>General</c:formatCode>
                <c:ptCount val="4"/>
                <c:pt idx="0">
                  <c:v>51</c:v>
                </c:pt>
                <c:pt idx="1">
                  <c:v>52</c:v>
                </c:pt>
                <c:pt idx="2">
                  <c:v>54</c:v>
                </c:pt>
                <c:pt idx="3">
                  <c:v>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36-40F7-89C7-C7CFA42279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14823456"/>
        <c:axId val="314808064"/>
      </c:barChart>
      <c:catAx>
        <c:axId val="3148234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4808064"/>
        <c:crosses val="autoZero"/>
        <c:auto val="1"/>
        <c:lblAlgn val="ctr"/>
        <c:lblOffset val="100"/>
        <c:noMultiLvlLbl val="0"/>
      </c:catAx>
      <c:valAx>
        <c:axId val="3148080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48234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" y="7207624"/>
            <a:ext cx="9870141" cy="1498396"/>
          </a:xfrm>
        </p:spPr>
        <p:txBody>
          <a:bodyPr anchor="b">
            <a:no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az-Latn-AZ" dirty="0" smtClean="0"/>
              <a:t>Təhsil müəssisəsinin adı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3149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6055787" y="8122021"/>
            <a:ext cx="605118" cy="363071"/>
          </a:xfrm>
          <a:prstGeom prst="rect">
            <a:avLst/>
          </a:prstGeom>
        </p:spPr>
        <p:txBody>
          <a:bodyPr/>
          <a:lstStyle/>
          <a:p>
            <a:fld id="{10448487-1E9B-4B20-874E-B8434B5AF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9638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6055787" y="8122021"/>
            <a:ext cx="605118" cy="363071"/>
          </a:xfrm>
          <a:prstGeom prst="rect">
            <a:avLst/>
          </a:prstGeom>
        </p:spPr>
        <p:txBody>
          <a:bodyPr/>
          <a:lstStyle/>
          <a:p>
            <a:fld id="{10448487-1E9B-4B20-874E-B8434B5AF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0138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9194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8223" y="188447"/>
            <a:ext cx="11214848" cy="11024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8223" y="1480110"/>
            <a:ext cx="11214848" cy="78924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029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9" r:id="rId3"/>
    <p:sldLayoutId id="2147483681" r:id="rId4"/>
  </p:sldLayoutIdLst>
  <p:timing>
    <p:tnLst>
      <p:par>
        <p:cTn id="1" dur="indefinite" restart="never" nodeType="tmRoot"/>
      </p:par>
    </p:tnLst>
  </p:timing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Palatino Linotype" panose="02040502050505030304" pitchFamily="18" charset="0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chart" Target="../charts/char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7" Type="http://schemas.openxmlformats.org/officeDocument/2006/relationships/chart" Target="../charts/chart17.xml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16.xml"/><Relationship Id="rId5" Type="http://schemas.openxmlformats.org/officeDocument/2006/relationships/chart" Target="../charts/chart15.xml"/><Relationship Id="rId4" Type="http://schemas.openxmlformats.org/officeDocument/2006/relationships/chart" Target="../charts/char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22.xml"/><Relationship Id="rId4" Type="http://schemas.openxmlformats.org/officeDocument/2006/relationships/chart" Target="../charts/chart2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3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4470" y="7767935"/>
            <a:ext cx="995082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az-Latn-AZ" sz="5400" dirty="0" smtClean="0">
                <a:ln w="0"/>
                <a:solidFill>
                  <a:schemeClr val="bg1"/>
                </a:solidFill>
                <a:latin typeface="Palatino Linotype" panose="02040502050505030304" pitchFamily="18" charset="0"/>
              </a:rPr>
              <a:t>99 nömrəli tam orta məktəb</a:t>
            </a:r>
            <a:endParaRPr lang="en-US" sz="5400" b="0" cap="none" spc="0" dirty="0">
              <a:ln w="0"/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0761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67129" y="3827947"/>
            <a:ext cx="396688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z-Latn-AZ" sz="5400" b="0" cap="none" spc="0" dirty="0" smtClean="0">
                <a:ln w="0"/>
                <a:solidFill>
                  <a:schemeClr val="bg1"/>
                </a:solidFill>
                <a:latin typeface="Palatino Linotype" panose="02040502050505030304" pitchFamily="18" charset="0"/>
              </a:rPr>
              <a:t>Hesabatın strukturu</a:t>
            </a:r>
            <a:endParaRPr lang="en-US" sz="5400" b="0" cap="none" spc="0" dirty="0">
              <a:ln w="0"/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20271" y="147918"/>
            <a:ext cx="10972800" cy="9325630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pPr marL="857250" marR="0" lvl="0" indent="-857250" defTabSz="2106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az-Latn-AZ" sz="2400" noProof="0" dirty="0">
                <a:ln w="0"/>
                <a:latin typeface="Palatino Linotype" panose="02040502050505030304" pitchFamily="18" charset="0"/>
              </a:rPr>
              <a:t>Ümumi məlumat;</a:t>
            </a: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kumimoji="0" lang="az-Latn-AZ" sz="2400" b="0" u="none" strike="noStrike" kern="1200" cap="none" spc="0" normalizeH="0" baseline="0" dirty="0">
                <a:ln w="0"/>
                <a:effectLst/>
                <a:uLnTx/>
                <a:uFillTx/>
                <a:latin typeface="Palatino Linotype" panose="02040502050505030304" pitchFamily="18" charset="0"/>
              </a:rPr>
              <a:t>İnfrastruktur və maddi-texniki baza</a:t>
            </a:r>
            <a:r>
              <a:rPr lang="az-Latn-AZ" sz="2400" dirty="0">
                <a:ln w="0"/>
                <a:latin typeface="Palatino Linotype" panose="02040502050505030304" pitchFamily="18" charset="0"/>
              </a:rPr>
              <a:t>; </a:t>
            </a:r>
            <a:endParaRPr lang="az-Latn-AZ" sz="2400" dirty="0" smtClean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Təhsil </a:t>
            </a:r>
            <a:r>
              <a:rPr lang="az-Latn-AZ" sz="2400" dirty="0">
                <a:ln w="0"/>
                <a:latin typeface="Palatino Linotype" panose="02040502050505030304" pitchFamily="18" charset="0"/>
              </a:rPr>
              <a:t>müəssisəsinin heyəti; </a:t>
            </a:r>
            <a:endParaRPr lang="az-Latn-AZ" sz="2400" dirty="0" smtClean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Fənn </a:t>
            </a:r>
            <a:r>
              <a:rPr lang="az-Latn-AZ" sz="2400" dirty="0">
                <a:ln w="0"/>
                <a:latin typeface="Palatino Linotype" panose="02040502050505030304" pitchFamily="18" charset="0"/>
              </a:rPr>
              <a:t>müəllimlərinin </a:t>
            </a: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göstəriciləri</a:t>
            </a:r>
            <a:r>
              <a:rPr lang="az-Latn-AZ" sz="2400" dirty="0">
                <a:ln w="0"/>
                <a:latin typeface="Palatino Linotype" panose="02040502050505030304" pitchFamily="18" charset="0"/>
              </a:rPr>
              <a:t>; </a:t>
            </a:r>
            <a:endParaRPr lang="az-Latn-AZ" sz="2400" dirty="0" smtClean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>
                <a:ln w="0"/>
                <a:latin typeface="Palatino Linotype" panose="02040502050505030304" pitchFamily="18" charset="0"/>
              </a:rPr>
              <a:t>Təltiflər; </a:t>
            </a:r>
            <a:endParaRPr lang="az-Latn-AZ" sz="2400" dirty="0" smtClean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Müsabiqələr </a:t>
            </a:r>
            <a:r>
              <a:rPr lang="az-Latn-AZ" sz="2400" dirty="0">
                <a:ln w="0"/>
                <a:latin typeface="Palatino Linotype" panose="02040502050505030304" pitchFamily="18" charset="0"/>
              </a:rPr>
              <a:t>və peşəkar inkişaf; </a:t>
            </a:r>
            <a:endParaRPr lang="az-Latn-AZ" sz="2400" dirty="0" smtClean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Müəllimlərin </a:t>
            </a:r>
            <a:r>
              <a:rPr lang="az-Latn-AZ" sz="2400" dirty="0">
                <a:ln w="0"/>
                <a:latin typeface="Palatino Linotype" panose="02040502050505030304" pitchFamily="18" charset="0"/>
              </a:rPr>
              <a:t>yaş intervalları üzrə təhlili; </a:t>
            </a:r>
            <a:endParaRPr lang="az-Latn-AZ" sz="2400" dirty="0" smtClean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Müəllimlərin </a:t>
            </a:r>
            <a:r>
              <a:rPr lang="az-Latn-AZ" sz="2400" dirty="0">
                <a:ln w="0"/>
                <a:latin typeface="Palatino Linotype" panose="02040502050505030304" pitchFamily="18" charset="0"/>
              </a:rPr>
              <a:t>nəticə intervalları üzrə </a:t>
            </a: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təhlili;</a:t>
            </a: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>
                <a:ln w="0"/>
                <a:latin typeface="Palatino Linotype" panose="02040502050505030304" pitchFamily="18" charset="0"/>
              </a:rPr>
              <a:t>Dərsdinləmələr; </a:t>
            </a:r>
            <a:endParaRPr lang="az-Latn-AZ" sz="2400" dirty="0" smtClean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Sinif </a:t>
            </a:r>
            <a:r>
              <a:rPr lang="az-Latn-AZ" sz="2400" dirty="0">
                <a:ln w="0"/>
                <a:latin typeface="Palatino Linotype" panose="02040502050505030304" pitchFamily="18" charset="0"/>
              </a:rPr>
              <a:t>komplektlərinin </a:t>
            </a: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tərkibi;</a:t>
            </a: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>
                <a:ln w="0"/>
                <a:latin typeface="Palatino Linotype" panose="02040502050505030304" pitchFamily="18" charset="0"/>
              </a:rPr>
              <a:t>Oğlan və qızların paylanma </a:t>
            </a: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faizləri;</a:t>
            </a:r>
            <a:endParaRPr lang="az-Latn-AZ" sz="2400" dirty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Davamiyyət;</a:t>
            </a:r>
            <a:endParaRPr lang="az-Latn-AZ" sz="2400" dirty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>
                <a:ln w="0"/>
                <a:latin typeface="Palatino Linotype" panose="02040502050505030304" pitchFamily="18" charset="0"/>
              </a:rPr>
              <a:t>Respublika fənn </a:t>
            </a: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olimpiadaları və müsabiqələrin yekun nəticələri</a:t>
            </a:r>
            <a:endParaRPr lang="az-Latn-AZ" sz="2400" dirty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>
                <a:ln w="0"/>
                <a:latin typeface="Palatino Linotype" panose="02040502050505030304" pitchFamily="18" charset="0"/>
              </a:rPr>
              <a:t>IV siniflərin monitorinq </a:t>
            </a: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nəticələri;</a:t>
            </a:r>
            <a:endParaRPr lang="az-Latn-AZ" sz="2400" dirty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>
                <a:ln w="0"/>
                <a:latin typeface="Palatino Linotype" panose="02040502050505030304" pitchFamily="18" charset="0"/>
              </a:rPr>
              <a:t>IX siniflərin buraxılış imtahanı </a:t>
            </a: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nəticələri;</a:t>
            </a:r>
            <a:endParaRPr lang="az-Latn-AZ" sz="2400" dirty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>
                <a:ln w="0"/>
                <a:latin typeface="Palatino Linotype" panose="02040502050505030304" pitchFamily="18" charset="0"/>
              </a:rPr>
              <a:t>Fənlər üzrə </a:t>
            </a: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nəticələr;</a:t>
            </a: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Siniflər üzrə nəticələr;</a:t>
            </a:r>
            <a:endParaRPr lang="az-Latn-AZ" sz="2400" dirty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>
                <a:ln w="0"/>
                <a:latin typeface="Palatino Linotype" panose="02040502050505030304" pitchFamily="18" charset="0"/>
              </a:rPr>
              <a:t>Təhsil müəssisəsi üzrə nəticələr; </a:t>
            </a:r>
            <a:endParaRPr lang="az-Latn-AZ" sz="2400" dirty="0" smtClean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Kitabxana </a:t>
            </a:r>
            <a:r>
              <a:rPr lang="az-Latn-AZ" sz="2400" dirty="0">
                <a:ln w="0"/>
                <a:latin typeface="Palatino Linotype" panose="02040502050505030304" pitchFamily="18" charset="0"/>
              </a:rPr>
              <a:t>fəaliyyəti; </a:t>
            </a:r>
            <a:endParaRPr lang="az-Latn-AZ" sz="2400" dirty="0" smtClean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Həssas qruplar;</a:t>
            </a: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Sosial yönümlü fəaliyyətlər;</a:t>
            </a:r>
            <a:endParaRPr lang="az-Latn-AZ" sz="2400" dirty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>
                <a:ln w="0"/>
                <a:latin typeface="Palatino Linotype" panose="02040502050505030304" pitchFamily="18" charset="0"/>
              </a:rPr>
              <a:t>Təhsil müəssisəsində həyata keçirilən </a:t>
            </a: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layihələr;</a:t>
            </a:r>
            <a:endParaRPr lang="az-Latn-AZ" sz="2400" dirty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Uğurlarımız;</a:t>
            </a:r>
            <a:endParaRPr lang="az-Latn-AZ" sz="2400" dirty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>
                <a:ln w="0"/>
                <a:latin typeface="Palatino Linotype" panose="02040502050505030304" pitchFamily="18" charset="0"/>
              </a:rPr>
              <a:t>Təhsil </a:t>
            </a: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ehtiyacları;</a:t>
            </a:r>
            <a:endParaRPr lang="az-Latn-AZ" sz="2400" dirty="0">
              <a:ln w="0"/>
              <a:latin typeface="Palatino Linotype" panose="02040502050505030304" pitchFamily="18" charset="0"/>
            </a:endParaRPr>
          </a:p>
          <a:p>
            <a:pPr marL="857250" lvl="0" indent="-857250" defTabSz="2106687">
              <a:buFont typeface="Wingdings" panose="05000000000000000000" pitchFamily="2" charset="2"/>
              <a:buChar char="q"/>
              <a:defRPr/>
            </a:pPr>
            <a:r>
              <a:rPr lang="az-Latn-AZ" sz="2400" dirty="0">
                <a:ln w="0"/>
                <a:latin typeface="Palatino Linotype" panose="02040502050505030304" pitchFamily="18" charset="0"/>
              </a:rPr>
              <a:t>Növbəti tədris ili üçün əsas </a:t>
            </a:r>
            <a:r>
              <a:rPr lang="az-Latn-AZ" sz="2400" dirty="0" smtClean="0">
                <a:ln w="0"/>
                <a:latin typeface="Palatino Linotype" panose="02040502050505030304" pitchFamily="18" charset="0"/>
              </a:rPr>
              <a:t>hədəflər.</a:t>
            </a:r>
            <a:endParaRPr kumimoji="0" lang="az-Latn-AZ" sz="2400" b="0" u="none" strike="noStrike" kern="1200" cap="none" spc="0" normalizeH="0" baseline="0" dirty="0">
              <a:ln w="0"/>
              <a:effectLst/>
              <a:uLnTx/>
              <a:uFillTx/>
              <a:latin typeface="Palatino Linotype" panose="0204050205050503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z-Latn-AZ" sz="2000" dirty="0" smtClean="0">
                <a:ln w="0"/>
                <a:solidFill>
                  <a:schemeClr val="bg1"/>
                </a:solidFill>
                <a:latin typeface="Palatino Linotype" panose="02040502050505030304" pitchFamily="18" charset="0"/>
              </a:rPr>
              <a:t>99 nömrəli </a:t>
            </a:r>
          </a:p>
          <a:p>
            <a:pPr algn="ctr"/>
            <a:r>
              <a:rPr lang="az-Latn-AZ" sz="2000" dirty="0" smtClean="0">
                <a:ln w="0"/>
                <a:solidFill>
                  <a:schemeClr val="bg1"/>
                </a:solidFill>
                <a:latin typeface="Palatino Linotype" panose="02040502050505030304" pitchFamily="18" charset="0"/>
              </a:rPr>
              <a:t>tam orta məktəb</a:t>
            </a:r>
            <a:endParaRPr lang="en-US" sz="2000" b="0" cap="none" spc="0" dirty="0">
              <a:ln w="0"/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8825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67129" y="3827947"/>
            <a:ext cx="396688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54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Ümumi məlumat</a:t>
            </a:r>
            <a:endParaRPr kumimoji="0" lang="en-US" sz="5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68193"/>
              </p:ext>
            </p:extLst>
          </p:nvPr>
        </p:nvGraphicFramePr>
        <p:xfrm>
          <a:off x="645458" y="255496"/>
          <a:ext cx="11134166" cy="907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6024">
                  <a:extLst>
                    <a:ext uri="{9D8B030D-6E8A-4147-A177-3AD203B41FA5}">
                      <a16:colId xmlns:a16="http://schemas.microsoft.com/office/drawing/2014/main" val="3937737730"/>
                    </a:ext>
                  </a:extLst>
                </a:gridCol>
                <a:gridCol w="5298142">
                  <a:extLst>
                    <a:ext uri="{9D8B030D-6E8A-4147-A177-3AD203B41FA5}">
                      <a16:colId xmlns:a16="http://schemas.microsoft.com/office/drawing/2014/main" val="1833392715"/>
                    </a:ext>
                  </a:extLst>
                </a:gridCol>
              </a:tblGrid>
              <a:tr h="1134595"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Məktəb</a:t>
                      </a:r>
                      <a:r>
                        <a:rPr lang="az-Latn-AZ" sz="2400" b="1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binasının i</a:t>
                      </a:r>
                      <a:r>
                        <a:rPr lang="az-Latn-AZ" sz="2400" b="1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nşa olunduğu il</a:t>
                      </a:r>
                    </a:p>
                    <a:p>
                      <a:pPr algn="ctr"/>
                      <a:r>
                        <a:rPr lang="az-Latn-AZ" sz="2400" b="0" i="1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(məktəb</a:t>
                      </a:r>
                      <a:r>
                        <a:rPr lang="az-Latn-AZ" sz="2400" b="0" i="1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olaraq fəaliyyətə başladığı il)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1962</a:t>
                      </a:r>
                      <a:r>
                        <a:rPr lang="en-US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</a:t>
                      </a:r>
                      <a:endParaRPr lang="az-Latn-AZ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ctr"/>
                      <a:r>
                        <a:rPr lang="en-US" sz="2400" b="0" i="1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(</a:t>
                      </a:r>
                      <a:r>
                        <a:rPr lang="en-US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19</a:t>
                      </a:r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62</a:t>
                      </a:r>
                      <a:r>
                        <a:rPr lang="en-US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)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699064"/>
                  </a:ext>
                </a:extLst>
              </a:tr>
              <a:tr h="1134595"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Əsaslı təmir olunduğu il</a:t>
                      </a:r>
                      <a:endParaRPr lang="en-US" sz="2400" b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2007</a:t>
                      </a:r>
                      <a:endParaRPr lang="en-US" sz="2400" b="1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530885"/>
                  </a:ext>
                </a:extLst>
              </a:tr>
              <a:tr h="1134595"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Yeni</a:t>
                      </a:r>
                      <a:r>
                        <a:rPr lang="az-Latn-AZ" sz="2400" b="1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korpusların tikilmə ili</a:t>
                      </a:r>
                      <a:endParaRPr lang="en-US" sz="2400" b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2006</a:t>
                      </a:r>
                      <a:endParaRPr lang="en-US" sz="2400" b="1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4907644"/>
                  </a:ext>
                </a:extLst>
              </a:tr>
              <a:tr h="1134595"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Layihə üzrə</a:t>
                      </a:r>
                      <a:r>
                        <a:rPr lang="az-Latn-AZ" sz="2400" b="1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şagird yeri </a:t>
                      </a:r>
                    </a:p>
                    <a:p>
                      <a:pPr algn="ctr"/>
                      <a:r>
                        <a:rPr lang="az-Latn-AZ" sz="2400" b="0" i="1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(mövcud şagird sayı)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1200</a:t>
                      </a:r>
                      <a:endParaRPr lang="az-Latn-AZ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(1508)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5871437"/>
                  </a:ext>
                </a:extLst>
              </a:tr>
              <a:tr h="1134595"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Adını</a:t>
                      </a:r>
                      <a:r>
                        <a:rPr lang="az-Latn-AZ" sz="2400" b="1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daşıdığı şəxs </a:t>
                      </a:r>
                      <a:endParaRPr lang="en-US" sz="2400" b="1" baseline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ctr"/>
                      <a:r>
                        <a:rPr lang="en-US" sz="2400" b="0" i="1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(</a:t>
                      </a:r>
                      <a:r>
                        <a:rPr lang="az-Latn-AZ" sz="2400" b="0" i="1" baseline="0" noProof="1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ictimai </a:t>
                      </a:r>
                      <a:r>
                        <a:rPr lang="az-Latn-AZ" sz="2400" b="0" i="1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kimliyi</a:t>
                      </a:r>
                      <a:r>
                        <a:rPr lang="en-US" sz="2400" b="0" i="1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)</a:t>
                      </a:r>
                      <a:endParaRPr lang="az-Latn-AZ" sz="2400" b="0" i="1" baseline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Həsən</a:t>
                      </a:r>
                      <a:r>
                        <a:rPr lang="az-Latn-AZ" sz="2400" b="1" i="1" baseline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Cəbrayılov</a:t>
                      </a:r>
                      <a:endParaRPr lang="en-US" sz="2400" b="1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(Böyük</a:t>
                      </a:r>
                      <a:r>
                        <a:rPr lang="az-Latn-AZ" sz="2400" b="0" i="1" baseline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Vətən müharibəsi qəhrəmanı)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8238136"/>
                  </a:ext>
                </a:extLst>
              </a:tr>
              <a:tr h="1134595"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Direktor </a:t>
                      </a:r>
                    </a:p>
                    <a:p>
                      <a:pPr algn="ctr"/>
                      <a:r>
                        <a:rPr lang="az-Latn-AZ" sz="2400" b="0" i="1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(fəaliyyət ili)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i="1" baseline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Məmmədova Ofelya Həsən qızı</a:t>
                      </a:r>
                      <a:endParaRPr lang="az-Latn-AZ" sz="2400" b="1" i="1" baseline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pPr algn="ctr"/>
                      <a:r>
                        <a:rPr lang="az-Latn-AZ" sz="2400" b="0" i="1" baseline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(13 </a:t>
                      </a:r>
                      <a:r>
                        <a:rPr lang="az-Latn-AZ" sz="2400" b="0" i="1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il)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8755151"/>
                  </a:ext>
                </a:extLst>
              </a:tr>
              <a:tr h="1134595"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Məktəbin ünvanı</a:t>
                      </a:r>
                    </a:p>
                    <a:p>
                      <a:pPr algn="ctr"/>
                      <a:r>
                        <a:rPr lang="az-Latn-AZ" sz="2400" b="0" i="1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(rayon, qəsəbə, küçə və s.)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i="1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Binəqədi</a:t>
                      </a:r>
                      <a:r>
                        <a:rPr lang="az-Latn-AZ" sz="2400" b="1" i="1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rayonu, </a:t>
                      </a:r>
                      <a:r>
                        <a:rPr lang="az-Latn-AZ" sz="2400" b="1" i="1" baseline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Azadlıq pr.193</a:t>
                      </a:r>
                      <a:endParaRPr lang="en-US" sz="2400" b="1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1335253"/>
                  </a:ext>
                </a:extLst>
              </a:tr>
              <a:tr h="1134595"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Məktəbin</a:t>
                      </a:r>
                      <a:r>
                        <a:rPr lang="az-Latn-AZ" sz="2400" b="1" i="0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növbəliliyi</a:t>
                      </a:r>
                      <a:endParaRPr lang="en-US" sz="24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</a:t>
                      </a:r>
                      <a:endParaRPr lang="en-US" sz="2400" b="1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7827778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z-Latn-AZ" sz="2000" dirty="0" smtClean="0">
                <a:ln w="0"/>
                <a:solidFill>
                  <a:schemeClr val="bg1"/>
                </a:solidFill>
                <a:latin typeface="Palatino Linotype" panose="02040502050505030304" pitchFamily="18" charset="0"/>
              </a:rPr>
              <a:t>99 nömrəli </a:t>
            </a:r>
          </a:p>
          <a:p>
            <a:pPr algn="ctr"/>
            <a:r>
              <a:rPr lang="az-Latn-AZ" sz="2000" dirty="0" smtClean="0">
                <a:ln w="0"/>
                <a:solidFill>
                  <a:schemeClr val="bg1"/>
                </a:solidFill>
                <a:latin typeface="Palatino Linotype" panose="02040502050505030304" pitchFamily="18" charset="0"/>
              </a:rPr>
              <a:t>tam orta məktəb</a:t>
            </a:r>
            <a:endParaRPr lang="en-US" sz="2000" b="0" cap="none" spc="0" dirty="0">
              <a:ln w="0"/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134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67129" y="3827947"/>
            <a:ext cx="3966880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4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İnfrastruktur və maddi-texniki baza</a:t>
            </a:r>
            <a:endParaRPr kumimoji="0" lang="en-US" sz="4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8164869"/>
              </p:ext>
            </p:extLst>
          </p:nvPr>
        </p:nvGraphicFramePr>
        <p:xfrm>
          <a:off x="645458" y="271699"/>
          <a:ext cx="11107273" cy="9051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21824">
                  <a:extLst>
                    <a:ext uri="{9D8B030D-6E8A-4147-A177-3AD203B41FA5}">
                      <a16:colId xmlns:a16="http://schemas.microsoft.com/office/drawing/2014/main" val="3937737730"/>
                    </a:ext>
                  </a:extLst>
                </a:gridCol>
                <a:gridCol w="1528483">
                  <a:extLst>
                    <a:ext uri="{9D8B030D-6E8A-4147-A177-3AD203B41FA5}">
                      <a16:colId xmlns:a16="http://schemas.microsoft.com/office/drawing/2014/main" val="1833392715"/>
                    </a:ext>
                  </a:extLst>
                </a:gridCol>
                <a:gridCol w="1528483">
                  <a:extLst>
                    <a:ext uri="{9D8B030D-6E8A-4147-A177-3AD203B41FA5}">
                      <a16:colId xmlns:a16="http://schemas.microsoft.com/office/drawing/2014/main" val="652883295"/>
                    </a:ext>
                  </a:extLst>
                </a:gridCol>
                <a:gridCol w="1528483">
                  <a:extLst>
                    <a:ext uri="{9D8B030D-6E8A-4147-A177-3AD203B41FA5}">
                      <a16:colId xmlns:a16="http://schemas.microsoft.com/office/drawing/2014/main" val="1400997819"/>
                    </a:ext>
                  </a:extLst>
                </a:gridCol>
              </a:tblGrid>
              <a:tr h="807892">
                <a:tc>
                  <a:txBody>
                    <a:bodyPr/>
                    <a:lstStyle/>
                    <a:p>
                      <a:pPr algn="ctr"/>
                      <a:endParaRPr lang="en-US" sz="2400" b="1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Ümumi</a:t>
                      </a:r>
                      <a:endParaRPr lang="en-US" sz="24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İşlək</a:t>
                      </a:r>
                      <a:endParaRPr lang="en-US" sz="24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Qeyri</a:t>
                      </a:r>
                      <a:r>
                        <a:rPr lang="az-Latn-AZ" sz="2400" b="0" i="0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-işlək</a:t>
                      </a:r>
                      <a:endParaRPr lang="en-US" sz="24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9171492"/>
                  </a:ext>
                </a:extLst>
              </a:tr>
              <a:tr h="748048">
                <a:tc>
                  <a:txBody>
                    <a:bodyPr/>
                    <a:lstStyle/>
                    <a:p>
                      <a:pPr algn="l"/>
                      <a:r>
                        <a:rPr lang="az-Latn-AZ" sz="32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Sinif</a:t>
                      </a:r>
                      <a:r>
                        <a:rPr lang="az-Latn-AZ" sz="3200" b="0" i="0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otaqlarının sayı</a:t>
                      </a:r>
                      <a:endParaRPr lang="en-US" sz="32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74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69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5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699064"/>
                  </a:ext>
                </a:extLst>
              </a:tr>
              <a:tr h="748048">
                <a:tc>
                  <a:txBody>
                    <a:bodyPr/>
                    <a:lstStyle/>
                    <a:p>
                      <a:pPr algn="l"/>
                      <a:r>
                        <a:rPr lang="az-Latn-AZ" sz="32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Fənn</a:t>
                      </a:r>
                      <a:r>
                        <a:rPr lang="az-Latn-AZ" sz="3200" b="0" i="0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l</a:t>
                      </a:r>
                      <a:r>
                        <a:rPr lang="az-Latn-AZ" sz="32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aboratoriyalarının sayı</a:t>
                      </a:r>
                      <a:endParaRPr lang="en-US" sz="32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0</a:t>
                      </a:r>
                      <a:endParaRPr lang="en-US" sz="2400" b="1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0</a:t>
                      </a:r>
                      <a:endParaRPr lang="en-US" sz="2400" b="1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0</a:t>
                      </a:r>
                      <a:endParaRPr lang="en-US" sz="2400" b="1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530885"/>
                  </a:ext>
                </a:extLst>
              </a:tr>
              <a:tr h="748048">
                <a:tc>
                  <a:txBody>
                    <a:bodyPr/>
                    <a:lstStyle/>
                    <a:p>
                      <a:pPr algn="l"/>
                      <a:r>
                        <a:rPr lang="az-Latn-AZ" sz="32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STEAM </a:t>
                      </a:r>
                      <a:r>
                        <a:rPr lang="az-Latn-AZ" sz="3200" b="0" i="0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l</a:t>
                      </a:r>
                      <a:r>
                        <a:rPr lang="az-Latn-AZ" sz="32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aboratoriyalarının sayı</a:t>
                      </a:r>
                      <a:endParaRPr lang="en-US" sz="32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</a:t>
                      </a:r>
                      <a:endParaRPr lang="en-US" sz="2400" b="1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0</a:t>
                      </a:r>
                      <a:endParaRPr lang="en-US" sz="2400" b="1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1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0</a:t>
                      </a:r>
                      <a:endParaRPr lang="en-US" sz="2400" b="1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4907644"/>
                  </a:ext>
                </a:extLst>
              </a:tr>
              <a:tr h="748048">
                <a:tc>
                  <a:txBody>
                    <a:bodyPr/>
                    <a:lstStyle/>
                    <a:p>
                      <a:pPr algn="l"/>
                      <a:r>
                        <a:rPr lang="az-Latn-AZ" sz="32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Kompüter otaqlarının sayı</a:t>
                      </a:r>
                      <a:endParaRPr lang="en-US" sz="32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4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4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0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5871437"/>
                  </a:ext>
                </a:extLst>
              </a:tr>
              <a:tr h="748048">
                <a:tc>
                  <a:txBody>
                    <a:bodyPr/>
                    <a:lstStyle/>
                    <a:p>
                      <a:pPr algn="l"/>
                      <a:r>
                        <a:rPr lang="az-Latn-AZ" sz="3200" b="0" i="0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Kömpüterlərin sayı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134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119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15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8238136"/>
                  </a:ext>
                </a:extLst>
              </a:tr>
              <a:tr h="748048">
                <a:tc>
                  <a:txBody>
                    <a:bodyPr/>
                    <a:lstStyle/>
                    <a:p>
                      <a:pPr algn="l"/>
                      <a:r>
                        <a:rPr lang="az-Latn-AZ" sz="32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Laboratoriya</a:t>
                      </a:r>
                      <a:r>
                        <a:rPr lang="az-Latn-AZ" sz="3200" b="0" i="0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dəstlərinin sayı</a:t>
                      </a:r>
                      <a:endParaRPr lang="en-US" sz="32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0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0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0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8755151"/>
                  </a:ext>
                </a:extLst>
              </a:tr>
              <a:tr h="748048">
                <a:tc>
                  <a:txBody>
                    <a:bodyPr/>
                    <a:lstStyle/>
                    <a:p>
                      <a:pPr algn="l"/>
                      <a:r>
                        <a:rPr lang="az-Latn-AZ" sz="32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Elektron lövhələrin sayı</a:t>
                      </a:r>
                      <a:endParaRPr lang="en-US" sz="32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22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21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1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2662341"/>
                  </a:ext>
                </a:extLst>
              </a:tr>
              <a:tr h="748048">
                <a:tc>
                  <a:txBody>
                    <a:bodyPr/>
                    <a:lstStyle/>
                    <a:p>
                      <a:pPr algn="l"/>
                      <a:r>
                        <a:rPr lang="az-Latn-AZ" sz="32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Proyektorların sayı</a:t>
                      </a:r>
                      <a:endParaRPr lang="en-US" sz="32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27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23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4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4719244"/>
                  </a:ext>
                </a:extLst>
              </a:tr>
              <a:tr h="748048">
                <a:tc>
                  <a:txBody>
                    <a:bodyPr/>
                    <a:lstStyle/>
                    <a:p>
                      <a:pPr algn="l"/>
                      <a:r>
                        <a:rPr lang="az-Latn-AZ" sz="32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Printerlərin sayı</a:t>
                      </a:r>
                      <a:endParaRPr lang="en-US" sz="32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8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3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5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0963760"/>
                  </a:ext>
                </a:extLst>
              </a:tr>
              <a:tr h="748048">
                <a:tc>
                  <a:txBody>
                    <a:bodyPr/>
                    <a:lstStyle/>
                    <a:p>
                      <a:pPr algn="l"/>
                      <a:r>
                        <a:rPr lang="az-Latn-AZ" sz="32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az-Latn-AZ" sz="3200" b="0" i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Sürətçıxaran</a:t>
                      </a:r>
                      <a:r>
                        <a:rPr lang="az-Latn-AZ" sz="3200" b="0" i="0" baseline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az-Latn-AZ" sz="3200" b="0" i="0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aparatlarının sayı</a:t>
                      </a:r>
                      <a:endParaRPr lang="en-US" sz="32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4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1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3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6214397"/>
                  </a:ext>
                </a:extLst>
              </a:tr>
              <a:tr h="748048">
                <a:tc>
                  <a:txBody>
                    <a:bodyPr/>
                    <a:lstStyle/>
                    <a:p>
                      <a:pPr algn="l"/>
                      <a:r>
                        <a:rPr lang="az-Latn-AZ" sz="3200" b="0" i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Elektron dərsliklərin sayı</a:t>
                      </a:r>
                      <a:endParaRPr lang="en-US" sz="3200" b="0" i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4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0</a:t>
                      </a:r>
                      <a:endParaRPr lang="en-US" sz="24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9736019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z-Latn-AZ" sz="2000" dirty="0" smtClean="0">
                <a:ln w="0"/>
                <a:solidFill>
                  <a:schemeClr val="bg1"/>
                </a:solidFill>
                <a:latin typeface="Palatino Linotype" panose="02040502050505030304" pitchFamily="18" charset="0"/>
              </a:rPr>
              <a:t>99 nömrəli </a:t>
            </a:r>
          </a:p>
          <a:p>
            <a:pPr algn="ctr"/>
            <a:r>
              <a:rPr lang="az-Latn-AZ" sz="2000" dirty="0" smtClean="0">
                <a:ln w="0"/>
                <a:solidFill>
                  <a:schemeClr val="bg1"/>
                </a:solidFill>
                <a:latin typeface="Palatino Linotype" panose="02040502050505030304" pitchFamily="18" charset="0"/>
              </a:rPr>
              <a:t>tam orta məktəb</a:t>
            </a:r>
            <a:endParaRPr lang="en-US" sz="2000" b="0" cap="none" spc="0" dirty="0">
              <a:ln w="0"/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4055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67129" y="3827947"/>
            <a:ext cx="3966880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z-Latn-AZ" sz="4400" b="0" cap="none" spc="0" dirty="0" smtClean="0">
                <a:ln w="0"/>
                <a:solidFill>
                  <a:schemeClr val="bg1"/>
                </a:solidFill>
                <a:latin typeface="Palatino Linotype" panose="02040502050505030304" pitchFamily="18" charset="0"/>
              </a:rPr>
              <a:t>Təhsil müəssisəsinin heyəti</a:t>
            </a:r>
            <a:endParaRPr lang="en-US" sz="4400" b="0" cap="none" spc="0" dirty="0">
              <a:ln w="0"/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z-Latn-AZ" sz="2000" dirty="0" smtClean="0">
                <a:ln w="0"/>
                <a:solidFill>
                  <a:schemeClr val="bg1"/>
                </a:solidFill>
                <a:latin typeface="Palatino Linotype" panose="02040502050505030304" pitchFamily="18" charset="0"/>
              </a:rPr>
              <a:t>99 nömrəli </a:t>
            </a:r>
          </a:p>
          <a:p>
            <a:pPr algn="ctr"/>
            <a:r>
              <a:rPr lang="az-Latn-AZ" sz="2000" dirty="0" smtClean="0">
                <a:ln w="0"/>
                <a:solidFill>
                  <a:schemeClr val="bg1"/>
                </a:solidFill>
                <a:latin typeface="Palatino Linotype" panose="02040502050505030304" pitchFamily="18" charset="0"/>
              </a:rPr>
              <a:t>tam orta məktəb</a:t>
            </a:r>
            <a:endParaRPr lang="en-US" sz="2000" b="0" cap="none" spc="0" dirty="0">
              <a:ln w="0"/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766483" y="397970"/>
            <a:ext cx="5069541" cy="2950348"/>
            <a:chOff x="4541260" y="3742435"/>
            <a:chExt cx="10367017" cy="5662718"/>
          </a:xfrm>
        </p:grpSpPr>
        <p:grpSp>
          <p:nvGrpSpPr>
            <p:cNvPr id="5" name="Group 4"/>
            <p:cNvGrpSpPr/>
            <p:nvPr/>
          </p:nvGrpSpPr>
          <p:grpSpPr>
            <a:xfrm>
              <a:off x="4541260" y="3742435"/>
              <a:ext cx="3978875" cy="5662718"/>
              <a:chOff x="5042141" y="4539304"/>
              <a:chExt cx="3978875" cy="5662718"/>
            </a:xfrm>
          </p:grpSpPr>
          <p:grpSp>
            <p:nvGrpSpPr>
              <p:cNvPr id="12" name="Group 11"/>
              <p:cNvGrpSpPr/>
              <p:nvPr/>
            </p:nvGrpSpPr>
            <p:grpSpPr>
              <a:xfrm>
                <a:off x="5042141" y="4539304"/>
                <a:ext cx="3978875" cy="5662718"/>
                <a:chOff x="7513492" y="3974952"/>
                <a:chExt cx="3978875" cy="5662718"/>
              </a:xfrm>
            </p:grpSpPr>
            <p:sp>
              <p:nvSpPr>
                <p:cNvPr id="14" name="Rectangle 13"/>
                <p:cNvSpPr/>
                <p:nvPr/>
              </p:nvSpPr>
              <p:spPr>
                <a:xfrm>
                  <a:off x="7747188" y="3974952"/>
                  <a:ext cx="3511479" cy="88609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az-Latn-AZ" sz="2400" dirty="0">
                      <a:ln w="0"/>
                      <a:latin typeface="Palatino Linotype" panose="02040502050505030304" pitchFamily="18" charset="0"/>
                    </a:rPr>
                    <a:t>Müəllimlər</a:t>
                  </a:r>
                  <a:endParaRPr lang="en-US" sz="2400" dirty="0">
                    <a:ln w="0"/>
                    <a:latin typeface="Palatino Linotype" panose="02040502050505030304" pitchFamily="18" charset="0"/>
                  </a:endParaRPr>
                </a:p>
              </p:txBody>
            </p:sp>
            <p:sp>
              <p:nvSpPr>
                <p:cNvPr id="15" name="Rounded Rectangle 14"/>
                <p:cNvSpPr/>
                <p:nvPr/>
              </p:nvSpPr>
              <p:spPr>
                <a:xfrm>
                  <a:off x="7513492" y="4793821"/>
                  <a:ext cx="3978875" cy="4843849"/>
                </a:xfrm>
                <a:prstGeom prst="roundRect">
                  <a:avLst/>
                </a:prstGeom>
                <a:solidFill>
                  <a:srgbClr val="92D050">
                    <a:alpha val="20000"/>
                  </a:srgbClr>
                </a:solidFill>
                <a:ln>
                  <a:solidFill>
                    <a:srgbClr val="9BBC2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16" name="Rectangle 15"/>
                <p:cNvSpPr/>
                <p:nvPr/>
              </p:nvSpPr>
              <p:spPr>
                <a:xfrm>
                  <a:off x="7834060" y="8379134"/>
                  <a:ext cx="3337741" cy="100423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az-Latn-AZ" sz="2800" dirty="0" smtClean="0">
                      <a:ln w="0"/>
                      <a:latin typeface="Palatino Linotype" panose="02040502050505030304" pitchFamily="18" charset="0"/>
                    </a:rPr>
                    <a:t>136 </a:t>
                  </a:r>
                  <a:r>
                    <a:rPr lang="az-Latn-AZ" sz="2800" dirty="0">
                      <a:ln w="0"/>
                      <a:latin typeface="Palatino Linotype" panose="02040502050505030304" pitchFamily="18" charset="0"/>
                    </a:rPr>
                    <a:t>nəfər</a:t>
                  </a:r>
                  <a:endParaRPr lang="en-US" sz="2800" dirty="0">
                    <a:ln w="0"/>
                    <a:latin typeface="Palatino Linotype" panose="02040502050505030304" pitchFamily="18" charset="0"/>
                  </a:endParaRPr>
                </a:p>
              </p:txBody>
            </p:sp>
          </p:grpSp>
          <p:pic>
            <p:nvPicPr>
              <p:cNvPr id="13" name="Picture 12"/>
              <p:cNvPicPr>
                <a:picLocks noChangeAspect="1"/>
              </p:cNvPicPr>
              <p:nvPr/>
            </p:nvPicPr>
            <p:blipFill>
              <a:blip r:embed="rId2" cstate="print">
                <a:clrChange>
                  <a:clrFrom>
                    <a:srgbClr val="F7F7F7"/>
                  </a:clrFrom>
                  <a:clrTo>
                    <a:srgbClr val="F7F7F7">
                      <a:alpha val="0"/>
                    </a:srgbClr>
                  </a:clrTo>
                </a:clrChange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harpenSoften amount="5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98886" y="5728463"/>
                <a:ext cx="3922130" cy="2927916"/>
              </a:xfrm>
              <a:prstGeom prst="rect">
                <a:avLst/>
              </a:prstGeom>
            </p:spPr>
          </p:pic>
        </p:grpSp>
        <p:sp>
          <p:nvSpPr>
            <p:cNvPr id="6" name="Rounded Rectangle 5"/>
            <p:cNvSpPr/>
            <p:nvPr/>
          </p:nvSpPr>
          <p:spPr>
            <a:xfrm>
              <a:off x="9019420" y="4561304"/>
              <a:ext cx="2694786" cy="1378091"/>
            </a:xfrm>
            <a:prstGeom prst="roundRect">
              <a:avLst/>
            </a:prstGeom>
            <a:solidFill>
              <a:srgbClr val="92D050">
                <a:alpha val="20000"/>
              </a:srgbClr>
            </a:solidFill>
            <a:ln>
              <a:solidFill>
                <a:srgbClr val="9BBC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28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Qadın</a:t>
              </a:r>
              <a:endParaRPr lang="en-US" sz="2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2213491" y="4561304"/>
              <a:ext cx="2694786" cy="1378091"/>
            </a:xfrm>
            <a:prstGeom prst="roundRect">
              <a:avLst/>
            </a:prstGeom>
            <a:solidFill>
              <a:srgbClr val="92D050">
                <a:alpha val="20000"/>
              </a:srgbClr>
            </a:solidFill>
            <a:ln>
              <a:solidFill>
                <a:srgbClr val="9BBC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28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Kişi</a:t>
              </a:r>
              <a:endParaRPr lang="en-US" sz="2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9019420" y="6294183"/>
              <a:ext cx="2694786" cy="1378091"/>
            </a:xfrm>
            <a:prstGeom prst="roundRect">
              <a:avLst/>
            </a:prstGeom>
            <a:solidFill>
              <a:srgbClr val="92D050">
                <a:alpha val="20000"/>
              </a:srgbClr>
            </a:solidFill>
            <a:ln>
              <a:solidFill>
                <a:srgbClr val="9BBC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2800" dirty="0" smtClean="0">
                  <a:solidFill>
                    <a:schemeClr val="tx1"/>
                  </a:solidFill>
                  <a:latin typeface="Palatino Linotype" panose="02040502050505030304" pitchFamily="18" charset="0"/>
                </a:rPr>
                <a:t>125</a:t>
              </a:r>
              <a:endParaRPr lang="en-US" sz="2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2213491" y="6294183"/>
              <a:ext cx="2694786" cy="1378091"/>
            </a:xfrm>
            <a:prstGeom prst="roundRect">
              <a:avLst/>
            </a:prstGeom>
            <a:solidFill>
              <a:srgbClr val="92D050">
                <a:alpha val="20000"/>
              </a:srgbClr>
            </a:solidFill>
            <a:ln>
              <a:solidFill>
                <a:srgbClr val="9BBC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2800" dirty="0" smtClean="0">
                  <a:solidFill>
                    <a:schemeClr val="tx1"/>
                  </a:solidFill>
                  <a:latin typeface="Palatino Linotype" panose="02040502050505030304" pitchFamily="18" charset="0"/>
                </a:rPr>
                <a:t>11</a:t>
              </a:r>
              <a:endParaRPr lang="en-US" sz="2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9019420" y="8027062"/>
              <a:ext cx="2694786" cy="1378091"/>
            </a:xfrm>
            <a:prstGeom prst="roundRect">
              <a:avLst/>
            </a:prstGeom>
            <a:solidFill>
              <a:srgbClr val="92D050">
                <a:alpha val="20000"/>
              </a:srgbClr>
            </a:solidFill>
            <a:ln>
              <a:solidFill>
                <a:srgbClr val="9BBC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2800" dirty="0" smtClean="0">
                  <a:solidFill>
                    <a:schemeClr val="tx1"/>
                  </a:solidFill>
                  <a:latin typeface="Palatino Linotype" panose="02040502050505030304" pitchFamily="18" charset="0"/>
                </a:rPr>
                <a:t>92%</a:t>
              </a:r>
              <a:endParaRPr lang="en-US" sz="2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2213491" y="8027062"/>
              <a:ext cx="2694786" cy="1378091"/>
            </a:xfrm>
            <a:prstGeom prst="roundRect">
              <a:avLst/>
            </a:prstGeom>
            <a:solidFill>
              <a:srgbClr val="92D050">
                <a:alpha val="20000"/>
              </a:srgbClr>
            </a:solidFill>
            <a:ln>
              <a:solidFill>
                <a:srgbClr val="9BBC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28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8</a:t>
              </a:r>
              <a:r>
                <a:rPr lang="az-Latn-AZ" sz="2800" dirty="0" smtClean="0">
                  <a:solidFill>
                    <a:schemeClr val="tx1"/>
                  </a:solidFill>
                  <a:latin typeface="Palatino Linotype" panose="02040502050505030304" pitchFamily="18" charset="0"/>
                </a:rPr>
                <a:t>%</a:t>
              </a:r>
              <a:endParaRPr lang="en-US" sz="2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533681" y="397970"/>
            <a:ext cx="5130475" cy="2953512"/>
            <a:chOff x="4408855" y="11088386"/>
            <a:chExt cx="10499421" cy="5662718"/>
          </a:xfrm>
        </p:grpSpPr>
        <p:grpSp>
          <p:nvGrpSpPr>
            <p:cNvPr id="18" name="Group 17"/>
            <p:cNvGrpSpPr/>
            <p:nvPr/>
          </p:nvGrpSpPr>
          <p:grpSpPr>
            <a:xfrm>
              <a:off x="4408855" y="11088386"/>
              <a:ext cx="4243677" cy="5662718"/>
              <a:chOff x="4909734" y="11187241"/>
              <a:chExt cx="4243677" cy="5662718"/>
            </a:xfrm>
          </p:grpSpPr>
          <p:grpSp>
            <p:nvGrpSpPr>
              <p:cNvPr id="25" name="Group 24"/>
              <p:cNvGrpSpPr/>
              <p:nvPr/>
            </p:nvGrpSpPr>
            <p:grpSpPr>
              <a:xfrm>
                <a:off x="4909734" y="11187241"/>
                <a:ext cx="4243677" cy="5662718"/>
                <a:chOff x="7381087" y="3974952"/>
                <a:chExt cx="4243677" cy="5662718"/>
              </a:xfrm>
            </p:grpSpPr>
            <p:sp>
              <p:nvSpPr>
                <p:cNvPr id="27" name="Rectangle 26"/>
                <p:cNvSpPr/>
                <p:nvPr/>
              </p:nvSpPr>
              <p:spPr>
                <a:xfrm>
                  <a:off x="7381087" y="3974952"/>
                  <a:ext cx="4243677" cy="88514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az-Latn-AZ" sz="2400" dirty="0">
                      <a:ln w="0"/>
                      <a:latin typeface="Palatino Linotype" panose="02040502050505030304" pitchFamily="18" charset="0"/>
                    </a:rPr>
                    <a:t>Texniki işçilər</a:t>
                  </a:r>
                  <a:endParaRPr lang="en-US" sz="2400" dirty="0">
                    <a:ln w="0"/>
                    <a:latin typeface="Palatino Linotype" panose="02040502050505030304" pitchFamily="18" charset="0"/>
                  </a:endParaRPr>
                </a:p>
              </p:txBody>
            </p:sp>
            <p:sp>
              <p:nvSpPr>
                <p:cNvPr id="28" name="Rounded Rectangle 27"/>
                <p:cNvSpPr/>
                <p:nvPr/>
              </p:nvSpPr>
              <p:spPr>
                <a:xfrm>
                  <a:off x="7513492" y="4793821"/>
                  <a:ext cx="3978875" cy="4843849"/>
                </a:xfrm>
                <a:prstGeom prst="roundRect">
                  <a:avLst/>
                </a:prstGeom>
                <a:solidFill>
                  <a:srgbClr val="FFC000">
                    <a:alpha val="20000"/>
                  </a:srgbClr>
                </a:solidFill>
                <a:ln>
                  <a:solidFill>
                    <a:schemeClr val="accent4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29" name="Rectangle 28"/>
                <p:cNvSpPr/>
                <p:nvPr/>
              </p:nvSpPr>
              <p:spPr>
                <a:xfrm>
                  <a:off x="8016523" y="8379137"/>
                  <a:ext cx="2972804" cy="100316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az-Latn-AZ" sz="2800" dirty="0" smtClean="0">
                      <a:ln w="0"/>
                      <a:latin typeface="Palatino Linotype" panose="02040502050505030304" pitchFamily="18" charset="0"/>
                    </a:rPr>
                    <a:t>30 </a:t>
                  </a:r>
                  <a:r>
                    <a:rPr lang="az-Latn-AZ" sz="2800" dirty="0">
                      <a:ln w="0"/>
                      <a:latin typeface="Palatino Linotype" panose="02040502050505030304" pitchFamily="18" charset="0"/>
                    </a:rPr>
                    <a:t>nəfər</a:t>
                  </a:r>
                  <a:endParaRPr lang="en-US" sz="2800" dirty="0">
                    <a:ln w="0"/>
                    <a:latin typeface="Palatino Linotype" panose="02040502050505030304" pitchFamily="18" charset="0"/>
                  </a:endParaRPr>
                </a:p>
              </p:txBody>
            </p:sp>
          </p:grpSp>
          <p:pic>
            <p:nvPicPr>
              <p:cNvPr id="26" name="Picture 25"/>
              <p:cNvPicPr>
                <a:picLocks noChangeAspect="1"/>
              </p:cNvPicPr>
              <p:nvPr/>
            </p:nvPicPr>
            <p:blipFill>
              <a:blip r:embed="rId4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66886" y="12244014"/>
                <a:ext cx="3129383" cy="3129383"/>
              </a:xfrm>
              <a:prstGeom prst="rect">
                <a:avLst/>
              </a:prstGeom>
            </p:spPr>
          </p:pic>
        </p:grpSp>
        <p:sp>
          <p:nvSpPr>
            <p:cNvPr id="19" name="Rounded Rectangle 18"/>
            <p:cNvSpPr/>
            <p:nvPr/>
          </p:nvSpPr>
          <p:spPr>
            <a:xfrm>
              <a:off x="9019419" y="11907255"/>
              <a:ext cx="2694786" cy="1378091"/>
            </a:xfrm>
            <a:prstGeom prst="roundRect">
              <a:avLst/>
            </a:prstGeom>
            <a:solidFill>
              <a:srgbClr val="FFC000">
                <a:alpha val="20000"/>
              </a:srgb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28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Qadın</a:t>
              </a:r>
              <a:endParaRPr lang="en-US" sz="2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2213490" y="11907255"/>
              <a:ext cx="2694786" cy="1378091"/>
            </a:xfrm>
            <a:prstGeom prst="roundRect">
              <a:avLst/>
            </a:prstGeom>
            <a:solidFill>
              <a:srgbClr val="FFC000">
                <a:alpha val="20000"/>
              </a:srgb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28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Kişi</a:t>
              </a:r>
              <a:endParaRPr lang="en-US" sz="2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9019419" y="13640134"/>
              <a:ext cx="2694786" cy="1378091"/>
            </a:xfrm>
            <a:prstGeom prst="roundRect">
              <a:avLst/>
            </a:prstGeom>
            <a:solidFill>
              <a:srgbClr val="FFC000">
                <a:alpha val="20000"/>
              </a:srgb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2800" dirty="0" smtClean="0">
                  <a:solidFill>
                    <a:schemeClr val="tx1"/>
                  </a:solidFill>
                  <a:latin typeface="Palatino Linotype" panose="02040502050505030304" pitchFamily="18" charset="0"/>
                </a:rPr>
                <a:t>25</a:t>
              </a:r>
              <a:endParaRPr lang="en-US" sz="2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12213490" y="13640134"/>
              <a:ext cx="2694786" cy="1378091"/>
            </a:xfrm>
            <a:prstGeom prst="roundRect">
              <a:avLst/>
            </a:prstGeom>
            <a:solidFill>
              <a:srgbClr val="FFC000">
                <a:alpha val="20000"/>
              </a:srgb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28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5</a:t>
              </a:r>
              <a:endParaRPr lang="en-US" sz="2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9019419" y="15373013"/>
              <a:ext cx="2694786" cy="1378091"/>
            </a:xfrm>
            <a:prstGeom prst="roundRect">
              <a:avLst/>
            </a:prstGeom>
            <a:solidFill>
              <a:srgbClr val="FFC000">
                <a:alpha val="20000"/>
              </a:srgb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2800" dirty="0" smtClean="0">
                  <a:solidFill>
                    <a:schemeClr val="tx1"/>
                  </a:solidFill>
                  <a:latin typeface="Palatino Linotype" panose="02040502050505030304" pitchFamily="18" charset="0"/>
                </a:rPr>
                <a:t>83%</a:t>
              </a:r>
              <a:endParaRPr lang="en-US" sz="2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2213490" y="15373013"/>
              <a:ext cx="2694786" cy="1378091"/>
            </a:xfrm>
            <a:prstGeom prst="roundRect">
              <a:avLst/>
            </a:prstGeom>
            <a:solidFill>
              <a:srgbClr val="FFC000">
                <a:alpha val="20000"/>
              </a:srgb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2800" dirty="0" smtClean="0">
                  <a:solidFill>
                    <a:schemeClr val="tx1"/>
                  </a:solidFill>
                  <a:latin typeface="Palatino Linotype" panose="02040502050505030304" pitchFamily="18" charset="0"/>
                </a:rPr>
                <a:t>17%</a:t>
              </a:r>
              <a:endParaRPr lang="en-US" sz="2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766483" y="4657073"/>
            <a:ext cx="6695780" cy="3967297"/>
            <a:chOff x="16706919" y="3568447"/>
            <a:chExt cx="10367016" cy="5836706"/>
          </a:xfrm>
        </p:grpSpPr>
        <p:grpSp>
          <p:nvGrpSpPr>
            <p:cNvPr id="31" name="Group 30"/>
            <p:cNvGrpSpPr/>
            <p:nvPr/>
          </p:nvGrpSpPr>
          <p:grpSpPr>
            <a:xfrm>
              <a:off x="16706919" y="3568447"/>
              <a:ext cx="3983213" cy="5836706"/>
              <a:chOff x="16509212" y="4365316"/>
              <a:chExt cx="3983213" cy="5836706"/>
            </a:xfrm>
          </p:grpSpPr>
          <p:grpSp>
            <p:nvGrpSpPr>
              <p:cNvPr id="38" name="Group 37"/>
              <p:cNvGrpSpPr/>
              <p:nvPr/>
            </p:nvGrpSpPr>
            <p:grpSpPr>
              <a:xfrm>
                <a:off x="16509212" y="4365316"/>
                <a:ext cx="3978875" cy="5836706"/>
                <a:chOff x="7513492" y="3800964"/>
                <a:chExt cx="3978875" cy="5836706"/>
              </a:xfrm>
            </p:grpSpPr>
            <p:sp>
              <p:nvSpPr>
                <p:cNvPr id="40" name="Rectangle 39"/>
                <p:cNvSpPr/>
                <p:nvPr/>
              </p:nvSpPr>
              <p:spPr>
                <a:xfrm>
                  <a:off x="8073096" y="3800964"/>
                  <a:ext cx="2859663" cy="86032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az-Latn-AZ" sz="3200" dirty="0">
                      <a:ln w="0"/>
                      <a:latin typeface="Palatino Linotype" panose="02040502050505030304" pitchFamily="18" charset="0"/>
                    </a:rPr>
                    <a:t>Şagirdlər</a:t>
                  </a:r>
                  <a:endParaRPr lang="en-US" sz="3200" dirty="0">
                    <a:ln w="0"/>
                    <a:latin typeface="Palatino Linotype" panose="02040502050505030304" pitchFamily="18" charset="0"/>
                  </a:endParaRPr>
                </a:p>
              </p:txBody>
            </p:sp>
            <p:sp>
              <p:nvSpPr>
                <p:cNvPr id="41" name="Rounded Rectangle 40"/>
                <p:cNvSpPr/>
                <p:nvPr/>
              </p:nvSpPr>
              <p:spPr>
                <a:xfrm>
                  <a:off x="7513492" y="4793821"/>
                  <a:ext cx="3978875" cy="4843849"/>
                </a:xfrm>
                <a:prstGeom prst="roundRect">
                  <a:avLst/>
                </a:prstGeom>
                <a:solidFill>
                  <a:srgbClr val="00B0F0">
                    <a:alpha val="20000"/>
                  </a:srgb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sp>
              <p:nvSpPr>
                <p:cNvPr id="42" name="Rectangle 41"/>
                <p:cNvSpPr/>
                <p:nvPr/>
              </p:nvSpPr>
              <p:spPr>
                <a:xfrm>
                  <a:off x="8100397" y="8379135"/>
                  <a:ext cx="2805061" cy="76976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az-Latn-AZ" sz="2800" dirty="0" smtClean="0">
                      <a:ln w="0"/>
                      <a:latin typeface="Palatino Linotype" panose="02040502050505030304" pitchFamily="18" charset="0"/>
                    </a:rPr>
                    <a:t>1508 </a:t>
                  </a:r>
                  <a:r>
                    <a:rPr lang="az-Latn-AZ" sz="2800" dirty="0">
                      <a:ln w="0"/>
                      <a:latin typeface="Palatino Linotype" panose="02040502050505030304" pitchFamily="18" charset="0"/>
                    </a:rPr>
                    <a:t>nəfər</a:t>
                  </a:r>
                  <a:endParaRPr lang="en-US" sz="2800" dirty="0">
                    <a:ln w="0"/>
                    <a:latin typeface="Palatino Linotype" panose="02040502050505030304" pitchFamily="18" charset="0"/>
                  </a:endParaRPr>
                </a:p>
              </p:txBody>
            </p:sp>
          </p:grpSp>
          <p:pic>
            <p:nvPicPr>
              <p:cNvPr id="39" name="Picture 38"/>
              <p:cNvPicPr>
                <a:picLocks noChangeAspect="1"/>
              </p:cNvPicPr>
              <p:nvPr/>
            </p:nvPicPr>
            <p:blipFill>
              <a:blip r:embed="rId5" cstate="print">
                <a:clrChange>
                  <a:clrFrom>
                    <a:srgbClr val="F7F7F7"/>
                  </a:clrFrom>
                  <a:clrTo>
                    <a:srgbClr val="F7F7F7">
                      <a:alpha val="0"/>
                    </a:srgbClr>
                  </a:clrTo>
                </a:clrChange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509212" y="5918137"/>
                <a:ext cx="3983213" cy="2672458"/>
              </a:xfrm>
              <a:prstGeom prst="rect">
                <a:avLst/>
              </a:prstGeom>
            </p:spPr>
          </p:pic>
        </p:grpSp>
        <p:sp>
          <p:nvSpPr>
            <p:cNvPr id="32" name="Rounded Rectangle 31"/>
            <p:cNvSpPr/>
            <p:nvPr/>
          </p:nvSpPr>
          <p:spPr>
            <a:xfrm>
              <a:off x="21185078" y="4561304"/>
              <a:ext cx="2694786" cy="1378091"/>
            </a:xfrm>
            <a:prstGeom prst="roundRect">
              <a:avLst/>
            </a:prstGeom>
            <a:solidFill>
              <a:srgbClr val="00B0F0">
                <a:alpha val="20000"/>
              </a:srgb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28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Oğlan</a:t>
              </a:r>
              <a:endParaRPr lang="en-US" sz="2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24379149" y="4561304"/>
              <a:ext cx="2694786" cy="1378091"/>
            </a:xfrm>
            <a:prstGeom prst="roundRect">
              <a:avLst/>
            </a:prstGeom>
            <a:solidFill>
              <a:srgbClr val="00B0F0">
                <a:alpha val="20000"/>
              </a:srgb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28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Qız</a:t>
              </a:r>
              <a:endParaRPr lang="en-US" sz="2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21185078" y="6294183"/>
              <a:ext cx="2694786" cy="1378091"/>
            </a:xfrm>
            <a:prstGeom prst="roundRect">
              <a:avLst/>
            </a:prstGeom>
            <a:solidFill>
              <a:srgbClr val="00B0F0">
                <a:alpha val="20000"/>
              </a:srgb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2800" dirty="0" smtClean="0">
                  <a:solidFill>
                    <a:schemeClr val="tx1"/>
                  </a:solidFill>
                  <a:latin typeface="Palatino Linotype" panose="02040502050505030304" pitchFamily="18" charset="0"/>
                </a:rPr>
                <a:t>845</a:t>
              </a:r>
              <a:endParaRPr lang="en-US" sz="2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24379149" y="6294183"/>
              <a:ext cx="2694786" cy="1378091"/>
            </a:xfrm>
            <a:prstGeom prst="roundRect">
              <a:avLst/>
            </a:prstGeom>
            <a:solidFill>
              <a:srgbClr val="00B0F0">
                <a:alpha val="20000"/>
              </a:srgb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2800" dirty="0" smtClean="0">
                  <a:solidFill>
                    <a:schemeClr val="tx1"/>
                  </a:solidFill>
                  <a:latin typeface="Palatino Linotype" panose="02040502050505030304" pitchFamily="18" charset="0"/>
                </a:rPr>
                <a:t>663</a:t>
              </a:r>
              <a:endParaRPr lang="en-US" sz="2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21185078" y="8027062"/>
              <a:ext cx="2694786" cy="1378091"/>
            </a:xfrm>
            <a:prstGeom prst="roundRect">
              <a:avLst/>
            </a:prstGeom>
            <a:solidFill>
              <a:srgbClr val="00B0F0">
                <a:alpha val="20000"/>
              </a:srgb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2800" dirty="0" smtClean="0">
                  <a:solidFill>
                    <a:schemeClr val="tx1"/>
                  </a:solidFill>
                  <a:latin typeface="Palatino Linotype" panose="02040502050505030304" pitchFamily="18" charset="0"/>
                </a:rPr>
                <a:t>56%</a:t>
              </a:r>
              <a:endParaRPr lang="en-US" sz="2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24379149" y="8027062"/>
              <a:ext cx="2694786" cy="1378091"/>
            </a:xfrm>
            <a:prstGeom prst="roundRect">
              <a:avLst/>
            </a:prstGeom>
            <a:solidFill>
              <a:srgbClr val="00B0F0">
                <a:alpha val="20000"/>
              </a:srgb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z-Latn-AZ" sz="2800" dirty="0" smtClean="0">
                  <a:solidFill>
                    <a:schemeClr val="tx1"/>
                  </a:solidFill>
                  <a:latin typeface="Palatino Linotype" panose="02040502050505030304" pitchFamily="18" charset="0"/>
                </a:rPr>
                <a:t>44%</a:t>
              </a:r>
              <a:endParaRPr lang="en-US" sz="2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</p:grpSp>
      <p:sp>
        <p:nvSpPr>
          <p:cNvPr id="43" name="Rounded Rectangle 42"/>
          <p:cNvSpPr/>
          <p:nvPr/>
        </p:nvSpPr>
        <p:spPr>
          <a:xfrm>
            <a:off x="8453646" y="4657073"/>
            <a:ext cx="2864224" cy="4409291"/>
          </a:xfrm>
          <a:prstGeom prst="roundRect">
            <a:avLst/>
          </a:prstGeom>
          <a:solidFill>
            <a:srgbClr val="0000CC">
              <a:alpha val="36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z-Latn-AZ" sz="3600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Şagird-müəllim nisbəti </a:t>
            </a:r>
            <a:endParaRPr lang="az-Latn-AZ" sz="3600" b="1" dirty="0" smtClean="0">
              <a:solidFill>
                <a:schemeClr val="tx1"/>
              </a:solidFill>
              <a:latin typeface="Palatino Linotype" panose="02040502050505030304" pitchFamily="18" charset="0"/>
            </a:endParaRPr>
          </a:p>
          <a:p>
            <a:pPr algn="ctr"/>
            <a:r>
              <a:rPr lang="az-Latn-AZ" sz="2800" dirty="0" smtClean="0">
                <a:solidFill>
                  <a:schemeClr val="tx1"/>
                </a:solidFill>
                <a:latin typeface="Palatino Linotype" panose="02040502050505030304" pitchFamily="18" charset="0"/>
              </a:rPr>
              <a:t>(</a:t>
            </a:r>
            <a:r>
              <a:rPr lang="az-Latn-AZ" sz="2800" i="1" dirty="0">
                <a:solidFill>
                  <a:schemeClr val="tx1"/>
                </a:solidFill>
                <a:latin typeface="Palatino Linotype" panose="02040502050505030304" pitchFamily="18" charset="0"/>
              </a:rPr>
              <a:t>şagird </a:t>
            </a:r>
            <a:r>
              <a:rPr lang="az-Latn-AZ" sz="2800" i="1" dirty="0" smtClean="0">
                <a:solidFill>
                  <a:schemeClr val="tx1"/>
                </a:solidFill>
                <a:latin typeface="Palatino Linotype" panose="02040502050505030304" pitchFamily="18" charset="0"/>
              </a:rPr>
              <a:t>sayı(1508)/</a:t>
            </a:r>
            <a:r>
              <a:rPr lang="az-Latn-AZ" sz="2800" i="1" dirty="0">
                <a:solidFill>
                  <a:schemeClr val="tx1"/>
                </a:solidFill>
                <a:latin typeface="Palatino Linotype" panose="02040502050505030304" pitchFamily="18" charset="0"/>
              </a:rPr>
              <a:t>müəllim </a:t>
            </a:r>
            <a:r>
              <a:rPr lang="az-Latn-AZ" sz="2800" i="1" dirty="0" smtClean="0">
                <a:solidFill>
                  <a:schemeClr val="tx1"/>
                </a:solidFill>
                <a:latin typeface="Palatino Linotype" panose="02040502050505030304" pitchFamily="18" charset="0"/>
              </a:rPr>
              <a:t>sayı(136)</a:t>
            </a:r>
            <a:r>
              <a:rPr lang="az-Latn-AZ" sz="2800" dirty="0" smtClean="0">
                <a:solidFill>
                  <a:schemeClr val="tx1"/>
                </a:solidFill>
                <a:latin typeface="Palatino Linotype" panose="02040502050505030304" pitchFamily="18" charset="0"/>
              </a:rPr>
              <a:t>) </a:t>
            </a:r>
            <a:r>
              <a:rPr lang="az-Latn-AZ" sz="2800" dirty="0">
                <a:solidFill>
                  <a:schemeClr val="tx1"/>
                </a:solidFill>
                <a:latin typeface="Palatino Linotype" panose="02040502050505030304" pitchFamily="18" charset="0"/>
              </a:rPr>
              <a:t>= </a:t>
            </a:r>
            <a:r>
              <a:rPr lang="az-Latn-AZ" sz="4400" b="1" dirty="0" smtClean="0">
                <a:solidFill>
                  <a:schemeClr val="tx1"/>
                </a:solidFill>
                <a:latin typeface="Palatino Linotype" panose="02040502050505030304" pitchFamily="18" charset="0"/>
              </a:rPr>
              <a:t>0,09</a:t>
            </a:r>
            <a:endParaRPr lang="az-Latn-AZ" sz="4400" b="1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3992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667129" y="3827947"/>
            <a:ext cx="3966880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4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Fənn müəllimlərinin göstəriciləri</a:t>
            </a:r>
            <a:endParaRPr kumimoji="0" lang="en-US" sz="4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z-Latn-AZ" sz="2000" dirty="0" smtClean="0">
                <a:ln w="0"/>
                <a:solidFill>
                  <a:schemeClr val="bg1"/>
                </a:solidFill>
                <a:latin typeface="Palatino Linotype" panose="02040502050505030304" pitchFamily="18" charset="0"/>
              </a:rPr>
              <a:t>99 nömrəli </a:t>
            </a:r>
          </a:p>
          <a:p>
            <a:pPr algn="ctr"/>
            <a:r>
              <a:rPr lang="az-Latn-AZ" sz="2000" dirty="0" smtClean="0">
                <a:ln w="0"/>
                <a:solidFill>
                  <a:schemeClr val="bg1"/>
                </a:solidFill>
                <a:latin typeface="Palatino Linotype" panose="02040502050505030304" pitchFamily="18" charset="0"/>
              </a:rPr>
              <a:t>tam orta məktəb</a:t>
            </a:r>
            <a:endParaRPr lang="en-US" sz="2000" b="0" cap="none" spc="0" dirty="0">
              <a:ln w="0"/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10938685"/>
              </p:ext>
            </p:extLst>
          </p:nvPr>
        </p:nvGraphicFramePr>
        <p:xfrm>
          <a:off x="571914" y="0"/>
          <a:ext cx="16325436" cy="9601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99527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667129" y="4258253"/>
            <a:ext cx="396688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54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Təltiflər</a:t>
            </a:r>
            <a:endParaRPr kumimoji="0" lang="en-US" sz="5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6816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667129" y="3827947"/>
            <a:ext cx="3966880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44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Müsabiqələr və peşəkar inkişaf</a:t>
            </a:r>
            <a:endParaRPr kumimoji="0" lang="en-US" sz="4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7655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667129" y="3827947"/>
            <a:ext cx="3966880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4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Müəllimlərin yaş intervalları üzrə təhlili</a:t>
            </a:r>
            <a:endParaRPr kumimoji="0" lang="en-US" sz="4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660246" y="0"/>
            <a:ext cx="15973763" cy="9332256"/>
            <a:chOff x="2318725" y="1175506"/>
            <a:chExt cx="24648944" cy="10541190"/>
          </a:xfrm>
        </p:grpSpPr>
        <p:graphicFrame>
          <p:nvGraphicFramePr>
            <p:cNvPr id="14" name="Chart 13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93847357"/>
                </p:ext>
              </p:extLst>
            </p:nvPr>
          </p:nvGraphicFramePr>
          <p:xfrm>
            <a:off x="2318725" y="1175506"/>
            <a:ext cx="17068356" cy="1054119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graphicFrame>
          <p:nvGraphicFramePr>
            <p:cNvPr id="15" name="Chart 14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46473650"/>
                </p:ext>
              </p:extLst>
            </p:nvPr>
          </p:nvGraphicFramePr>
          <p:xfrm>
            <a:off x="20891375" y="1175506"/>
            <a:ext cx="6076294" cy="1054118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179717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667129" y="3827947"/>
            <a:ext cx="3966880" cy="255454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4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Müəllimlərin nəticə intervalları üzrə təhlili</a:t>
            </a:r>
            <a:endParaRPr kumimoji="0" lang="en-US" sz="4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431" y="134472"/>
            <a:ext cx="10228310" cy="9346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618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667129" y="3827947"/>
            <a:ext cx="396688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54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Dərs-dinləmələr</a:t>
            </a:r>
            <a:endParaRPr kumimoji="0" lang="en-US" sz="5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15318"/>
              </p:ext>
            </p:extLst>
          </p:nvPr>
        </p:nvGraphicFramePr>
        <p:xfrm>
          <a:off x="578223" y="206207"/>
          <a:ext cx="11061327" cy="91473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966">
                  <a:extLst>
                    <a:ext uri="{9D8B030D-6E8A-4147-A177-3AD203B41FA5}">
                      <a16:colId xmlns:a16="http://schemas.microsoft.com/office/drawing/2014/main" val="1215394851"/>
                    </a:ext>
                  </a:extLst>
                </a:gridCol>
                <a:gridCol w="1484535">
                  <a:extLst>
                    <a:ext uri="{9D8B030D-6E8A-4147-A177-3AD203B41FA5}">
                      <a16:colId xmlns:a16="http://schemas.microsoft.com/office/drawing/2014/main" val="2066010269"/>
                    </a:ext>
                  </a:extLst>
                </a:gridCol>
                <a:gridCol w="1484535">
                  <a:extLst>
                    <a:ext uri="{9D8B030D-6E8A-4147-A177-3AD203B41FA5}">
                      <a16:colId xmlns:a16="http://schemas.microsoft.com/office/drawing/2014/main" val="950473323"/>
                    </a:ext>
                  </a:extLst>
                </a:gridCol>
                <a:gridCol w="1484535">
                  <a:extLst>
                    <a:ext uri="{9D8B030D-6E8A-4147-A177-3AD203B41FA5}">
                      <a16:colId xmlns:a16="http://schemas.microsoft.com/office/drawing/2014/main" val="884368350"/>
                    </a:ext>
                  </a:extLst>
                </a:gridCol>
                <a:gridCol w="3726756">
                  <a:extLst>
                    <a:ext uri="{9D8B030D-6E8A-4147-A177-3AD203B41FA5}">
                      <a16:colId xmlns:a16="http://schemas.microsoft.com/office/drawing/2014/main" val="1573274089"/>
                    </a:ext>
                  </a:extLst>
                </a:gridCol>
              </a:tblGrid>
              <a:tr h="1313660">
                <a:tc>
                  <a:txBody>
                    <a:bodyPr/>
                    <a:lstStyle/>
                    <a:p>
                      <a:pPr algn="ctr"/>
                      <a:r>
                        <a:rPr lang="az-Latn-AZ" sz="2000" b="1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Dərsdinləmənin</a:t>
                      </a:r>
                      <a:r>
                        <a:rPr lang="az-Latn-AZ" sz="2000" b="1" baseline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məqsədi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b="1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Hədəf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b="1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Dinlənilən dərslərin sayı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b="1" baseline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Məsul şəxs(lər)</a:t>
                      </a:r>
                      <a:endParaRPr lang="az-Latn-AZ" sz="2000" b="1" baseline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b="1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Nəticə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148916"/>
                  </a:ext>
                </a:extLst>
              </a:tr>
              <a:tr h="1728897">
                <a:tc>
                  <a:txBody>
                    <a:bodyPr/>
                    <a:lstStyle/>
                    <a:p>
                      <a:pPr algn="ctr"/>
                      <a:r>
                        <a:rPr lang="az-Latn-AZ" sz="1800" b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1.Müəllimlərin təşkilatı fəaliyyətini izləmək (Dərsin planlaşdırılma</a:t>
                      </a:r>
                      <a:r>
                        <a:rPr lang="az-Latn-AZ" sz="1800" b="0" baseline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səviyyəsi, şagirdlərlə səmərəli əks əlaqəni təmin etməsi, vaxtından düzgün istifadə etməsi</a:t>
                      </a:r>
                      <a:r>
                        <a:rPr lang="az-Latn-AZ" sz="1800" b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)</a:t>
                      </a:r>
                    </a:p>
                    <a:p>
                      <a:pPr algn="ctr"/>
                      <a:r>
                        <a:rPr lang="az-Latn-AZ" sz="1800" b="0" baseline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1.1. </a:t>
                      </a:r>
                      <a:r>
                        <a:rPr lang="az-Latn-AZ" sz="1800" b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Müəllimin təlim fəaliyyətini izləmək (Elmilik prinsipinin qorunması,təlim metodları vəüsulların</a:t>
                      </a:r>
                      <a:r>
                        <a:rPr lang="az-Latn-AZ" sz="1800" b="0" baseline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düzgün seşilməsi, əyani vəsaitlərdən istifadənin səmərəliliyi, şagırdlərin qiymətləndirilməsi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1800" b="0" dirty="0" smtClean="0">
                          <a:solidFill>
                            <a:srgbClr val="FF0000"/>
                          </a:solidFill>
                          <a:latin typeface="Palatino Linotype" panose="02040502050505030304" pitchFamily="18" charset="0"/>
                        </a:rPr>
                        <a:t>112</a:t>
                      </a:r>
                    </a:p>
                    <a:p>
                      <a:pPr algn="ctr"/>
                      <a:endParaRPr lang="az-Latn-AZ" sz="1800" b="0" dirty="0" smtClean="0">
                        <a:solidFill>
                          <a:srgbClr val="FF0000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1800" b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Direktor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az-Latn-AZ" sz="1800" b="0" i="1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98 saat müsbət nəticə</a:t>
                      </a:r>
                      <a:endParaRPr lang="en-US" sz="1800" b="0" i="1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4511207"/>
                  </a:ext>
                </a:extLst>
              </a:tr>
              <a:tr h="2200414">
                <a:tc>
                  <a:txBody>
                    <a:bodyPr/>
                    <a:lstStyle/>
                    <a:p>
                      <a:pPr algn="ctr"/>
                      <a:r>
                        <a:rPr lang="az-Latn-AZ" sz="1800" b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2.</a:t>
                      </a:r>
                      <a:r>
                        <a:rPr lang="az-Latn-AZ" sz="1800" b="0" baseline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Ölçü üzrə standartların izlənməsi.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1800" b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72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1800" b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Direktor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1800" b="0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68 saat müsbət nəticə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6807674"/>
                  </a:ext>
                </a:extLst>
              </a:tr>
              <a:tr h="657409"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rgbClr val="FF0000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9998768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6667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7442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667129" y="3827947"/>
            <a:ext cx="3966880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4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Sinif komplektlərinin tərkibi</a:t>
            </a:r>
            <a:endParaRPr kumimoji="0" lang="en-US" sz="4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050426"/>
              </p:ext>
            </p:extLst>
          </p:nvPr>
        </p:nvGraphicFramePr>
        <p:xfrm>
          <a:off x="591678" y="268945"/>
          <a:ext cx="11174493" cy="9063310"/>
        </p:xfrm>
        <a:graphic>
          <a:graphicData uri="http://schemas.openxmlformats.org/drawingml/2006/table">
            <a:tbl>
              <a:tblPr/>
              <a:tblGrid>
                <a:gridCol w="2339781">
                  <a:extLst>
                    <a:ext uri="{9D8B030D-6E8A-4147-A177-3AD203B41FA5}">
                      <a16:colId xmlns:a16="http://schemas.microsoft.com/office/drawing/2014/main" val="1837319653"/>
                    </a:ext>
                  </a:extLst>
                </a:gridCol>
                <a:gridCol w="624115">
                  <a:extLst>
                    <a:ext uri="{9D8B030D-6E8A-4147-A177-3AD203B41FA5}">
                      <a16:colId xmlns:a16="http://schemas.microsoft.com/office/drawing/2014/main" val="2054582853"/>
                    </a:ext>
                  </a:extLst>
                </a:gridCol>
                <a:gridCol w="624115">
                  <a:extLst>
                    <a:ext uri="{9D8B030D-6E8A-4147-A177-3AD203B41FA5}">
                      <a16:colId xmlns:a16="http://schemas.microsoft.com/office/drawing/2014/main" val="2630154093"/>
                    </a:ext>
                  </a:extLst>
                </a:gridCol>
                <a:gridCol w="624115">
                  <a:extLst>
                    <a:ext uri="{9D8B030D-6E8A-4147-A177-3AD203B41FA5}">
                      <a16:colId xmlns:a16="http://schemas.microsoft.com/office/drawing/2014/main" val="13445460"/>
                    </a:ext>
                  </a:extLst>
                </a:gridCol>
                <a:gridCol w="521231">
                  <a:extLst>
                    <a:ext uri="{9D8B030D-6E8A-4147-A177-3AD203B41FA5}">
                      <a16:colId xmlns:a16="http://schemas.microsoft.com/office/drawing/2014/main" val="4070376480"/>
                    </a:ext>
                  </a:extLst>
                </a:gridCol>
                <a:gridCol w="102884">
                  <a:extLst>
                    <a:ext uri="{9D8B030D-6E8A-4147-A177-3AD203B41FA5}">
                      <a16:colId xmlns:a16="http://schemas.microsoft.com/office/drawing/2014/main" val="408981130"/>
                    </a:ext>
                  </a:extLst>
                </a:gridCol>
                <a:gridCol w="624115">
                  <a:extLst>
                    <a:ext uri="{9D8B030D-6E8A-4147-A177-3AD203B41FA5}">
                      <a16:colId xmlns:a16="http://schemas.microsoft.com/office/drawing/2014/main" val="4278711453"/>
                    </a:ext>
                  </a:extLst>
                </a:gridCol>
                <a:gridCol w="624115">
                  <a:extLst>
                    <a:ext uri="{9D8B030D-6E8A-4147-A177-3AD203B41FA5}">
                      <a16:colId xmlns:a16="http://schemas.microsoft.com/office/drawing/2014/main" val="1734489224"/>
                    </a:ext>
                  </a:extLst>
                </a:gridCol>
                <a:gridCol w="624115">
                  <a:extLst>
                    <a:ext uri="{9D8B030D-6E8A-4147-A177-3AD203B41FA5}">
                      <a16:colId xmlns:a16="http://schemas.microsoft.com/office/drawing/2014/main" val="3636598698"/>
                    </a:ext>
                  </a:extLst>
                </a:gridCol>
                <a:gridCol w="378007">
                  <a:extLst>
                    <a:ext uri="{9D8B030D-6E8A-4147-A177-3AD203B41FA5}">
                      <a16:colId xmlns:a16="http://schemas.microsoft.com/office/drawing/2014/main" val="198421558"/>
                    </a:ext>
                  </a:extLst>
                </a:gridCol>
                <a:gridCol w="246108">
                  <a:extLst>
                    <a:ext uri="{9D8B030D-6E8A-4147-A177-3AD203B41FA5}">
                      <a16:colId xmlns:a16="http://schemas.microsoft.com/office/drawing/2014/main" val="3478304413"/>
                    </a:ext>
                  </a:extLst>
                </a:gridCol>
                <a:gridCol w="624115">
                  <a:extLst>
                    <a:ext uri="{9D8B030D-6E8A-4147-A177-3AD203B41FA5}">
                      <a16:colId xmlns:a16="http://schemas.microsoft.com/office/drawing/2014/main" val="114368265"/>
                    </a:ext>
                  </a:extLst>
                </a:gridCol>
                <a:gridCol w="624115">
                  <a:extLst>
                    <a:ext uri="{9D8B030D-6E8A-4147-A177-3AD203B41FA5}">
                      <a16:colId xmlns:a16="http://schemas.microsoft.com/office/drawing/2014/main" val="4289714089"/>
                    </a:ext>
                  </a:extLst>
                </a:gridCol>
                <a:gridCol w="624115">
                  <a:extLst>
                    <a:ext uri="{9D8B030D-6E8A-4147-A177-3AD203B41FA5}">
                      <a16:colId xmlns:a16="http://schemas.microsoft.com/office/drawing/2014/main" val="514863036"/>
                    </a:ext>
                  </a:extLst>
                </a:gridCol>
                <a:gridCol w="624115">
                  <a:extLst>
                    <a:ext uri="{9D8B030D-6E8A-4147-A177-3AD203B41FA5}">
                      <a16:colId xmlns:a16="http://schemas.microsoft.com/office/drawing/2014/main" val="4018962966"/>
                    </a:ext>
                  </a:extLst>
                </a:gridCol>
                <a:gridCol w="1345332">
                  <a:extLst>
                    <a:ext uri="{9D8B030D-6E8A-4147-A177-3AD203B41FA5}">
                      <a16:colId xmlns:a16="http://schemas.microsoft.com/office/drawing/2014/main" val="2257352784"/>
                    </a:ext>
                  </a:extLst>
                </a:gridCol>
              </a:tblGrid>
              <a:tr h="906331">
                <a:tc gridSpan="16">
                  <a:txBody>
                    <a:bodyPr/>
                    <a:lstStyle/>
                    <a:p>
                      <a:pPr algn="ctr" fontAlgn="ctr"/>
                      <a:r>
                        <a:rPr lang="en-US" sz="3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Siniflər</a:t>
                      </a: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3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üzrə</a:t>
                      </a:r>
                      <a:endParaRPr lang="en-US" sz="36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0241907"/>
                  </a:ext>
                </a:extLst>
              </a:tr>
              <a:tr h="9063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Cəmi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0529637"/>
                  </a:ext>
                </a:extLst>
              </a:tr>
              <a:tr h="9063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Sinif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sayı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69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2007664"/>
                  </a:ext>
                </a:extLst>
              </a:tr>
              <a:tr h="9063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Şagird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sayı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93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119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50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44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57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33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53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31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143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131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83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71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508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0969308"/>
                  </a:ext>
                </a:extLst>
              </a:tr>
              <a:tr h="9063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Şagird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sinif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nisbəti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</a:t>
                      </a:r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23.8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21.4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22.4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22.1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21.8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21.8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20.4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21.8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20.7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17.7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21.18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106765"/>
                  </a:ext>
                </a:extLst>
              </a:tr>
              <a:tr h="906331">
                <a:tc gridSpan="16">
                  <a:txBody>
                    <a:bodyPr/>
                    <a:lstStyle/>
                    <a:p>
                      <a:pPr algn="ctr" fontAlgn="ctr"/>
                      <a:r>
                        <a:rPr lang="en-US" sz="3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Təhsil</a:t>
                      </a: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3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səviyyələri</a:t>
                      </a: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3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üzrə</a:t>
                      </a:r>
                      <a:endParaRPr lang="en-US" sz="36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154353"/>
                  </a:ext>
                </a:extLst>
              </a:tr>
              <a:tr h="9063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Məktəbəqədər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və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ibtidai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Ümumi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orta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Tam orta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Cəmi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497097"/>
                  </a:ext>
                </a:extLst>
              </a:tr>
              <a:tr h="9063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Sinif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sayı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32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69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8366175"/>
                  </a:ext>
                </a:extLst>
              </a:tr>
              <a:tr h="9063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Şagird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sayı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663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691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154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1508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8875337"/>
                  </a:ext>
                </a:extLst>
              </a:tr>
              <a:tr h="9063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Şagird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sinif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nisbəti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22.8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21.5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19.2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21.8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7564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4632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667129" y="3195935"/>
            <a:ext cx="3966880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54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Oğlan və qızların paylanma faizləri</a:t>
            </a:r>
            <a:endParaRPr kumimoji="0" lang="en-US" sz="5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14" y="896762"/>
            <a:ext cx="10936547" cy="7741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04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667129" y="4110335"/>
            <a:ext cx="396688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54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Davamiyyət</a:t>
            </a:r>
            <a:endParaRPr kumimoji="0" lang="en-US" sz="5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628" y="691871"/>
            <a:ext cx="11040946" cy="8174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488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667129" y="2658053"/>
            <a:ext cx="3966880" cy="48320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44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Respublika fənn</a:t>
            </a:r>
            <a:r>
              <a:rPr kumimoji="0" lang="az-Latn-AZ" sz="4400" b="0" i="0" u="none" strike="noStrike" kern="1200" cap="none" spc="0" normalizeH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olimpiadaları və müsabiqələrin yekun nəticələri</a:t>
            </a:r>
            <a:endParaRPr kumimoji="0" lang="en-US" sz="4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z-Latn-AZ" sz="2000" dirty="0" smtClean="0">
                <a:ln w="0"/>
                <a:solidFill>
                  <a:schemeClr val="bg1"/>
                </a:solidFill>
                <a:latin typeface="Palatino Linotype" panose="02040502050505030304" pitchFamily="18" charset="0"/>
              </a:rPr>
              <a:t>99 nömrəli </a:t>
            </a:r>
          </a:p>
          <a:p>
            <a:pPr algn="ctr"/>
            <a:r>
              <a:rPr lang="az-Latn-AZ" sz="2000" dirty="0" smtClean="0">
                <a:ln w="0"/>
                <a:solidFill>
                  <a:schemeClr val="bg1"/>
                </a:solidFill>
                <a:latin typeface="Palatino Linotype" panose="02040502050505030304" pitchFamily="18" charset="0"/>
              </a:rPr>
              <a:t>tam orta məktəb</a:t>
            </a:r>
            <a:endParaRPr lang="en-US" sz="2000" b="0" cap="none" spc="0" dirty="0">
              <a:ln w="0"/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9497662"/>
              </p:ext>
            </p:extLst>
          </p:nvPr>
        </p:nvGraphicFramePr>
        <p:xfrm>
          <a:off x="505012" y="173815"/>
          <a:ext cx="11379200" cy="9266019"/>
        </p:xfrm>
        <a:graphic>
          <a:graphicData uri="http://schemas.openxmlformats.org/drawingml/2006/table">
            <a:tbl>
              <a:tblPr firstRow="1" bandRow="1">
                <a:tableStyleId>{8FD4443E-F989-4FC4-A0C8-D5A2AF1F390B}</a:tableStyleId>
              </a:tblPr>
              <a:tblGrid>
                <a:gridCol w="584200">
                  <a:extLst>
                    <a:ext uri="{9D8B030D-6E8A-4147-A177-3AD203B41FA5}">
                      <a16:colId xmlns:a16="http://schemas.microsoft.com/office/drawing/2014/main" val="1047558826"/>
                    </a:ext>
                  </a:extLst>
                </a:gridCol>
                <a:gridCol w="2339788">
                  <a:extLst>
                    <a:ext uri="{9D8B030D-6E8A-4147-A177-3AD203B41FA5}">
                      <a16:colId xmlns:a16="http://schemas.microsoft.com/office/drawing/2014/main" val="1236201796"/>
                    </a:ext>
                  </a:extLst>
                </a:gridCol>
                <a:gridCol w="2003612">
                  <a:extLst>
                    <a:ext uri="{9D8B030D-6E8A-4147-A177-3AD203B41FA5}">
                      <a16:colId xmlns:a16="http://schemas.microsoft.com/office/drawing/2014/main" val="3777020433"/>
                    </a:ext>
                  </a:extLst>
                </a:gridCol>
                <a:gridCol w="1290320">
                  <a:extLst>
                    <a:ext uri="{9D8B030D-6E8A-4147-A177-3AD203B41FA5}">
                      <a16:colId xmlns:a16="http://schemas.microsoft.com/office/drawing/2014/main" val="3294250232"/>
                    </a:ext>
                  </a:extLst>
                </a:gridCol>
                <a:gridCol w="1290320">
                  <a:extLst>
                    <a:ext uri="{9D8B030D-6E8A-4147-A177-3AD203B41FA5}">
                      <a16:colId xmlns:a16="http://schemas.microsoft.com/office/drawing/2014/main" val="2108663881"/>
                    </a:ext>
                  </a:extLst>
                </a:gridCol>
                <a:gridCol w="1290320">
                  <a:extLst>
                    <a:ext uri="{9D8B030D-6E8A-4147-A177-3AD203B41FA5}">
                      <a16:colId xmlns:a16="http://schemas.microsoft.com/office/drawing/2014/main" val="52822708"/>
                    </a:ext>
                  </a:extLst>
                </a:gridCol>
                <a:gridCol w="1290320">
                  <a:extLst>
                    <a:ext uri="{9D8B030D-6E8A-4147-A177-3AD203B41FA5}">
                      <a16:colId xmlns:a16="http://schemas.microsoft.com/office/drawing/2014/main" val="3692895666"/>
                    </a:ext>
                  </a:extLst>
                </a:gridCol>
                <a:gridCol w="1290320">
                  <a:extLst>
                    <a:ext uri="{9D8B030D-6E8A-4147-A177-3AD203B41FA5}">
                      <a16:colId xmlns:a16="http://schemas.microsoft.com/office/drawing/2014/main" val="406359392"/>
                    </a:ext>
                  </a:extLst>
                </a:gridCol>
              </a:tblGrid>
              <a:tr h="1311135"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№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Olimpiada və ya müsabiqənin adı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Fənlər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I yer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II yer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III yer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Həvəs-ləndirici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Ümumi say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051730"/>
                  </a:ext>
                </a:extLst>
              </a:tr>
              <a:tr h="1136412"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1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200" dirty="0" smtClean="0">
                          <a:latin typeface="Palatino Linotype" panose="02040502050505030304" pitchFamily="18" charset="0"/>
                        </a:rPr>
                        <a:t>Respublika</a:t>
                      </a:r>
                      <a:r>
                        <a:rPr lang="az-Latn-AZ" sz="2200" baseline="0" dirty="0" smtClean="0">
                          <a:latin typeface="Palatino Linotype" panose="02040502050505030304" pitchFamily="18" charset="0"/>
                        </a:rPr>
                        <a:t> fənn olimpiadaları</a:t>
                      </a:r>
                      <a:endParaRPr lang="en-US" sz="22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9996371"/>
                  </a:ext>
                </a:extLst>
              </a:tr>
              <a:tr h="1136412"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2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200" dirty="0" smtClean="0">
                          <a:latin typeface="Palatino Linotype" panose="02040502050505030304" pitchFamily="18" charset="0"/>
                        </a:rPr>
                        <a:t>Respublika</a:t>
                      </a:r>
                      <a:r>
                        <a:rPr lang="az-Latn-AZ" sz="2200" baseline="0" dirty="0" smtClean="0">
                          <a:latin typeface="Palatino Linotype" panose="02040502050505030304" pitchFamily="18" charset="0"/>
                        </a:rPr>
                        <a:t> fənn müsabiqələri</a:t>
                      </a:r>
                      <a:endParaRPr lang="en-US" sz="22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0794456"/>
                  </a:ext>
                </a:extLst>
              </a:tr>
              <a:tr h="1136412"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3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200" dirty="0" smtClean="0">
                          <a:latin typeface="Palatino Linotype" panose="02040502050505030304" pitchFamily="18" charset="0"/>
                        </a:rPr>
                        <a:t>Ən yaxşı təqdimat</a:t>
                      </a:r>
                      <a:endParaRPr lang="en-US" sz="22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6441724"/>
                  </a:ext>
                </a:extLst>
              </a:tr>
              <a:tr h="1136412"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4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200" dirty="0" smtClean="0">
                          <a:latin typeface="Palatino Linotype" panose="02040502050505030304" pitchFamily="18" charset="0"/>
                        </a:rPr>
                        <a:t>Məntiq olimpiadası</a:t>
                      </a:r>
                      <a:endParaRPr lang="en-US" sz="22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İnformatika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400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1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7788771"/>
                  </a:ext>
                </a:extLst>
              </a:tr>
              <a:tr h="1136412"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5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200" dirty="0" smtClean="0">
                          <a:latin typeface="Palatino Linotype" panose="02040502050505030304" pitchFamily="18" charset="0"/>
                        </a:rPr>
                        <a:t>Bakı elm olimpiadası</a:t>
                      </a:r>
                      <a:endParaRPr lang="en-US" sz="22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24355"/>
                  </a:ext>
                </a:extLst>
              </a:tr>
              <a:tr h="1136412"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6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200" dirty="0" smtClean="0">
                          <a:latin typeface="Palatino Linotype" panose="02040502050505030304" pitchFamily="18" charset="0"/>
                        </a:rPr>
                        <a:t>Sabahın alimləri</a:t>
                      </a:r>
                      <a:endParaRPr lang="en-US" sz="22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8182998"/>
                  </a:ext>
                </a:extLst>
              </a:tr>
              <a:tr h="1136412"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7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200" dirty="0" smtClean="0">
                          <a:latin typeface="Palatino Linotype" panose="02040502050505030304" pitchFamily="18" charset="0"/>
                        </a:rPr>
                        <a:t>Düşünən oxucu </a:t>
                      </a:r>
                      <a:endParaRPr lang="en-US" sz="22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2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4000" dirty="0" smtClean="0">
                          <a:latin typeface="Palatino Linotype" panose="02040502050505030304" pitchFamily="18" charset="0"/>
                        </a:rPr>
                        <a:t>0</a:t>
                      </a:r>
                      <a:endParaRPr lang="en-US" sz="4000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33675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5475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67129" y="3572453"/>
            <a:ext cx="3966880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54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IV</a:t>
            </a:r>
            <a:r>
              <a:rPr kumimoji="0" lang="az-Latn-AZ" sz="5400" b="0" i="0" u="none" strike="noStrike" kern="1200" cap="none" spc="0" normalizeH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siniflərin monitorinq nəticələri</a:t>
            </a:r>
            <a:endParaRPr kumimoji="0" lang="en-US" sz="5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z-Latn-AZ" sz="2000" dirty="0" smtClean="0">
                <a:ln w="0"/>
                <a:solidFill>
                  <a:schemeClr val="bg1"/>
                </a:solidFill>
                <a:latin typeface="Palatino Linotype" panose="02040502050505030304" pitchFamily="18" charset="0"/>
              </a:rPr>
              <a:t>99 nömrəli </a:t>
            </a:r>
          </a:p>
          <a:p>
            <a:pPr algn="ctr"/>
            <a:r>
              <a:rPr lang="az-Latn-AZ" sz="2000" dirty="0" smtClean="0">
                <a:ln w="0"/>
                <a:solidFill>
                  <a:schemeClr val="bg1"/>
                </a:solidFill>
                <a:latin typeface="Palatino Linotype" panose="02040502050505030304" pitchFamily="18" charset="0"/>
              </a:rPr>
              <a:t>tam orta məktəb</a:t>
            </a:r>
            <a:endParaRPr lang="en-US" sz="2000" b="0" cap="none" spc="0" dirty="0">
              <a:ln w="0"/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813" y="1513282"/>
            <a:ext cx="10768911" cy="6622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16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67129" y="3572453"/>
            <a:ext cx="3966880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54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IV</a:t>
            </a:r>
            <a:r>
              <a:rPr kumimoji="0" lang="az-Latn-AZ" sz="5400" b="0" i="0" u="none" strike="noStrike" kern="1200" cap="none" spc="0" normalizeH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siniflərin monitorinq nəticələri</a:t>
            </a:r>
            <a:endParaRPr kumimoji="0" lang="en-US" sz="5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z-Latn-AZ" sz="2000" dirty="0" smtClean="0">
                <a:ln w="0"/>
                <a:solidFill>
                  <a:schemeClr val="bg1"/>
                </a:solidFill>
                <a:latin typeface="Palatino Linotype" panose="02040502050505030304" pitchFamily="18" charset="0"/>
              </a:rPr>
              <a:t>99 nömrəli </a:t>
            </a:r>
          </a:p>
          <a:p>
            <a:pPr algn="ctr"/>
            <a:r>
              <a:rPr lang="az-Latn-AZ" sz="2000" dirty="0" smtClean="0">
                <a:ln w="0"/>
                <a:solidFill>
                  <a:schemeClr val="bg1"/>
                </a:solidFill>
                <a:latin typeface="Palatino Linotype" panose="02040502050505030304" pitchFamily="18" charset="0"/>
              </a:rPr>
              <a:t>tam orta məktəb</a:t>
            </a:r>
            <a:endParaRPr lang="en-US" sz="2000" b="0" cap="none" spc="0" dirty="0">
              <a:ln w="0"/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  <p:pic>
        <p:nvPicPr>
          <p:cNvPr id="6" name="Picture 5"/>
          <p:cNvPicPr/>
          <p:nvPr/>
        </p:nvPicPr>
        <p:blipFill rotWithShape="1">
          <a:blip r:embed="rId2"/>
          <a:srcRect l="22787" t="20264" r="38115" b="7428"/>
          <a:stretch/>
        </p:blipFill>
        <p:spPr bwMode="auto">
          <a:xfrm>
            <a:off x="419100" y="0"/>
            <a:ext cx="11582400" cy="933225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4665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hart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64951115"/>
              </p:ext>
            </p:extLst>
          </p:nvPr>
        </p:nvGraphicFramePr>
        <p:xfrm>
          <a:off x="838200" y="228600"/>
          <a:ext cx="10820400" cy="899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763879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67129" y="3572453"/>
            <a:ext cx="3966880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54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IV siniflərin monitorinq nəticələri</a:t>
            </a:r>
            <a:endParaRPr kumimoji="0" lang="en-US" sz="5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263" y="412012"/>
            <a:ext cx="8632062" cy="525852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2932" y="6119386"/>
            <a:ext cx="5224725" cy="3212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141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Chart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5046233"/>
              </p:ext>
            </p:extLst>
          </p:nvPr>
        </p:nvGraphicFramePr>
        <p:xfrm>
          <a:off x="7105651" y="549274"/>
          <a:ext cx="3994150" cy="43402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9" name="Chart 1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8631062"/>
              </p:ext>
            </p:extLst>
          </p:nvPr>
        </p:nvGraphicFramePr>
        <p:xfrm>
          <a:off x="1546225" y="417512"/>
          <a:ext cx="4530725" cy="43402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8" name="Chart 2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3932035"/>
              </p:ext>
            </p:extLst>
          </p:nvPr>
        </p:nvGraphicFramePr>
        <p:xfrm>
          <a:off x="2647950" y="5276850"/>
          <a:ext cx="6457950" cy="39481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1" name="Rectangle 40"/>
          <p:cNvSpPr/>
          <p:nvPr/>
        </p:nvSpPr>
        <p:spPr>
          <a:xfrm>
            <a:off x="13026823" y="3521928"/>
            <a:ext cx="377527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az-Latn-AZ" sz="3200" dirty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IV siniflərin monitorinq nəticələri</a:t>
            </a:r>
            <a:endParaRPr lang="en-US" sz="3200" dirty="0">
              <a:ln w="0"/>
              <a:solidFill>
                <a:prstClr val="white"/>
              </a:solidFill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9176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67129" y="3048018"/>
            <a:ext cx="3966880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54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IX</a:t>
            </a:r>
            <a:r>
              <a:rPr kumimoji="0" lang="az-Latn-AZ" sz="54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siniflərin buraxılış</a:t>
            </a:r>
            <a:r>
              <a:rPr kumimoji="0" lang="az-Latn-AZ" sz="5400" b="0" i="0" u="none" strike="noStrike" kern="1200" cap="none" spc="0" normalizeH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imtahanı</a:t>
            </a:r>
            <a:r>
              <a:rPr kumimoji="0" lang="az-Latn-AZ" sz="54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nəticələri</a:t>
            </a:r>
            <a:endParaRPr kumimoji="0" lang="en-US" sz="5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5540066"/>
            <a:ext cx="11371752" cy="37921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63283"/>
            <a:ext cx="11371752" cy="495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718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2350751" y="3890228"/>
            <a:ext cx="446405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az-Latn-AZ" sz="4000" dirty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IX siniflərin buraxılış imtahanı nəticələri</a:t>
            </a:r>
            <a:endParaRPr lang="en-US" sz="4000" dirty="0">
              <a:ln w="0"/>
              <a:solidFill>
                <a:prstClr val="white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21" name="Chart 2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7651905"/>
              </p:ext>
            </p:extLst>
          </p:nvPr>
        </p:nvGraphicFramePr>
        <p:xfrm>
          <a:off x="695325" y="4391025"/>
          <a:ext cx="3292475" cy="4603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2" name="Chart 2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9085998"/>
              </p:ext>
            </p:extLst>
          </p:nvPr>
        </p:nvGraphicFramePr>
        <p:xfrm>
          <a:off x="4543425" y="4391025"/>
          <a:ext cx="3292475" cy="4603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3" name="Chart 2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0402650"/>
              </p:ext>
            </p:extLst>
          </p:nvPr>
        </p:nvGraphicFramePr>
        <p:xfrm>
          <a:off x="8391525" y="4391025"/>
          <a:ext cx="3292475" cy="4603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7" name="Picture 6"/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83" t="18706" r="19766" b="10606"/>
          <a:stretch/>
        </p:blipFill>
        <p:spPr bwMode="auto">
          <a:xfrm>
            <a:off x="695325" y="0"/>
            <a:ext cx="10988675" cy="43910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1456754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760" y="2494980"/>
            <a:ext cx="11245935" cy="4920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667129" y="3048018"/>
            <a:ext cx="3966880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54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IX</a:t>
            </a:r>
            <a:r>
              <a:rPr kumimoji="0" lang="az-Latn-AZ" sz="54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siniflərin buraxılış</a:t>
            </a:r>
            <a:r>
              <a:rPr kumimoji="0" lang="az-Latn-AZ" sz="5400" b="0" i="0" u="none" strike="noStrike" kern="1200" cap="none" spc="0" normalizeH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imtahanı</a:t>
            </a:r>
            <a:r>
              <a:rPr kumimoji="0" lang="az-Latn-AZ" sz="54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nəticələri</a:t>
            </a:r>
            <a:endParaRPr kumimoji="0" lang="en-US" sz="5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1604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" name="Chart 3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3210174"/>
              </p:ext>
            </p:extLst>
          </p:nvPr>
        </p:nvGraphicFramePr>
        <p:xfrm>
          <a:off x="1093304" y="357810"/>
          <a:ext cx="10614992" cy="66790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Rectangle 1"/>
          <p:cNvSpPr/>
          <p:nvPr/>
        </p:nvSpPr>
        <p:spPr>
          <a:xfrm>
            <a:off x="12477750" y="2903190"/>
            <a:ext cx="41148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az-Latn-AZ" sz="4000" dirty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IX siniflərin buraxılış imtahanı nəticələri</a:t>
            </a:r>
            <a:endParaRPr lang="en-US" sz="4000" dirty="0">
              <a:ln w="0"/>
              <a:solidFill>
                <a:prstClr val="white"/>
              </a:solidFill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29710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94" y="2781161"/>
            <a:ext cx="11416332" cy="440703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2667129" y="2994348"/>
            <a:ext cx="3966880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48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IX siniflərin buraxılış imtahanı nəticələri</a:t>
            </a:r>
            <a:r>
              <a:rPr kumimoji="0" lang="en-US" sz="48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</a:t>
            </a:r>
            <a:r>
              <a:rPr kumimoji="0" lang="az-Latn-AZ" sz="48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(müqayisəli)</a:t>
            </a:r>
            <a:endParaRPr kumimoji="0" lang="en-US" sz="48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0250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 rotWithShape="1">
          <a:blip r:embed="rId2"/>
          <a:srcRect l="2342" t="33119" r="46709" b="26882"/>
          <a:stretch/>
        </p:blipFill>
        <p:spPr bwMode="auto">
          <a:xfrm>
            <a:off x="571500" y="0"/>
            <a:ext cx="11506200" cy="960119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Rectangle 1"/>
          <p:cNvSpPr/>
          <p:nvPr/>
        </p:nvSpPr>
        <p:spPr>
          <a:xfrm>
            <a:off x="12546181" y="2664768"/>
            <a:ext cx="421781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az-Latn-AZ" sz="3600" dirty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IX siniflərin buraxılış imtahanı nəticələri</a:t>
            </a:r>
            <a:r>
              <a:rPr lang="en-US" sz="3600" dirty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 </a:t>
            </a:r>
            <a:r>
              <a:rPr lang="az-Latn-AZ" sz="3600" dirty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(müqayisəli)</a:t>
            </a:r>
            <a:endParaRPr lang="en-US" sz="3600" dirty="0">
              <a:ln w="0"/>
              <a:solidFill>
                <a:prstClr val="white"/>
              </a:solidFill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36514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667129" y="2994348"/>
            <a:ext cx="3966880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48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IX siniflərin buraxılış imtahanı nəticələri</a:t>
            </a:r>
            <a:r>
              <a:rPr kumimoji="0" lang="en-US" sz="48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</a:t>
            </a:r>
            <a:r>
              <a:rPr kumimoji="0" lang="az-Latn-AZ" sz="48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(müqayisəli)</a:t>
            </a:r>
            <a:endParaRPr kumimoji="0" lang="en-US" sz="48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352" y="910065"/>
            <a:ext cx="7531140" cy="755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050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030200" y="2436168"/>
            <a:ext cx="367665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az-Latn-AZ" sz="2800" dirty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IX siniflərin buraxılış imtahanı nəticələri</a:t>
            </a:r>
            <a:r>
              <a:rPr lang="en-US" sz="2800" dirty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 </a:t>
            </a:r>
            <a:r>
              <a:rPr lang="az-Latn-AZ" sz="2800" dirty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(müqayisəli)</a:t>
            </a:r>
            <a:endParaRPr lang="en-US" sz="2800" dirty="0">
              <a:ln w="0"/>
              <a:solidFill>
                <a:prstClr val="white"/>
              </a:solidFill>
              <a:latin typeface="Palatino Linotype" panose="02040502050505030304" pitchFamily="18" charset="0"/>
            </a:endParaRPr>
          </a:p>
        </p:txBody>
      </p:sp>
      <p:pic>
        <p:nvPicPr>
          <p:cNvPr id="9" name="Picture 8"/>
          <p:cNvPicPr/>
          <p:nvPr/>
        </p:nvPicPr>
        <p:blipFill rotWithShape="1">
          <a:blip r:embed="rId2"/>
          <a:srcRect l="2714" t="48471" r="46793" b="11658"/>
          <a:stretch/>
        </p:blipFill>
        <p:spPr bwMode="auto">
          <a:xfrm>
            <a:off x="628650" y="0"/>
            <a:ext cx="11449050" cy="960119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4941962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1010798"/>
            <a:ext cx="10841852" cy="738862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2667129" y="2994348"/>
            <a:ext cx="3966880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48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IX siniflərin buraxılış imtahanı nəticələri</a:t>
            </a:r>
            <a:r>
              <a:rPr kumimoji="0" lang="en-US" sz="48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</a:t>
            </a:r>
            <a:r>
              <a:rPr kumimoji="0" lang="az-Latn-AZ" sz="48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(müqayisəli)</a:t>
            </a:r>
            <a:endParaRPr kumimoji="0" lang="en-US" sz="48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2612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7050925"/>
              </p:ext>
            </p:extLst>
          </p:nvPr>
        </p:nvGraphicFramePr>
        <p:xfrm>
          <a:off x="1053425" y="84138"/>
          <a:ext cx="3308350" cy="36529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11878577"/>
              </p:ext>
            </p:extLst>
          </p:nvPr>
        </p:nvGraphicFramePr>
        <p:xfrm>
          <a:off x="4495800" y="84139"/>
          <a:ext cx="3308350" cy="36529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6009310"/>
              </p:ext>
            </p:extLst>
          </p:nvPr>
        </p:nvGraphicFramePr>
        <p:xfrm>
          <a:off x="8039100" y="84138"/>
          <a:ext cx="3308350" cy="36529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4677708"/>
              </p:ext>
            </p:extLst>
          </p:nvPr>
        </p:nvGraphicFramePr>
        <p:xfrm>
          <a:off x="952500" y="4911725"/>
          <a:ext cx="3308350" cy="38148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03952572"/>
              </p:ext>
            </p:extLst>
          </p:nvPr>
        </p:nvGraphicFramePr>
        <p:xfrm>
          <a:off x="4495800" y="4911725"/>
          <a:ext cx="3308350" cy="38148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6446542"/>
              </p:ext>
            </p:extLst>
          </p:nvPr>
        </p:nvGraphicFramePr>
        <p:xfrm>
          <a:off x="8039100" y="4911725"/>
          <a:ext cx="3308350" cy="40533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42093627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1" y="590550"/>
            <a:ext cx="11452497" cy="46291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916" y="5550404"/>
            <a:ext cx="11452498" cy="378185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2667129" y="2994348"/>
            <a:ext cx="3966880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48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IX siniflərin buraxılış imtahanı nəticələri</a:t>
            </a:r>
            <a:r>
              <a:rPr kumimoji="0" lang="en-US" sz="48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</a:t>
            </a:r>
            <a:r>
              <a:rPr kumimoji="0" lang="az-Latn-AZ" sz="48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(müqayisəli)</a:t>
            </a:r>
            <a:endParaRPr kumimoji="0" lang="en-US" sz="48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6800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/>
          <p:nvPr/>
        </p:nvPicPr>
        <p:blipFill rotWithShape="1">
          <a:blip r:embed="rId2"/>
          <a:srcRect l="1731" t="26673" r="4225" b="11312"/>
          <a:stretch/>
        </p:blipFill>
        <p:spPr bwMode="auto">
          <a:xfrm>
            <a:off x="666750" y="0"/>
            <a:ext cx="10991851" cy="4419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6" name="Picture 15"/>
          <p:cNvPicPr/>
          <p:nvPr/>
        </p:nvPicPr>
        <p:blipFill rotWithShape="1">
          <a:blip r:embed="rId3"/>
          <a:srcRect l="9933" t="43647" r="20339" b="10954"/>
          <a:stretch/>
        </p:blipFill>
        <p:spPr bwMode="auto">
          <a:xfrm>
            <a:off x="666751" y="4572001"/>
            <a:ext cx="10991850" cy="4419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059152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67129" y="3827947"/>
            <a:ext cx="396688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54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Fənlər üzrə nəticələr</a:t>
            </a:r>
            <a:endParaRPr kumimoji="0" lang="en-US" sz="5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1" y="385161"/>
            <a:ext cx="11315699" cy="8947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816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05767937"/>
              </p:ext>
            </p:extLst>
          </p:nvPr>
        </p:nvGraphicFramePr>
        <p:xfrm>
          <a:off x="1143000" y="876300"/>
          <a:ext cx="9677400" cy="7962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025131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67129" y="3827947"/>
            <a:ext cx="396688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54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Siniflər üzrə nəticələr</a:t>
            </a:r>
            <a:endParaRPr kumimoji="0" lang="en-US" sz="5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99" y="151422"/>
            <a:ext cx="11157217" cy="9284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873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85423786"/>
              </p:ext>
            </p:extLst>
          </p:nvPr>
        </p:nvGraphicFramePr>
        <p:xfrm>
          <a:off x="781049" y="1152525"/>
          <a:ext cx="3505200" cy="41243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9159662"/>
              </p:ext>
            </p:extLst>
          </p:nvPr>
        </p:nvGraphicFramePr>
        <p:xfrm>
          <a:off x="4876800" y="990601"/>
          <a:ext cx="3181350" cy="4114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66522850"/>
              </p:ext>
            </p:extLst>
          </p:nvPr>
        </p:nvGraphicFramePr>
        <p:xfrm>
          <a:off x="1066800" y="5753100"/>
          <a:ext cx="3486150" cy="29337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52950" y="287209"/>
            <a:ext cx="6057900" cy="418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dirty="0" smtClean="0"/>
              <a:t>İbtidai təhsil səviyyəsi üzrə nəticələr</a:t>
            </a:r>
            <a:endParaRPr lang="en-US" dirty="0"/>
          </a:p>
        </p:txBody>
      </p:sp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0763000"/>
              </p:ext>
            </p:extLst>
          </p:nvPr>
        </p:nvGraphicFramePr>
        <p:xfrm>
          <a:off x="8058150" y="1009650"/>
          <a:ext cx="3940970" cy="43810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6997889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67129" y="3243747"/>
            <a:ext cx="3966880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54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Təhsil müəssisəsi üzrə nəticələr</a:t>
            </a:r>
            <a:endParaRPr kumimoji="0" lang="en-US" sz="5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04" y="1867162"/>
            <a:ext cx="11430991" cy="566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183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35624450"/>
              </p:ext>
            </p:extLst>
          </p:nvPr>
        </p:nvGraphicFramePr>
        <p:xfrm>
          <a:off x="2190750" y="1409700"/>
          <a:ext cx="8534400" cy="7029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Rectangle 2"/>
          <p:cNvSpPr/>
          <p:nvPr/>
        </p:nvSpPr>
        <p:spPr>
          <a:xfrm>
            <a:off x="13321089" y="2988618"/>
            <a:ext cx="304286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az-Latn-AZ" sz="2400" dirty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Təhsil müəssisəsi üzrə nəticələr</a:t>
            </a:r>
            <a:endParaRPr lang="en-US" sz="2400" dirty="0">
              <a:ln w="0"/>
              <a:solidFill>
                <a:prstClr val="white"/>
              </a:solidFill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09422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67129" y="3827947"/>
            <a:ext cx="396688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54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Kitabxana fəaliyyəti</a:t>
            </a:r>
            <a:endParaRPr kumimoji="0" lang="en-US" sz="5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397928"/>
              </p:ext>
            </p:extLst>
          </p:nvPr>
        </p:nvGraphicFramePr>
        <p:xfrm>
          <a:off x="648494" y="273687"/>
          <a:ext cx="11010108" cy="9083969"/>
        </p:xfrm>
        <a:graphic>
          <a:graphicData uri="http://schemas.openxmlformats.org/drawingml/2006/table">
            <a:tbl>
              <a:tblPr/>
              <a:tblGrid>
                <a:gridCol w="2752527">
                  <a:extLst>
                    <a:ext uri="{9D8B030D-6E8A-4147-A177-3AD203B41FA5}">
                      <a16:colId xmlns:a16="http://schemas.microsoft.com/office/drawing/2014/main" val="3085182088"/>
                    </a:ext>
                  </a:extLst>
                </a:gridCol>
                <a:gridCol w="2752527">
                  <a:extLst>
                    <a:ext uri="{9D8B030D-6E8A-4147-A177-3AD203B41FA5}">
                      <a16:colId xmlns:a16="http://schemas.microsoft.com/office/drawing/2014/main" val="3902395189"/>
                    </a:ext>
                  </a:extLst>
                </a:gridCol>
                <a:gridCol w="2752527">
                  <a:extLst>
                    <a:ext uri="{9D8B030D-6E8A-4147-A177-3AD203B41FA5}">
                      <a16:colId xmlns:a16="http://schemas.microsoft.com/office/drawing/2014/main" val="2059051376"/>
                    </a:ext>
                  </a:extLst>
                </a:gridCol>
                <a:gridCol w="2752527">
                  <a:extLst>
                    <a:ext uri="{9D8B030D-6E8A-4147-A177-3AD203B41FA5}">
                      <a16:colId xmlns:a16="http://schemas.microsoft.com/office/drawing/2014/main" val="3915372351"/>
                    </a:ext>
                  </a:extLst>
                </a:gridCol>
              </a:tblGrid>
              <a:tr h="696021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3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Kitabxana</a:t>
                      </a:r>
                      <a:r>
                        <a:rPr lang="en-US" sz="36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36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fəaliyyəti</a:t>
                      </a:r>
                      <a:endParaRPr lang="en-US" sz="3600" b="1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572741"/>
                  </a:ext>
                </a:extLst>
              </a:tr>
              <a:tr h="9280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Ümumi kitab fondu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Dərsliklərin sayı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Digər ədəbiyyatlar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Kitab növlərinin sayı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3340950"/>
                  </a:ext>
                </a:extLst>
              </a:tr>
              <a:tr h="464014"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35633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30543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5090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642418"/>
                  </a:ext>
                </a:extLst>
              </a:tr>
              <a:tr h="588941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Şagirdlər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119504"/>
                  </a:ext>
                </a:extLst>
              </a:tr>
              <a:tr h="19809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Ümumi sayı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Aktiv oxucu sayı </a:t>
                      </a:r>
                      <a:b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</a:b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(İl ərzində ən azı bir kitab (digər ədəbiyyat) oxumuş şagird)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İl ərzində oxunan kitab (digər ədəbiyyat) sayı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İl ərzində oxunan kitab (digər ədəbiyyat) növlərinin sayı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0628126"/>
                  </a:ext>
                </a:extLst>
              </a:tr>
              <a:tr h="46401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az-Latn-AZ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1508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753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956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r>
                        <a:rPr lang="az-Latn-AZ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444490"/>
                  </a:ext>
                </a:extLst>
              </a:tr>
              <a:tr h="46401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49,933687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18,78192534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394173"/>
                  </a:ext>
                </a:extLst>
              </a:tr>
              <a:tr h="588941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Müəllimlər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714182"/>
                  </a:ext>
                </a:extLst>
              </a:tr>
              <a:tr h="19809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Ümumi sayı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Aktiv oxucu sayı </a:t>
                      </a:r>
                      <a:b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</a:b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(İl ərzində ən azı bir kitab (digər ədəbiyyat) oxumuş şagird)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İl ərzində oxunan kitab (digər ədəbiyyat) sayı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İl ərzində oxunan kitab (digər ədəbiyyat) növlərinin sayı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5177188"/>
                  </a:ext>
                </a:extLst>
              </a:tr>
              <a:tr h="46401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az-Latn-AZ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136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72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r>
                        <a:rPr lang="az-Latn-AZ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101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24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137266"/>
                  </a:ext>
                </a:extLst>
              </a:tr>
              <a:tr h="46401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52,94117647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1,984282908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1200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41099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6181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67129" y="3827947"/>
            <a:ext cx="396688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54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Kitabxana fəaliyyəti</a:t>
            </a:r>
            <a:endParaRPr kumimoji="0" lang="en-US" sz="5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311976"/>
              </p:ext>
            </p:extLst>
          </p:nvPr>
        </p:nvGraphicFramePr>
        <p:xfrm>
          <a:off x="688788" y="349621"/>
          <a:ext cx="11010899" cy="88885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4950">
                  <a:extLst>
                    <a:ext uri="{9D8B030D-6E8A-4147-A177-3AD203B41FA5}">
                      <a16:colId xmlns:a16="http://schemas.microsoft.com/office/drawing/2014/main" val="2532575569"/>
                    </a:ext>
                  </a:extLst>
                </a:gridCol>
                <a:gridCol w="6603955">
                  <a:extLst>
                    <a:ext uri="{9D8B030D-6E8A-4147-A177-3AD203B41FA5}">
                      <a16:colId xmlns:a16="http://schemas.microsoft.com/office/drawing/2014/main" val="405887279"/>
                    </a:ext>
                  </a:extLst>
                </a:gridCol>
                <a:gridCol w="1860997">
                  <a:extLst>
                    <a:ext uri="{9D8B030D-6E8A-4147-A177-3AD203B41FA5}">
                      <a16:colId xmlns:a16="http://schemas.microsoft.com/office/drawing/2014/main" val="4141908344"/>
                    </a:ext>
                  </a:extLst>
                </a:gridCol>
                <a:gridCol w="1860997">
                  <a:extLst>
                    <a:ext uri="{9D8B030D-6E8A-4147-A177-3AD203B41FA5}">
                      <a16:colId xmlns:a16="http://schemas.microsoft.com/office/drawing/2014/main" val="4147014052"/>
                    </a:ext>
                  </a:extLst>
                </a:gridCol>
              </a:tblGrid>
              <a:tr h="849139">
                <a:tc rowSpan="2"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№</a:t>
                      </a:r>
                      <a:endParaRPr lang="en-US" dirty="0">
                        <a:solidFill>
                          <a:schemeClr val="bg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78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Keçirilən tədbirin</a:t>
                      </a:r>
                      <a:r>
                        <a:rPr lang="az-Latn-AZ" baseline="0" dirty="0" smtClean="0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 adı</a:t>
                      </a:r>
                      <a:endParaRPr lang="en-US" dirty="0">
                        <a:solidFill>
                          <a:schemeClr val="bg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78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Cəlb olunanların</a:t>
                      </a:r>
                      <a:r>
                        <a:rPr lang="az-Latn-AZ" baseline="0" dirty="0" smtClean="0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 sayı</a:t>
                      </a:r>
                      <a:endParaRPr lang="en-US" dirty="0">
                        <a:solidFill>
                          <a:schemeClr val="bg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78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353729"/>
                  </a:ext>
                </a:extLst>
              </a:tr>
              <a:tr h="56651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Müəllim</a:t>
                      </a:r>
                      <a:endParaRPr lang="en-US" dirty="0">
                        <a:solidFill>
                          <a:schemeClr val="bg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Şagird</a:t>
                      </a:r>
                      <a:endParaRPr lang="en-US" dirty="0">
                        <a:solidFill>
                          <a:schemeClr val="bg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7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251130"/>
                  </a:ext>
                </a:extLst>
              </a:tr>
              <a:tr h="1494570"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Kitabın yaranma tarixi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12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44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5956085"/>
                  </a:ext>
                </a:extLst>
              </a:tr>
              <a:tr h="1494570"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Tık-tık xanımın nağılı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7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24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2664933"/>
                  </a:ext>
                </a:extLst>
              </a:tr>
              <a:tr h="1494570"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3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Zəfər tarixi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16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63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2319550"/>
                  </a:ext>
                </a:extLst>
              </a:tr>
              <a:tr h="1494570"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4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«Novzuz bayramı» bədii ədəbiyyatda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26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45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272373"/>
                  </a:ext>
                </a:extLst>
              </a:tr>
              <a:tr h="1494570"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5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Oxu günü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14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45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006699">
                        <a:alpha val="1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1111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9922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67129" y="3916711"/>
            <a:ext cx="396688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54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Həssas</a:t>
            </a:r>
            <a:r>
              <a:rPr kumimoji="0" lang="az-Latn-AZ" sz="5400" b="0" i="0" u="none" strike="noStrike" kern="1200" cap="none" spc="0" normalizeH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qruplar</a:t>
            </a:r>
            <a:endParaRPr kumimoji="0" lang="en-US" sz="5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886397"/>
              </p:ext>
            </p:extLst>
          </p:nvPr>
        </p:nvGraphicFramePr>
        <p:xfrm>
          <a:off x="579018" y="107570"/>
          <a:ext cx="11200609" cy="9224686"/>
        </p:xfrm>
        <a:graphic>
          <a:graphicData uri="http://schemas.openxmlformats.org/drawingml/2006/table">
            <a:tbl>
              <a:tblPr/>
              <a:tblGrid>
                <a:gridCol w="511939">
                  <a:extLst>
                    <a:ext uri="{9D8B030D-6E8A-4147-A177-3AD203B41FA5}">
                      <a16:colId xmlns:a16="http://schemas.microsoft.com/office/drawing/2014/main" val="1456011469"/>
                    </a:ext>
                  </a:extLst>
                </a:gridCol>
                <a:gridCol w="2482129">
                  <a:extLst>
                    <a:ext uri="{9D8B030D-6E8A-4147-A177-3AD203B41FA5}">
                      <a16:colId xmlns:a16="http://schemas.microsoft.com/office/drawing/2014/main" val="1282926458"/>
                    </a:ext>
                  </a:extLst>
                </a:gridCol>
                <a:gridCol w="744639">
                  <a:extLst>
                    <a:ext uri="{9D8B030D-6E8A-4147-A177-3AD203B41FA5}">
                      <a16:colId xmlns:a16="http://schemas.microsoft.com/office/drawing/2014/main" val="2903812077"/>
                    </a:ext>
                  </a:extLst>
                </a:gridCol>
                <a:gridCol w="744639">
                  <a:extLst>
                    <a:ext uri="{9D8B030D-6E8A-4147-A177-3AD203B41FA5}">
                      <a16:colId xmlns:a16="http://schemas.microsoft.com/office/drawing/2014/main" val="902570919"/>
                    </a:ext>
                  </a:extLst>
                </a:gridCol>
                <a:gridCol w="744639">
                  <a:extLst>
                    <a:ext uri="{9D8B030D-6E8A-4147-A177-3AD203B41FA5}">
                      <a16:colId xmlns:a16="http://schemas.microsoft.com/office/drawing/2014/main" val="3187987975"/>
                    </a:ext>
                  </a:extLst>
                </a:gridCol>
                <a:gridCol w="744639">
                  <a:extLst>
                    <a:ext uri="{9D8B030D-6E8A-4147-A177-3AD203B41FA5}">
                      <a16:colId xmlns:a16="http://schemas.microsoft.com/office/drawing/2014/main" val="4024026782"/>
                    </a:ext>
                  </a:extLst>
                </a:gridCol>
                <a:gridCol w="511939">
                  <a:extLst>
                    <a:ext uri="{9D8B030D-6E8A-4147-A177-3AD203B41FA5}">
                      <a16:colId xmlns:a16="http://schemas.microsoft.com/office/drawing/2014/main" val="1527158243"/>
                    </a:ext>
                  </a:extLst>
                </a:gridCol>
                <a:gridCol w="2482129">
                  <a:extLst>
                    <a:ext uri="{9D8B030D-6E8A-4147-A177-3AD203B41FA5}">
                      <a16:colId xmlns:a16="http://schemas.microsoft.com/office/drawing/2014/main" val="3650916891"/>
                    </a:ext>
                  </a:extLst>
                </a:gridCol>
                <a:gridCol w="744639">
                  <a:extLst>
                    <a:ext uri="{9D8B030D-6E8A-4147-A177-3AD203B41FA5}">
                      <a16:colId xmlns:a16="http://schemas.microsoft.com/office/drawing/2014/main" val="790848942"/>
                    </a:ext>
                  </a:extLst>
                </a:gridCol>
                <a:gridCol w="744639">
                  <a:extLst>
                    <a:ext uri="{9D8B030D-6E8A-4147-A177-3AD203B41FA5}">
                      <a16:colId xmlns:a16="http://schemas.microsoft.com/office/drawing/2014/main" val="3136429726"/>
                    </a:ext>
                  </a:extLst>
                </a:gridCol>
                <a:gridCol w="744639">
                  <a:extLst>
                    <a:ext uri="{9D8B030D-6E8A-4147-A177-3AD203B41FA5}">
                      <a16:colId xmlns:a16="http://schemas.microsoft.com/office/drawing/2014/main" val="1904276023"/>
                    </a:ext>
                  </a:extLst>
                </a:gridCol>
              </a:tblGrid>
              <a:tr h="670016">
                <a:tc gridSpan="11">
                  <a:txBody>
                    <a:bodyPr/>
                    <a:lstStyle/>
                    <a:p>
                      <a:pPr algn="ctr" fontAlgn="ctr"/>
                      <a:r>
                        <a:rPr lang="en-US" sz="2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Həssaslıq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2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göstəriciləri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2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və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2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saylar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285344"/>
                  </a:ext>
                </a:extLst>
              </a:tr>
              <a:tr h="478583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Həssaslıq göstəriciləri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Azərbaycan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bölməsi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Rus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endParaRPr lang="az-Latn-AZ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  <a:p>
                      <a:pPr algn="ctr" fontAlgn="ctr"/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bölməsi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Ümumi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0">
                  <a:txBody>
                    <a:bodyPr/>
                    <a:lstStyle/>
                    <a:p>
                      <a:pPr algn="ctr" fontAlgn="ctr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Həssaslıq göstəriciləri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Azərbaycan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bölməsi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Rus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endParaRPr lang="az-Latn-AZ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  <a:p>
                      <a:pPr algn="ctr" fontAlgn="ctr"/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bölməsi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Ümumi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113255"/>
                  </a:ext>
                </a:extLst>
              </a:tr>
              <a:tr h="8973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Çətin tərbiyə olunan şagirdlər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Ağır somatik və ya xroniki xəstəlikləri olan şagirdlər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7249312"/>
                  </a:ext>
                </a:extLst>
              </a:tr>
              <a:tr h="8973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Hüquq pozuntuları törədən şagirdlər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Psixi pozuntuları olan şagirdlər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3126992"/>
                  </a:ext>
                </a:extLst>
              </a:tr>
              <a:tr h="8973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Valideynləri ayrılan şagirdlər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127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127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Bu və ya digər mənada zorakılığa məruz qalan şagirdlər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308435"/>
                  </a:ext>
                </a:extLst>
              </a:tr>
              <a:tr h="8973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Valideynlərindən</a:t>
                      </a:r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birini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itirmiş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şagirdlər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363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363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Dini fanatizm meylləri müşahidə olunan şagirdlər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9506463"/>
                  </a:ext>
                </a:extLst>
              </a:tr>
              <a:tr h="8973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Valideynlərinin</a:t>
                      </a:r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hər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ikisini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itirmiş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şagirdlər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Ağır nəticələrə səbəb olan internet asılılığı olan şagirdlər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4409464"/>
                  </a:ext>
                </a:extLst>
              </a:tr>
              <a:tr h="8973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Himayədə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yaşayan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şagirdlər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(</a:t>
                      </a:r>
                      <a:r>
                        <a:rPr lang="en-US" sz="14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valideynlərini</a:t>
                      </a:r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itirmədiyi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halda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Pis vərdişlərə (alkoqolizm, siqaret istifadəçisi, narkotik istifadəçisi və s.) malik olan şagirdlər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2272952"/>
                  </a:ext>
                </a:extLst>
              </a:tr>
              <a:tr h="8973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Qəyyumluğa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verilmiş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şagirdlər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(</a:t>
                      </a:r>
                      <a:r>
                        <a:rPr lang="en-US" sz="14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valideynlərini</a:t>
                      </a:r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itirmədiyi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halda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Neqativ davranışları (evdənqaçma, kiçik xuliqanlıq, vandalizm və s.) olan şagirdlər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6015078"/>
                  </a:ext>
                </a:extLst>
              </a:tr>
              <a:tr h="8973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Şəhid övladı olan şagirdlər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Fiziki və əqli qüsurları olan şagirdlər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70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70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7802545"/>
                  </a:ext>
                </a:extLst>
              </a:tr>
              <a:tr h="8973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Qazi övladı olan şagirdlər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Digər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z-Latn-AZ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54203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0105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67129" y="3501212"/>
            <a:ext cx="3966880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54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Sosial yönümlü</a:t>
            </a:r>
            <a:r>
              <a:rPr kumimoji="0" lang="az-Latn-AZ" sz="54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fəaliyyətlər</a:t>
            </a:r>
            <a:endParaRPr kumimoji="0" lang="en-US" sz="5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76646"/>
              </p:ext>
            </p:extLst>
          </p:nvPr>
        </p:nvGraphicFramePr>
        <p:xfrm>
          <a:off x="688788" y="349621"/>
          <a:ext cx="11010899" cy="88885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4950">
                  <a:extLst>
                    <a:ext uri="{9D8B030D-6E8A-4147-A177-3AD203B41FA5}">
                      <a16:colId xmlns:a16="http://schemas.microsoft.com/office/drawing/2014/main" val="2532575569"/>
                    </a:ext>
                  </a:extLst>
                </a:gridCol>
                <a:gridCol w="6603955">
                  <a:extLst>
                    <a:ext uri="{9D8B030D-6E8A-4147-A177-3AD203B41FA5}">
                      <a16:colId xmlns:a16="http://schemas.microsoft.com/office/drawing/2014/main" val="405887279"/>
                    </a:ext>
                  </a:extLst>
                </a:gridCol>
                <a:gridCol w="1860997">
                  <a:extLst>
                    <a:ext uri="{9D8B030D-6E8A-4147-A177-3AD203B41FA5}">
                      <a16:colId xmlns:a16="http://schemas.microsoft.com/office/drawing/2014/main" val="4141908344"/>
                    </a:ext>
                  </a:extLst>
                </a:gridCol>
                <a:gridCol w="1860997">
                  <a:extLst>
                    <a:ext uri="{9D8B030D-6E8A-4147-A177-3AD203B41FA5}">
                      <a16:colId xmlns:a16="http://schemas.microsoft.com/office/drawing/2014/main" val="4147014052"/>
                    </a:ext>
                  </a:extLst>
                </a:gridCol>
              </a:tblGrid>
              <a:tr h="849139">
                <a:tc rowSpan="2"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№</a:t>
                      </a:r>
                      <a:endParaRPr lang="en-US" dirty="0">
                        <a:solidFill>
                          <a:schemeClr val="bg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65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Keçirilən tədbirin</a:t>
                      </a:r>
                      <a:r>
                        <a:rPr lang="az-Latn-AZ" baseline="0" dirty="0" smtClean="0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 adı</a:t>
                      </a:r>
                      <a:endParaRPr lang="en-US" dirty="0">
                        <a:solidFill>
                          <a:schemeClr val="bg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65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Cəlb olunanların</a:t>
                      </a:r>
                      <a:r>
                        <a:rPr lang="az-Latn-AZ" baseline="0" dirty="0" smtClean="0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 sayı</a:t>
                      </a:r>
                      <a:endParaRPr lang="en-US" dirty="0">
                        <a:solidFill>
                          <a:schemeClr val="bg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6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353729"/>
                  </a:ext>
                </a:extLst>
              </a:tr>
              <a:tr h="56651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Müəllim</a:t>
                      </a:r>
                      <a:endParaRPr lang="en-US" dirty="0">
                        <a:solidFill>
                          <a:schemeClr val="bg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Şagird</a:t>
                      </a:r>
                      <a:endParaRPr lang="en-US" dirty="0">
                        <a:solidFill>
                          <a:schemeClr val="bg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6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251130"/>
                  </a:ext>
                </a:extLst>
              </a:tr>
              <a:tr h="1494570"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5956085"/>
                  </a:ext>
                </a:extLst>
              </a:tr>
              <a:tr h="1494570"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2664933"/>
                  </a:ext>
                </a:extLst>
              </a:tr>
              <a:tr h="1494570"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3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2319550"/>
                  </a:ext>
                </a:extLst>
              </a:tr>
              <a:tr h="1494570"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4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272373"/>
                  </a:ext>
                </a:extLst>
              </a:tr>
              <a:tr h="1494570">
                <a:tc>
                  <a:txBody>
                    <a:bodyPr/>
                    <a:lstStyle/>
                    <a:p>
                      <a:pPr algn="ctr"/>
                      <a:r>
                        <a:rPr lang="az-Latn-AZ" dirty="0" smtClea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5</a:t>
                      </a:r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rgbClr val="7030A0">
                        <a:alpha val="17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1111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2219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67129" y="3249723"/>
            <a:ext cx="3966880" cy="34778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44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Təhsil müəssisəsində həyata keçirilən layihələr</a:t>
            </a:r>
            <a:endParaRPr kumimoji="0" lang="en-US" sz="4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2166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67129" y="4221647"/>
            <a:ext cx="396688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5400" noProof="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Uğurlarımız</a:t>
            </a:r>
            <a:endParaRPr kumimoji="0" lang="en-US" sz="5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3502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67129" y="3827947"/>
            <a:ext cx="396688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54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Təhsil ehtiyacları</a:t>
            </a:r>
            <a:endParaRPr kumimoji="0" lang="en-US" sz="5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53035" y="331712"/>
            <a:ext cx="10919012" cy="544764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4000" b="0" i="0" u="none" strike="noStrike" kern="1200" cap="none" spc="0" normalizeH="0" baseline="0" noProof="0" dirty="0" smtClean="0">
                <a:ln w="0"/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Təhsil ehtiyacları</a:t>
            </a:r>
          </a:p>
          <a:p>
            <a:pPr marL="0" marR="0" lvl="0" indent="0" algn="just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800" i="1" dirty="0" smtClean="0">
                <a:ln w="0"/>
                <a:latin typeface="Palatino Linotype" panose="02040502050505030304" pitchFamily="18" charset="0"/>
              </a:rPr>
              <a:t>(Burada keyfiyyətli öyrənməyə və öyrətməyə birbaşa təsir edən əsas ehtiyaclar qeyd olunur.)</a:t>
            </a:r>
          </a:p>
          <a:p>
            <a:pPr marL="0" marR="0" lvl="0" indent="0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3600" b="0" i="0" u="none" strike="noStrike" kern="1200" cap="none" spc="0" normalizeH="0" baseline="0" noProof="0" dirty="0" smtClean="0">
                <a:ln w="0"/>
                <a:effectLst/>
                <a:uLnTx/>
                <a:uFillTx/>
                <a:latin typeface="Palatino Linotype" panose="02040502050505030304" pitchFamily="18" charset="0"/>
              </a:rPr>
              <a:t>1. Müəllimlərə olimpiyadalara və müsabiqələrə şagird hazırlamaq istiqamətində dəstək</a:t>
            </a:r>
            <a:r>
              <a:rPr kumimoji="0" lang="az-Latn-AZ" sz="3600" b="0" i="0" u="none" strike="noStrike" kern="1200" cap="none" spc="0" normalizeH="0" noProof="0" dirty="0" smtClean="0">
                <a:ln w="0"/>
                <a:effectLst/>
                <a:uLnTx/>
                <a:uFillTx/>
                <a:latin typeface="Palatino Linotype" panose="02040502050505030304" pitchFamily="18" charset="0"/>
              </a:rPr>
              <a:t> olmaq.</a:t>
            </a:r>
            <a:endParaRPr kumimoji="0" lang="az-Latn-AZ" sz="3600" b="0" i="0" u="none" strike="noStrike" kern="1200" cap="none" spc="0" normalizeH="0" baseline="0" noProof="0" dirty="0" smtClean="0">
              <a:ln w="0"/>
              <a:effectLst/>
              <a:uLnTx/>
              <a:uFillTx/>
              <a:latin typeface="Palatino Linotype" panose="02040502050505030304" pitchFamily="18" charset="0"/>
            </a:endParaRPr>
          </a:p>
          <a:p>
            <a:pPr marL="0" marR="0" lvl="0" indent="0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3600" dirty="0" smtClean="0">
                <a:ln w="0"/>
                <a:latin typeface="Palatino Linotype" panose="02040502050505030304" pitchFamily="18" charset="0"/>
              </a:rPr>
              <a:t>2. IV siniflərin monitorinq nəticələrini müzakirə edərkən riyaziyyat fənninin zəif olmasını nəzərə almaq,IX sinfə qədər həmin siniflərin riyaziyyat nəticələrini izləmək.</a:t>
            </a:r>
          </a:p>
          <a:p>
            <a:pPr marL="0" marR="0" lvl="0" indent="0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z-Latn-AZ" sz="3600" b="0" i="0" u="none" strike="noStrike" kern="1200" cap="none" spc="0" normalizeH="0" baseline="0" noProof="0" dirty="0" smtClean="0">
              <a:ln w="0"/>
              <a:effectLst/>
              <a:uLnTx/>
              <a:uFillTx/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8037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67129" y="3167547"/>
            <a:ext cx="3966880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54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Növbəti tədris ili üçün əsas hədəflər</a:t>
            </a:r>
            <a:endParaRPr kumimoji="0" lang="en-US" sz="54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67129" y="8624370"/>
            <a:ext cx="24608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2000" dirty="0" smtClean="0">
                <a:ln w="0"/>
                <a:solidFill>
                  <a:prstClr val="white"/>
                </a:solidFill>
                <a:latin typeface="Palatino Linotype" panose="02040502050505030304" pitchFamily="18" charset="0"/>
              </a:rPr>
              <a:t>99</a:t>
            </a: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 nömrəli </a:t>
            </a:r>
          </a:p>
          <a:p>
            <a:pPr marL="0" marR="0" lvl="0" indent="0" algn="ctr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2000" b="0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tam orta məktəb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3502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87240" y="917227"/>
            <a:ext cx="7580922" cy="4154984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ctr" defTabSz="2106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8800" dirty="0">
                <a:ln w="0"/>
                <a:latin typeface="Palatino Linotype" panose="02040502050505030304" pitchFamily="18" charset="0"/>
              </a:rPr>
              <a:t>Diqqətinizə </a:t>
            </a:r>
          </a:p>
          <a:p>
            <a:pPr marL="0" marR="0" lvl="0" indent="0" algn="ctr" defTabSz="2106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8800" dirty="0">
                <a:ln w="0"/>
                <a:latin typeface="Palatino Linotype" panose="02040502050505030304" pitchFamily="18" charset="0"/>
              </a:rPr>
              <a:t>görə </a:t>
            </a:r>
          </a:p>
          <a:p>
            <a:pPr marL="0" marR="0" lvl="0" indent="0" algn="ctr" defTabSz="2106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8800" dirty="0">
                <a:ln w="0"/>
                <a:latin typeface="Palatino Linotype" panose="02040502050505030304" pitchFamily="18" charset="0"/>
              </a:rPr>
              <a:t>minnətdarıq!!!</a:t>
            </a:r>
            <a:endParaRPr kumimoji="0" lang="en-US" sz="8800" u="none" strike="noStrike" kern="1200" cap="none" spc="0" normalizeH="0" baseline="0" noProof="0" dirty="0">
              <a:ln w="0"/>
              <a:effectLst/>
              <a:uLnTx/>
              <a:uFillTx/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1180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8087</TotalTime>
  <Words>1477</Words>
  <Application>Microsoft Office PowerPoint</Application>
  <PresentationFormat>Custom</PresentationFormat>
  <Paragraphs>589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Arial</vt:lpstr>
      <vt:lpstr>Calibri</vt:lpstr>
      <vt:lpstr>Palatino Linotype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User</cp:lastModifiedBy>
  <cp:revision>112</cp:revision>
  <dcterms:created xsi:type="dcterms:W3CDTF">2022-07-06T13:33:43Z</dcterms:created>
  <dcterms:modified xsi:type="dcterms:W3CDTF">2022-08-10T09:48:10Z</dcterms:modified>
</cp:coreProperties>
</file>