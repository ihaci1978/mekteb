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1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2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3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58" r:id="rId5"/>
    <p:sldId id="259" r:id="rId6"/>
    <p:sldId id="261" r:id="rId7"/>
    <p:sldId id="267" r:id="rId8"/>
    <p:sldId id="272" r:id="rId9"/>
    <p:sldId id="268" r:id="rId10"/>
    <p:sldId id="269" r:id="rId11"/>
    <p:sldId id="270" r:id="rId12"/>
    <p:sldId id="271" r:id="rId13"/>
    <p:sldId id="262" r:id="rId14"/>
    <p:sldId id="296" r:id="rId15"/>
    <p:sldId id="298" r:id="rId16"/>
    <p:sldId id="299" r:id="rId17"/>
    <p:sldId id="300" r:id="rId18"/>
    <p:sldId id="301" r:id="rId19"/>
    <p:sldId id="297" r:id="rId20"/>
    <p:sldId id="302" r:id="rId21"/>
    <p:sldId id="303" r:id="rId22"/>
    <p:sldId id="304" r:id="rId23"/>
    <p:sldId id="305" r:id="rId24"/>
    <p:sldId id="307" r:id="rId25"/>
    <p:sldId id="306" r:id="rId26"/>
    <p:sldId id="286" r:id="rId27"/>
    <p:sldId id="290" r:id="rId28"/>
    <p:sldId id="295" r:id="rId29"/>
    <p:sldId id="294" r:id="rId30"/>
    <p:sldId id="293" r:id="rId31"/>
    <p:sldId id="282" r:id="rId32"/>
    <p:sldId id="283" r:id="rId33"/>
    <p:sldId id="284" r:id="rId34"/>
    <p:sldId id="260" r:id="rId35"/>
  </p:sldIdLst>
  <p:sldSz cx="17068800" cy="9601200"/>
  <p:notesSz cx="6858000" cy="9144000"/>
  <p:defaultTextStyle>
    <a:defPPr>
      <a:defRPr lang="en-US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53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0000CC"/>
    <a:srgbClr val="9B9BE4"/>
    <a:srgbClr val="9B9BE5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91" autoAdjust="0"/>
    <p:restoredTop sz="94660"/>
  </p:normalViewPr>
  <p:slideViewPr>
    <p:cSldViewPr snapToGrid="0">
      <p:cViewPr varScale="1">
        <p:scale>
          <a:sx n="50" d="100"/>
          <a:sy n="50" d="100"/>
        </p:scale>
        <p:origin x="1068" y="42"/>
      </p:cViewPr>
      <p:guideLst>
        <p:guide orient="horz" pos="3024"/>
        <p:guide pos="53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Pedaqoji%20hey&#601;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Pedaqoji%20hey&#601;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Pedaqoji%20hey&#601;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D:\Bak&#305;%20IX%202021,%202022,%20M&#252;qayis&#601;li%20t&#601;hlil-T&#601;hsil%20m&#252;&#601;ssis&#601;l&#601;ri%20&#252;&#231;&#252;n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D:\Bak&#305;%20IX%202021,%202022,%20M&#252;qayis&#601;li%20t&#601;hlil-T&#601;hsil%20m&#252;&#601;ssis&#601;l&#601;ri%20&#252;&#231;&#252;n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D:\Bak&#305;%20IX%202021,%202022,%20M&#252;qayis&#601;li%20t&#601;hlil-T&#601;hsil%20m&#252;&#601;ssis&#601;l&#601;ri%20&#252;&#231;&#252;n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bg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2400" b="1">
                <a:solidFill>
                  <a:schemeClr val="bg1"/>
                </a:solidFill>
              </a:rPr>
              <a:t>Təhsil</a:t>
            </a:r>
            <a:r>
              <a:rPr lang="az-Latn-AZ" sz="2400" b="1" baseline="0">
                <a:solidFill>
                  <a:schemeClr val="bg1"/>
                </a:solidFill>
              </a:rPr>
              <a:t> müəssisəsi üzrə orta göstəricilər</a:t>
            </a:r>
            <a:endParaRPr lang="en-US" sz="24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bg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v>Azərbaycan bölməsi</c:v>
          </c:tx>
          <c:spPr>
            <a:gradFill flip="none" rotWithShape="1">
              <a:gsLst>
                <a:gs pos="0">
                  <a:srgbClr val="33CCCC">
                    <a:shade val="30000"/>
                    <a:satMod val="115000"/>
                  </a:srgbClr>
                </a:gs>
                <a:gs pos="50000">
                  <a:srgbClr val="33CCCC">
                    <a:shade val="67500"/>
                    <a:satMod val="115000"/>
                  </a:srgbClr>
                </a:gs>
                <a:gs pos="100000">
                  <a:srgbClr val="33CC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təhlil'!$FQ$3:$GG$4</c:f>
              <c:multiLvlStrCache>
                <c:ptCount val="7"/>
                <c:lvl>
                  <c:pt idx="0">
                    <c:v>Ümumi</c:v>
                  </c:pt>
                  <c:pt idx="1">
                    <c:v>Ümumi</c:v>
                  </c:pt>
                  <c:pt idx="2">
                    <c:v>Ümumi</c:v>
                  </c:pt>
                  <c:pt idx="4">
                    <c:v>Ümumi</c:v>
                  </c:pt>
                </c:lvl>
                <c:lvl>
                  <c:pt idx="3">
                    <c:v>Yekun ümumi nəticə</c:v>
                  </c:pt>
                  <c:pt idx="5">
                    <c:v>Orta yaş</c:v>
                  </c:pt>
                  <c:pt idx="6">
                    <c:v>Orta bal (şagird)</c:v>
                  </c:pt>
                </c:lvl>
              </c:multiLvlStrCache>
            </c:multiLvlStrRef>
          </c:cat>
          <c:val>
            <c:numRef>
              <c:f>'Ümumi təhlil'!$FQ$7:$GG$7</c:f>
              <c:numCache>
                <c:formatCode>0.00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A-4E17-BEF4-D1560F802766}"/>
            </c:ext>
          </c:extLst>
        </c:ser>
        <c:ser>
          <c:idx val="6"/>
          <c:order val="6"/>
          <c:tx>
            <c:v>Rus bölməsi</c:v>
          </c:tx>
          <c:spPr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təhlil'!$FQ$3:$GG$4</c:f>
              <c:multiLvlStrCache>
                <c:ptCount val="7"/>
                <c:lvl>
                  <c:pt idx="0">
                    <c:v>Ümumi</c:v>
                  </c:pt>
                  <c:pt idx="1">
                    <c:v>Ümumi</c:v>
                  </c:pt>
                  <c:pt idx="2">
                    <c:v>Ümumi</c:v>
                  </c:pt>
                  <c:pt idx="4">
                    <c:v>Ümumi</c:v>
                  </c:pt>
                </c:lvl>
                <c:lvl>
                  <c:pt idx="3">
                    <c:v>Yekun ümumi nəticə</c:v>
                  </c:pt>
                  <c:pt idx="5">
                    <c:v>Orta yaş</c:v>
                  </c:pt>
                  <c:pt idx="6">
                    <c:v>Orta bal (şagird)</c:v>
                  </c:pt>
                </c:lvl>
              </c:multiLvlStrCache>
            </c:multiLvlStrRef>
          </c:cat>
          <c:val>
            <c:numRef>
              <c:f>'Ümumi təhlil'!$FQ$10:$GG$10</c:f>
              <c:numCache>
                <c:formatCode>0.00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2A-4E17-BEF4-D1560F802766}"/>
            </c:ext>
          </c:extLst>
        </c:ser>
        <c:ser>
          <c:idx val="9"/>
          <c:order val="9"/>
          <c:tx>
            <c:v>Ümumi</c:v>
          </c:tx>
          <c:spPr>
            <a:gradFill flip="none" rotWithShape="1">
              <a:gsLst>
                <a:gs pos="0">
                  <a:srgbClr val="FF7C80">
                    <a:shade val="30000"/>
                    <a:satMod val="115000"/>
                  </a:srgbClr>
                </a:gs>
                <a:gs pos="50000">
                  <a:srgbClr val="FF7C80">
                    <a:shade val="67500"/>
                    <a:satMod val="115000"/>
                  </a:srgbClr>
                </a:gs>
                <a:gs pos="100000">
                  <a:srgbClr val="FF7C8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təhlil'!$FQ$3:$GG$4</c:f>
              <c:multiLvlStrCache>
                <c:ptCount val="7"/>
                <c:lvl>
                  <c:pt idx="0">
                    <c:v>Ümumi</c:v>
                  </c:pt>
                  <c:pt idx="1">
                    <c:v>Ümumi</c:v>
                  </c:pt>
                  <c:pt idx="2">
                    <c:v>Ümumi</c:v>
                  </c:pt>
                  <c:pt idx="4">
                    <c:v>Ümumi</c:v>
                  </c:pt>
                </c:lvl>
                <c:lvl>
                  <c:pt idx="3">
                    <c:v>Yekun ümumi nəticə</c:v>
                  </c:pt>
                  <c:pt idx="5">
                    <c:v>Orta yaş</c:v>
                  </c:pt>
                  <c:pt idx="6">
                    <c:v>Orta bal (şagird)</c:v>
                  </c:pt>
                </c:lvl>
              </c:multiLvlStrCache>
            </c:multiLvlStrRef>
          </c:cat>
          <c:val>
            <c:numRef>
              <c:f>'Ümumi təhlil'!$FQ$13:$GG$13</c:f>
              <c:numCache>
                <c:formatCode>0.00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">
                  <c:v>20.238636363636363</c:v>
                </c:pt>
                <c:pt idx="5">
                  <c:v>54.053030303030305</c:v>
                </c:pt>
                <c:pt idx="6">
                  <c:v>68.3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2A-4E17-BEF4-D1560F8027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1570187120"/>
        <c:axId val="15701983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'Ümumi təhlil'!$FP$4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'Ümumi təhlil'!$FQ$4:$GG$4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AD2A-4E17-BEF4-D1560F802766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təhlil'!$FQ$5:$GG$5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AD2A-4E17-BEF4-D1560F80276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təhlil'!$FQ$6:$GG$6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AD2A-4E17-BEF4-D1560F802766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təhlil'!$FQ$8:$GG$8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AD2A-4E17-BEF4-D1560F802766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təhlil'!$FQ$9:$GG$9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AD2A-4E17-BEF4-D1560F802766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təhlil'!$FQ$11:$GG$11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20.159836065573771</c:v>
                      </c:pt>
                      <c:pt idx="5">
                        <c:v>0</c:v>
                      </c:pt>
                      <c:pt idx="6">
                        <c:v>67.943965517241381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AD2A-4E17-BEF4-D1560F802766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təhlil'!$FQ$12:$GG$12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63.166666666666671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65.219696969696983</c:v>
                      </c:pt>
                      <c:pt idx="4" formatCode="0.0">
                        <c:v>20.818181818181817</c:v>
                      </c:pt>
                      <c:pt idx="5">
                        <c:v>53</c:v>
                      </c:pt>
                      <c:pt idx="6">
                        <c:v>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AD2A-4E17-BEF4-D1560F802766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təhlil'!$FP$14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təhlil'!$FQ$14:$GG$14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AD2A-4E17-BEF4-D1560F802766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təhlil'!$FQ$15:$GG$15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AD2A-4E17-BEF4-D1560F802766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təhlil'!$FQ$16:$GG$16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AD2A-4E17-BEF4-D1560F802766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2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təhlil'!$FQ$17:$GG$17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AD2A-4E17-BEF4-D1560F802766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təhlil'!$FQ$18:$GG$18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AD2A-4E17-BEF4-D1560F802766}"/>
                  </c:ext>
                </c:extLst>
              </c15:ser>
            </c15:filteredBarSeries>
            <c15:filteredBar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təhlil'!$FQ$19:$GG$19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AD2A-4E17-BEF4-D1560F802766}"/>
                  </c:ext>
                </c:extLst>
              </c15:ser>
            </c15:filteredBarSeries>
            <c15:filteredBar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təhlil'!$FP$20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təhlil'!$FQ$20:$GG$20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AD2A-4E17-BEF4-D1560F802766}"/>
                  </c:ext>
                </c:extLst>
              </c15:ser>
            </c15:filteredBarSeries>
            <c15:filteredBar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təhlil'!$FP$21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təhlil'!$FQ$21:$GG$21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AD2A-4E17-BEF4-D1560F802766}"/>
                  </c:ext>
                </c:extLst>
              </c15:ser>
            </c15:filteredBarSeries>
            <c15:filteredBar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təhlil'!$FP$22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təhlil'!$FQ$22:$GG$22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AD2A-4E17-BEF4-D1560F802766}"/>
                  </c:ext>
                </c:extLst>
              </c15:ser>
            </c15:filteredBarSeries>
          </c:ext>
        </c:extLst>
      </c:barChart>
      <c:catAx>
        <c:axId val="1570187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1570198352"/>
        <c:crosses val="autoZero"/>
        <c:auto val="1"/>
        <c:lblAlgn val="ctr"/>
        <c:lblOffset val="100"/>
        <c:noMultiLvlLbl val="0"/>
      </c:catAx>
      <c:valAx>
        <c:axId val="1570198352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570187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>
        <a:lumMod val="65000"/>
        <a:lumOff val="3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2400" b="1">
                <a:solidFill>
                  <a:schemeClr val="tx1"/>
                </a:solidFill>
              </a:rPr>
              <a:t>Müəllimlərin</a:t>
            </a:r>
            <a:r>
              <a:rPr lang="az-Latn-AZ" sz="2400" b="1" baseline="0">
                <a:solidFill>
                  <a:schemeClr val="tx1"/>
                </a:solidFill>
              </a:rPr>
              <a:t> yaş intervalları üzrə təhlili </a:t>
            </a:r>
            <a:r>
              <a:rPr lang="az-Latn-AZ" sz="1800" b="0" i="1" baseline="0">
                <a:solidFill>
                  <a:schemeClr val="tx1"/>
                </a:solidFill>
              </a:rPr>
              <a:t>(Ümumi)</a:t>
            </a:r>
          </a:p>
        </c:rich>
      </c:tx>
      <c:layout>
        <c:manualLayout>
          <c:xMode val="edge"/>
          <c:yMode val="edge"/>
          <c:x val="0.26443006436431588"/>
          <c:y val="6.2185532576650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0028453553527789"/>
          <c:w val="0.98175756760603661"/>
          <c:h val="0.65636274698143104"/>
        </c:manualLayout>
      </c:layout>
      <c:barChart>
        <c:barDir val="col"/>
        <c:grouping val="clustered"/>
        <c:varyColors val="0"/>
        <c:ser>
          <c:idx val="8"/>
          <c:order val="8"/>
          <c:tx>
            <c:v>Ümumi</c:v>
          </c:tx>
          <c:spPr>
            <a:gradFill flip="none" rotWithShape="1">
              <a:gsLst>
                <a:gs pos="0">
                  <a:srgbClr val="FF7C80">
                    <a:shade val="30000"/>
                    <a:satMod val="115000"/>
                  </a:srgbClr>
                </a:gs>
                <a:gs pos="50000">
                  <a:srgbClr val="FF7C80">
                    <a:shade val="67500"/>
                    <a:satMod val="115000"/>
                  </a:srgbClr>
                </a:gs>
                <a:gs pos="100000">
                  <a:srgbClr val="FF7C8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263C-4AE1-8EF2-5D0929633F63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263C-4AE1-8EF2-5D0929633F63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263C-4AE1-8EF2-5D0929633F63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263C-4AE1-8EF2-5D0929633F63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9-263C-4AE1-8EF2-5D0929633F63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B-263C-4AE1-8EF2-5D0929633F63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D-263C-4AE1-8EF2-5D0929633F63}"/>
              </c:ext>
            </c:extLst>
          </c:dPt>
          <c:dPt>
            <c:idx val="7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F-263C-4AE1-8EF2-5D0929633F63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1-263C-4AE1-8EF2-5D0929633F63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3-263C-4AE1-8EF2-5D0929633F63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5-263C-4AE1-8EF2-5D0929633F63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7-263C-4AE1-8EF2-5D0929633F63}"/>
              </c:ext>
            </c:extLst>
          </c:dPt>
          <c:dPt>
            <c:idx val="12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9-263C-4AE1-8EF2-5D0929633F63}"/>
              </c:ext>
            </c:extLst>
          </c:dPt>
          <c:dPt>
            <c:idx val="13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B-263C-4AE1-8EF2-5D0929633F63}"/>
              </c:ext>
            </c:extLst>
          </c:dPt>
          <c:dPt>
            <c:idx val="14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D-263C-4AE1-8EF2-5D0929633F63}"/>
              </c:ext>
            </c:extLst>
          </c:dPt>
          <c:dPt>
            <c:idx val="15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F-263C-4AE1-8EF2-5D0929633F63}"/>
              </c:ext>
            </c:extLst>
          </c:dPt>
          <c:dPt>
            <c:idx val="16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1-263C-4AE1-8EF2-5D0929633F63}"/>
              </c:ext>
            </c:extLst>
          </c:dPt>
          <c:dPt>
            <c:idx val="17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3-263C-4AE1-8EF2-5D0929633F63}"/>
              </c:ext>
            </c:extLst>
          </c:dPt>
          <c:dPt>
            <c:idx val="18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5-263C-4AE1-8EF2-5D0929633F63}"/>
              </c:ext>
            </c:extLst>
          </c:dPt>
          <c:dPt>
            <c:idx val="19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7-263C-4AE1-8EF2-5D0929633F6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təhlil'!$BJ$2:$EK$4</c:f>
              <c:multiLvlStrCache>
                <c:ptCount val="20"/>
                <c:lvl>
                  <c:pt idx="2">
                    <c:v>Ümumi</c:v>
                  </c:pt>
                  <c:pt idx="6">
                    <c:v>Ümumi</c:v>
                  </c:pt>
                  <c:pt idx="10">
                    <c:v>Ümumi</c:v>
                  </c:pt>
                  <c:pt idx="14">
                    <c:v>Ümumi</c:v>
                  </c:pt>
                  <c:pt idx="18">
                    <c:v>Ümumi</c:v>
                  </c:pt>
                </c:lvl>
                <c:lvl>
                  <c:pt idx="0">
                    <c:v>Say</c:v>
                  </c:pt>
                  <c:pt idx="1">
                    <c:v>Yekun ümumi nəticə</c:v>
                  </c:pt>
                  <c:pt idx="3">
                    <c:v>Orta bal (şagird)</c:v>
                  </c:pt>
                  <c:pt idx="4">
                    <c:v>Say</c:v>
                  </c:pt>
                  <c:pt idx="5">
                    <c:v>Yekun ümumi nəticə</c:v>
                  </c:pt>
                  <c:pt idx="7">
                    <c:v>Orta bal (şagird)</c:v>
                  </c:pt>
                  <c:pt idx="8">
                    <c:v>Say</c:v>
                  </c:pt>
                  <c:pt idx="9">
                    <c:v>Yekun ümumi nəticə</c:v>
                  </c:pt>
                  <c:pt idx="11">
                    <c:v>Orta bal (şagird)</c:v>
                  </c:pt>
                  <c:pt idx="12">
                    <c:v>Say</c:v>
                  </c:pt>
                  <c:pt idx="13">
                    <c:v>Yekun ümumi nəticə</c:v>
                  </c:pt>
                  <c:pt idx="15">
                    <c:v>Orta bal (şagird)</c:v>
                  </c:pt>
                  <c:pt idx="16">
                    <c:v>Say</c:v>
                  </c:pt>
                  <c:pt idx="17">
                    <c:v>Yekun ümumi nəticə</c:v>
                  </c:pt>
                  <c:pt idx="19">
                    <c:v>Orta bal (şagird)</c:v>
                  </c:pt>
                </c:lvl>
                <c:lvl>
                  <c:pt idx="0">
                    <c:v>&lt;34</c:v>
                  </c:pt>
                  <c:pt idx="4">
                    <c:v>35-44</c:v>
                  </c:pt>
                  <c:pt idx="8">
                    <c:v>45-54</c:v>
                  </c:pt>
                  <c:pt idx="12">
                    <c:v>55-64</c:v>
                  </c:pt>
                  <c:pt idx="16">
                    <c:v>65&lt;</c:v>
                  </c:pt>
                </c:lvl>
              </c:multiLvlStrCache>
            </c:multiLvlStrRef>
          </c:cat>
          <c:val>
            <c:numRef>
              <c:f>'Ümumi təhlil'!$BJ$13:$EK$13</c:f>
              <c:numCache>
                <c:formatCode>0.00</c:formatCode>
                <c:ptCount val="20"/>
                <c:pt idx="0" formatCode="General">
                  <c:v>6</c:v>
                </c:pt>
                <c:pt idx="1">
                  <c:v>87.236111111111128</c:v>
                </c:pt>
                <c:pt idx="2" formatCode="0.0">
                  <c:v>21.333333333333332</c:v>
                </c:pt>
                <c:pt idx="3">
                  <c:v>76</c:v>
                </c:pt>
                <c:pt idx="4" formatCode="General">
                  <c:v>15</c:v>
                </c:pt>
                <c:pt idx="5">
                  <c:v>70</c:v>
                </c:pt>
                <c:pt idx="6" formatCode="0.0">
                  <c:v>20.433333333333334</c:v>
                </c:pt>
                <c:pt idx="7">
                  <c:v>66.071428571428569</c:v>
                </c:pt>
                <c:pt idx="8" formatCode="General">
                  <c:v>38</c:v>
                </c:pt>
                <c:pt idx="9">
                  <c:v>65.307017543859644</c:v>
                </c:pt>
                <c:pt idx="10" formatCode="0.0">
                  <c:v>20.881578947368421</c:v>
                </c:pt>
                <c:pt idx="11">
                  <c:v>69.535294117647055</c:v>
                </c:pt>
                <c:pt idx="12" formatCode="General">
                  <c:v>64</c:v>
                </c:pt>
                <c:pt idx="13">
                  <c:v>0</c:v>
                </c:pt>
                <c:pt idx="14" formatCode="0.0">
                  <c:v>20.3671875</c:v>
                </c:pt>
                <c:pt idx="15">
                  <c:v>67.084126984126982</c:v>
                </c:pt>
                <c:pt idx="16" formatCode="General">
                  <c:v>9</c:v>
                </c:pt>
                <c:pt idx="17">
                  <c:v>63.333333333333336</c:v>
                </c:pt>
                <c:pt idx="18" formatCode="0.0">
                  <c:v>15.555555555555555</c:v>
                </c:pt>
                <c:pt idx="19">
                  <c:v>71.333333333333329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263C-4AE1-8EF2-5D0929633F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"/>
        <c:axId val="893308192"/>
        <c:axId val="89331318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'Ümumi təhlil'!$BH$5:$BI$5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Q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'Ümumi təhlil'!$BJ$5:$EK$5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29-263C-4AE1-8EF2-5D0929633F63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təhlil'!$BH$6:$BI$6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K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təhlil'!$BJ$6:$EK$6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A-263C-4AE1-8EF2-5D0929633F6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v>Azərbaycan bölməsi</c:v>
                </c:tx>
                <c:spPr>
                  <a:gradFill flip="none" rotWithShape="1">
                    <a:gsLst>
                      <a:gs pos="0">
                        <a:srgbClr val="33CCCC">
                          <a:shade val="30000"/>
                          <a:satMod val="115000"/>
                        </a:srgbClr>
                      </a:gs>
                      <a:gs pos="50000">
                        <a:srgbClr val="33CCCC">
                          <a:shade val="67500"/>
                          <a:satMod val="115000"/>
                        </a:srgbClr>
                      </a:gs>
                      <a:gs pos="100000">
                        <a:srgbClr val="33CCCC">
                          <a:shade val="100000"/>
                          <a:satMod val="115000"/>
                        </a:srgbClr>
                      </a:gs>
                    </a:gsLst>
                    <a:lin ang="0" scaled="1"/>
                    <a:tileRect/>
                  </a:gradFill>
                  <a:ln>
                    <a:noFill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invertIfNegative val="0"/>
                <c:dPt>
                  <c:idx val="0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C-263C-4AE1-8EF2-5D0929633F63}"/>
                    </c:ext>
                  </c:extLst>
                </c:dPt>
                <c:dPt>
                  <c:idx val="4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E-263C-4AE1-8EF2-5D0929633F63}"/>
                    </c:ext>
                  </c:extLst>
                </c:dPt>
                <c:dPt>
                  <c:idx val="12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0-263C-4AE1-8EF2-5D0929633F63}"/>
                    </c:ext>
                  </c:extLst>
                </c:dPt>
                <c:dPt>
                  <c:idx val="16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2-263C-4AE1-8EF2-5D0929633F6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8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təhlil'!$BJ$7:$EK$7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3-263C-4AE1-8EF2-5D0929633F63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təhlil'!$BH$8:$BI$8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Q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təhlil'!$BJ$8:$EK$8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4-263C-4AE1-8EF2-5D0929633F63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təhlil'!$BH$9:$BI$9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K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təhlil'!$BJ$9:$EK$9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5-263C-4AE1-8EF2-5D0929633F63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v>Rus bölməsi</c:v>
                </c:tx>
                <c:spPr>
                  <a:gradFill flip="none" rotWithShape="1">
                    <a:gsLst>
                      <a:gs pos="0">
                        <a:schemeClr val="bg1">
                          <a:lumMod val="85000"/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lumMod val="85000"/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lumMod val="85000"/>
                          <a:shade val="100000"/>
                          <a:satMod val="11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6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təhlil'!$BJ$10:$EK$10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6-263C-4AE1-8EF2-5D0929633F63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təhlil'!$BH$11:$BI$11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Q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təhlil'!$BJ$11:$EK$11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5</c:v>
                      </c:pt>
                      <c:pt idx="1">
                        <c:v>87.533333333333331</c:v>
                      </c:pt>
                      <c:pt idx="2" formatCode="0.0">
                        <c:v>20.8</c:v>
                      </c:pt>
                      <c:pt idx="3">
                        <c:v>73.5</c:v>
                      </c:pt>
                      <c:pt idx="4" formatCode="General">
                        <c:v>14</c:v>
                      </c:pt>
                      <c:pt idx="5">
                        <c:v>68.928571428571431</c:v>
                      </c:pt>
                      <c:pt idx="6" formatCode="0.0">
                        <c:v>20.25</c:v>
                      </c:pt>
                      <c:pt idx="7">
                        <c:v>66.538461538461533</c:v>
                      </c:pt>
                      <c:pt idx="8" formatCode="General">
                        <c:v>34</c:v>
                      </c:pt>
                      <c:pt idx="9">
                        <c:v>65.735294117647044</c:v>
                      </c:pt>
                      <c:pt idx="10" formatCode="0.0">
                        <c:v>21.426470588235293</c:v>
                      </c:pt>
                      <c:pt idx="11">
                        <c:v>69.296774193548387</c:v>
                      </c:pt>
                      <c:pt idx="12" formatCode="General">
                        <c:v>61</c:v>
                      </c:pt>
                      <c:pt idx="13">
                        <c:v>0</c:v>
                      </c:pt>
                      <c:pt idx="14" formatCode="0.0">
                        <c:v>20.139344262295083</c:v>
                      </c:pt>
                      <c:pt idx="15">
                        <c:v>66.838333333333338</c:v>
                      </c:pt>
                      <c:pt idx="16" formatCode="General">
                        <c:v>7</c:v>
                      </c:pt>
                      <c:pt idx="17">
                        <c:v>69.761904761904759</c:v>
                      </c:pt>
                      <c:pt idx="18" formatCode="0.0">
                        <c:v>14</c:v>
                      </c:pt>
                      <c:pt idx="19">
                        <c:v>71.428571428571431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7-263C-4AE1-8EF2-5D0929633F63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təhlil'!$BH$12:$BI$12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K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təhlil'!$BJ$12:$EK$12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1</c:v>
                      </c:pt>
                      <c:pt idx="1">
                        <c:v>85.75</c:v>
                      </c:pt>
                      <c:pt idx="2" formatCode="0.0">
                        <c:v>24</c:v>
                      </c:pt>
                      <c:pt idx="3">
                        <c:v>86</c:v>
                      </c:pt>
                      <c:pt idx="4" formatCode="General">
                        <c:v>1</c:v>
                      </c:pt>
                      <c:pt idx="5">
                        <c:v>85</c:v>
                      </c:pt>
                      <c:pt idx="6" formatCode="0.0">
                        <c:v>23</c:v>
                      </c:pt>
                      <c:pt idx="7">
                        <c:v>60</c:v>
                      </c:pt>
                      <c:pt idx="8" formatCode="General">
                        <c:v>4</c:v>
                      </c:pt>
                      <c:pt idx="9">
                        <c:v>61.666666666666664</c:v>
                      </c:pt>
                      <c:pt idx="10" formatCode="0.0">
                        <c:v>16.25</c:v>
                      </c:pt>
                      <c:pt idx="11">
                        <c:v>72</c:v>
                      </c:pt>
                      <c:pt idx="12" formatCode="General">
                        <c:v>3</c:v>
                      </c:pt>
                      <c:pt idx="13">
                        <c:v>72.777777777777771</c:v>
                      </c:pt>
                      <c:pt idx="14" formatCode="0.0">
                        <c:v>25</c:v>
                      </c:pt>
                      <c:pt idx="15">
                        <c:v>72</c:v>
                      </c:pt>
                      <c:pt idx="16" formatCode="General">
                        <c:v>2</c:v>
                      </c:pt>
                      <c:pt idx="17">
                        <c:v>40.833333333333336</c:v>
                      </c:pt>
                      <c:pt idx="18" formatCode="0.0">
                        <c:v>21</c:v>
                      </c:pt>
                      <c:pt idx="19">
                        <c:v>71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8-263C-4AE1-8EF2-5D0929633F63}"/>
                  </c:ext>
                </c:extLst>
              </c15:ser>
            </c15:filteredBarSeries>
          </c:ext>
        </c:extLst>
      </c:barChart>
      <c:catAx>
        <c:axId val="89330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893313184"/>
        <c:crosses val="autoZero"/>
        <c:auto val="1"/>
        <c:lblAlgn val="ctr"/>
        <c:lblOffset val="100"/>
        <c:noMultiLvlLbl val="0"/>
      </c:catAx>
      <c:valAx>
        <c:axId val="893313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3308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E1E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2000" b="1">
                <a:solidFill>
                  <a:schemeClr val="tx1"/>
                </a:solidFill>
              </a:rPr>
              <a:t>Müəllimlərin</a:t>
            </a:r>
            <a:r>
              <a:rPr lang="az-Latn-AZ" sz="2000" b="1" baseline="0">
                <a:solidFill>
                  <a:schemeClr val="tx1"/>
                </a:solidFill>
              </a:rPr>
              <a:t> yaş intervalları üzrə</a:t>
            </a:r>
            <a:r>
              <a:rPr lang="en-US" sz="2000" b="1" baseline="0">
                <a:solidFill>
                  <a:schemeClr val="tx1"/>
                </a:solidFill>
              </a:rPr>
              <a:t> </a:t>
            </a:r>
            <a:r>
              <a:rPr lang="az-Latn-AZ" sz="2000" b="1" baseline="0">
                <a:solidFill>
                  <a:schemeClr val="tx1"/>
                </a:solidFill>
              </a:rPr>
              <a:t>faiz göstəriciləri </a:t>
            </a:r>
          </a:p>
          <a:p>
            <a:pPr>
              <a:defRPr>
                <a:solidFill>
                  <a:schemeClr val="tx1"/>
                </a:solidFill>
              </a:defRPr>
            </a:pPr>
            <a:r>
              <a:rPr lang="az-Latn-AZ" sz="1800" b="0" i="1" baseline="0">
                <a:solidFill>
                  <a:schemeClr val="tx1"/>
                </a:solidFill>
              </a:rPr>
              <a:t>(Ümumi)</a:t>
            </a:r>
          </a:p>
        </c:rich>
      </c:tx>
      <c:layout>
        <c:manualLayout>
          <c:xMode val="edge"/>
          <c:yMode val="edge"/>
          <c:x val="1.6545560286216313E-3"/>
          <c:y val="2.06281292425388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8"/>
          <c:order val="8"/>
          <c:tx>
            <c:v>Ümumi</c:v>
          </c:tx>
          <c:spPr>
            <a:gradFill flip="none" rotWithShape="1">
              <a:gsLst>
                <a:gs pos="0">
                  <a:srgbClr val="FF7C80">
                    <a:shade val="30000"/>
                    <a:satMod val="115000"/>
                  </a:srgbClr>
                </a:gs>
                <a:gs pos="50000">
                  <a:srgbClr val="FF7C80">
                    <a:shade val="67500"/>
                    <a:satMod val="115000"/>
                  </a:srgbClr>
                </a:gs>
                <a:gs pos="100000">
                  <a:srgbClr val="FF7C8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C464-4E08-AB29-77531208BD23}"/>
              </c:ext>
            </c:extLst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C464-4E08-AB29-77531208BD23}"/>
              </c:ext>
            </c:extLst>
          </c:dPt>
          <c:dPt>
            <c:idx val="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C464-4E08-AB29-77531208BD23}"/>
              </c:ext>
            </c:extLst>
          </c:dPt>
          <c:dPt>
            <c:idx val="3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C464-4E08-AB29-77531208BD23}"/>
              </c:ext>
            </c:extLst>
          </c:dPt>
          <c:dPt>
            <c:idx val="4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9-C464-4E08-AB29-77531208BD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'Ümumi təhlil'!$BJ$2:$EK$2</c:f>
              <c:strCache>
                <c:ptCount val="5"/>
                <c:pt idx="0">
                  <c:v>&lt;34</c:v>
                </c:pt>
                <c:pt idx="1">
                  <c:v>35-44</c:v>
                </c:pt>
                <c:pt idx="2">
                  <c:v>45-54</c:v>
                </c:pt>
                <c:pt idx="3">
                  <c:v>55-64</c:v>
                </c:pt>
                <c:pt idx="4">
                  <c:v>65&lt;</c:v>
                </c:pt>
              </c:strCache>
            </c:strRef>
          </c:cat>
          <c:val>
            <c:numRef>
              <c:f>'Ümumi təhlil'!$BJ$13:$EK$13</c:f>
              <c:numCache>
                <c:formatCode>General</c:formatCode>
                <c:ptCount val="5"/>
                <c:pt idx="0">
                  <c:v>6</c:v>
                </c:pt>
                <c:pt idx="1">
                  <c:v>15</c:v>
                </c:pt>
                <c:pt idx="2">
                  <c:v>38</c:v>
                </c:pt>
                <c:pt idx="3">
                  <c:v>64</c:v>
                </c:pt>
                <c:pt idx="4">
                  <c:v>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C464-4E08-AB29-77531208B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'Ümumi təhlil'!$BH$5:$BI$5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Q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C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E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0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2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4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'Ümumi təhlil'!$BJ$5:$EK$5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15-C464-4E08-AB29-77531208BD23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təhlil'!$BH$6:$BI$6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K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7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9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B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D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F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təhlil'!$BJ$6:$EK$6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C464-4E08-AB29-77531208BD23}"/>
                  </c:ext>
                </c:extLst>
              </c15:ser>
            </c15:filteredPieSeries>
            <c15:filteredPieSeries>
              <c15:ser>
                <c:idx val="2"/>
                <c:order val="2"/>
                <c:tx>
                  <c:v>Azərbaycan bölməsi</c:v>
                </c:tx>
                <c:spPr>
                  <a:gradFill flip="none" rotWithShape="1">
                    <a:gsLst>
                      <a:gs pos="0">
                        <a:srgbClr val="33CCCC">
                          <a:shade val="30000"/>
                          <a:satMod val="115000"/>
                        </a:srgbClr>
                      </a:gs>
                      <a:gs pos="50000">
                        <a:srgbClr val="33CCCC">
                          <a:shade val="67500"/>
                          <a:satMod val="115000"/>
                        </a:srgbClr>
                      </a:gs>
                      <a:gs pos="100000">
                        <a:srgbClr val="33CCCC">
                          <a:shade val="100000"/>
                          <a:satMod val="115000"/>
                        </a:srgbClr>
                      </a:gs>
                    </a:gsLst>
                    <a:lin ang="0" scaled="1"/>
                    <a:tileRect/>
                  </a:gradFill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dPt>
                  <c:idx val="0"/>
                  <c:bubble3D val="0"/>
                  <c:spPr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2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4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6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rgbClr val="33CCCC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8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rgbClr val="FF7C80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A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8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təhlil'!$BJ$7:$EK$7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C464-4E08-AB29-77531208BD23}"/>
                  </c:ext>
                </c:extLst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təhlil'!$BH$8:$BI$8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Q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D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F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1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3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5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təhlil'!$BJ$8:$EK$8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6-C464-4E08-AB29-77531208BD23}"/>
                  </c:ext>
                </c:extLst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təhlil'!$BH$9:$BI$9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K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8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A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C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E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0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təhlil'!$BJ$9:$EK$9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41-C464-4E08-AB29-77531208BD23}"/>
                  </c:ext>
                </c:extLst>
              </c15:ser>
            </c15:filteredPieSeries>
            <c15:filteredPieSeries>
              <c15:ser>
                <c:idx val="5"/>
                <c:order val="5"/>
                <c:tx>
                  <c:v>Rus bölməsi</c:v>
                </c:tx>
                <c:spPr>
                  <a:gradFill flip="none" rotWithShape="1">
                    <a:gsLst>
                      <a:gs pos="0">
                        <a:schemeClr val="bg1">
                          <a:lumMod val="85000"/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lumMod val="85000"/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lumMod val="85000"/>
                          <a:shade val="100000"/>
                          <a:satMod val="115000"/>
                        </a:schemeClr>
                      </a:gs>
                    </a:gsLst>
                    <a:lin ang="0" scaled="1"/>
                    <a:tileRect/>
                  </a:gradFill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dPt>
                  <c:idx val="0"/>
                  <c:bubble3D val="0"/>
                  <c:spPr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3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5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7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rgbClr val="33CCCC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9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rgbClr val="FF7C80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B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8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təhlil'!$BJ$10:$EK$10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4C-C464-4E08-AB29-77531208BD23}"/>
                  </c:ext>
                </c:extLst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təhlil'!$BH$11:$BI$11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Q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E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0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2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4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6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təhlil'!$BJ$11:$EK$11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5</c:v>
                      </c:pt>
                      <c:pt idx="1">
                        <c:v>14</c:v>
                      </c:pt>
                      <c:pt idx="2">
                        <c:v>34</c:v>
                      </c:pt>
                      <c:pt idx="3">
                        <c:v>61</c:v>
                      </c:pt>
                      <c:pt idx="4">
                        <c:v>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57-C464-4E08-AB29-77531208BD23}"/>
                  </c:ext>
                </c:extLst>
              </c15:ser>
            </c15:filteredPieSeries>
            <c15:filteredPi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təhlil'!$BH$12:$BI$12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K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9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B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D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F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1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təhlil'!$BJ$12:$EK$12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62-C464-4E08-AB29-77531208BD23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E1E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600" b="1"/>
              <a:t>Reytinq</a:t>
            </a:r>
            <a:r>
              <a:rPr lang="az-Latn-AZ" sz="1600" b="1" baseline="0"/>
              <a:t> göstəriciləri</a:t>
            </a:r>
            <a:endParaRPr lang="en-US" sz="1600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Təhsil müəssisəsinin yeri</c:v>
          </c:tx>
          <c:spPr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nəticələri-2022'!$T$4:$Y$4</c:f>
              <c:numCache>
                <c:formatCode>General</c:formatCode>
                <c:ptCount val="6"/>
                <c:pt idx="0">
                  <c:v>208</c:v>
                </c:pt>
                <c:pt idx="1">
                  <c:v>0</c:v>
                </c:pt>
                <c:pt idx="2">
                  <c:v>207</c:v>
                </c:pt>
                <c:pt idx="3">
                  <c:v>27</c:v>
                </c:pt>
                <c:pt idx="4">
                  <c:v>0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97-4B25-89A2-08C7F62CA3D3}"/>
            </c:ext>
          </c:extLst>
        </c:ser>
        <c:ser>
          <c:idx val="3"/>
          <c:order val="3"/>
          <c:tx>
            <c:v>Ümumi yerlərin sayı</c:v>
          </c:tx>
          <c:spPr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nəticələri-2022'!$T$7:$Y$7</c:f>
              <c:numCache>
                <c:formatCode>General</c:formatCode>
                <c:ptCount val="6"/>
                <c:pt idx="0">
                  <c:v>313</c:v>
                </c:pt>
                <c:pt idx="1">
                  <c:v>124</c:v>
                </c:pt>
                <c:pt idx="2">
                  <c:v>313</c:v>
                </c:pt>
                <c:pt idx="3">
                  <c:v>34</c:v>
                </c:pt>
                <c:pt idx="4">
                  <c:v>18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97-4B25-89A2-08C7F62CA3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647854416"/>
        <c:axId val="647863568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'IV monitorinq nəticələri-2022'!$T$5:$Y$5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4A97-4B25-89A2-08C7F62CA3D3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nəticələri-2022'!$T$6:$Y$6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A97-4B25-89A2-08C7F62CA3D3}"/>
                  </c:ext>
                </c:extLst>
              </c15:ser>
            </c15:filteredBarSeries>
          </c:ext>
        </c:extLst>
      </c:barChart>
      <c:catAx>
        <c:axId val="64785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647863568"/>
        <c:crosses val="autoZero"/>
        <c:auto val="1"/>
        <c:lblAlgn val="ctr"/>
        <c:lblOffset val="100"/>
        <c:noMultiLvlLbl val="0"/>
      </c:catAx>
      <c:valAx>
        <c:axId val="647863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785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>
        <a:lumMod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>
              <a:lumMod val="95000"/>
              <a:lumOff val="5000"/>
            </a:schemeClr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</a:t>
            </a:r>
          </a:p>
          <a:p>
            <a:pPr>
              <a:defRPr/>
            </a:pPr>
            <a:r>
              <a:rPr lang="az-Latn-AZ" sz="1400" i="1" baseline="0"/>
              <a:t>(Azərbaycan bölməsi)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1302-4479-B6C5-6A66157B354D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1302-4479-B6C5-6A66157B354D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1302-4479-B6C5-6A66157B354D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1302-4479-B6C5-6A66157B35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'IV monitorinq nəticələri-2022'!$N$3:$Q$3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'IV monitorinq nəticələri-2022'!$N$4:$Q$4</c:f>
              <c:numCache>
                <c:formatCode>General</c:formatCode>
                <c:ptCount val="4"/>
                <c:pt idx="0">
                  <c:v>31</c:v>
                </c:pt>
                <c:pt idx="1">
                  <c:v>69</c:v>
                </c:pt>
                <c:pt idx="2">
                  <c:v>37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02-4479-B6C5-6A66157B35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Tə</a:t>
            </a:r>
            <a:r>
              <a:rPr lang="en-US" sz="1800" b="1"/>
              <a:t>dris</a:t>
            </a:r>
            <a:r>
              <a:rPr lang="en-US" sz="1800" b="1" baseline="0"/>
              <a:t> dili</a:t>
            </a:r>
            <a:endParaRPr lang="az-Latn-AZ" sz="1800" b="1" baseline="0"/>
          </a:p>
          <a:p>
            <a:pPr>
              <a:defRPr/>
            </a:pPr>
            <a:r>
              <a:rPr lang="az-Latn-AZ" sz="1400" i="1" baseline="0"/>
              <a:t>(Azərbaycan bölməsi)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BF5B-42C2-8EA6-EA84CD9C97EC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BF5B-42C2-8EA6-EA84CD9C97EC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BF5B-42C2-8EA6-EA84CD9C97EC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BF5B-42C2-8EA6-EA84CD9C97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'IV monitorinq nəticələri-2022'!$H$3:$K$3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'IV monitorinq nəticələri-2022'!$H$4:$K$4</c:f>
              <c:numCache>
                <c:formatCode>General</c:formatCode>
                <c:ptCount val="4"/>
                <c:pt idx="0">
                  <c:v>19</c:v>
                </c:pt>
                <c:pt idx="1">
                  <c:v>65</c:v>
                </c:pt>
                <c:pt idx="2">
                  <c:v>33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5B-42C2-8EA6-EA84CD9C9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600" b="1"/>
              <a:t>Reytinq</a:t>
            </a:r>
            <a:r>
              <a:rPr lang="az-Latn-AZ" sz="1600" b="1" baseline="0"/>
              <a:t> göstəriciləri</a:t>
            </a:r>
            <a:endParaRPr lang="en-US" sz="1600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Təhsil müəssisəsinin yeri</c:v>
          </c:tx>
          <c:spPr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nəticələri-2022'!$T$4:$Y$4</c:f>
              <c:numCache>
                <c:formatCode>General</c:formatCode>
                <c:ptCount val="6"/>
                <c:pt idx="0">
                  <c:v>208</c:v>
                </c:pt>
                <c:pt idx="1">
                  <c:v>0</c:v>
                </c:pt>
                <c:pt idx="2">
                  <c:v>207</c:v>
                </c:pt>
                <c:pt idx="3">
                  <c:v>27</c:v>
                </c:pt>
                <c:pt idx="4">
                  <c:v>0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14-410E-AF60-29059508BDE3}"/>
            </c:ext>
          </c:extLst>
        </c:ser>
        <c:ser>
          <c:idx val="3"/>
          <c:order val="3"/>
          <c:tx>
            <c:v>Ümumi yerlərin sayı</c:v>
          </c:tx>
          <c:spPr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nəticələri-2022'!$T$7:$Y$7</c:f>
              <c:numCache>
                <c:formatCode>General</c:formatCode>
                <c:ptCount val="6"/>
                <c:pt idx="0">
                  <c:v>313</c:v>
                </c:pt>
                <c:pt idx="1">
                  <c:v>124</c:v>
                </c:pt>
                <c:pt idx="2">
                  <c:v>313</c:v>
                </c:pt>
                <c:pt idx="3">
                  <c:v>34</c:v>
                </c:pt>
                <c:pt idx="4">
                  <c:v>18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14-410E-AF60-29059508BD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647854416"/>
        <c:axId val="647863568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'IV monitorinq nəticələri-2022'!$T$5:$Y$5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4B14-410E-AF60-29059508BDE3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nəticələri-2022'!$T$6:$Y$6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B14-410E-AF60-29059508BDE3}"/>
                  </c:ext>
                </c:extLst>
              </c15:ser>
            </c15:filteredBarSeries>
          </c:ext>
        </c:extLst>
      </c:barChart>
      <c:catAx>
        <c:axId val="64785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647863568"/>
        <c:crosses val="autoZero"/>
        <c:auto val="1"/>
        <c:lblAlgn val="ctr"/>
        <c:lblOffset val="100"/>
        <c:noMultiLvlLbl val="0"/>
      </c:catAx>
      <c:valAx>
        <c:axId val="647863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785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>
        <a:lumMod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>
              <a:lumMod val="95000"/>
              <a:lumOff val="5000"/>
            </a:schemeClr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Tədris</a:t>
            </a:r>
            <a:r>
              <a:rPr lang="az-Latn-AZ" sz="1800" b="1" baseline="0"/>
              <a:t> dili</a:t>
            </a:r>
          </a:p>
          <a:p>
            <a:pPr>
              <a:defRPr/>
            </a:pPr>
            <a:r>
              <a:rPr lang="az-Latn-AZ" sz="1400" i="1" baseline="0"/>
              <a:t>(Ümumi)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5F5A-4BDC-B83F-3D5FCB01B37F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5F5A-4BDC-B83F-3D5FCB01B37F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5F5A-4BDC-B83F-3D5FCB01B37F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5F5A-4BDC-B83F-3D5FCB01B3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2022'!$L$3:$O$3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2022'!$L$6:$O$6</c:f>
              <c:numCache>
                <c:formatCode>General</c:formatCode>
                <c:ptCount val="4"/>
                <c:pt idx="0">
                  <c:v>24</c:v>
                </c:pt>
                <c:pt idx="1">
                  <c:v>49</c:v>
                </c:pt>
                <c:pt idx="2">
                  <c:v>32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5A-4BDC-B83F-3D5FCB01B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</a:t>
            </a:r>
          </a:p>
          <a:p>
            <a:pPr>
              <a:defRPr/>
            </a:pPr>
            <a:r>
              <a:rPr lang="az-Latn-AZ" sz="1400" i="1" baseline="0"/>
              <a:t>(Ümumi)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3A42-4BDC-BB7D-B244092F2F69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3A42-4BDC-BB7D-B244092F2F69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3A42-4BDC-BB7D-B244092F2F69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3A42-4BDC-BB7D-B244092F2F6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2022'!$R$3:$U$3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2022'!$R$6:$U$6</c:f>
              <c:numCache>
                <c:formatCode>General</c:formatCode>
                <c:ptCount val="4"/>
                <c:pt idx="0">
                  <c:v>78</c:v>
                </c:pt>
                <c:pt idx="1">
                  <c:v>32</c:v>
                </c:pt>
                <c:pt idx="2">
                  <c:v>13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A42-4BDC-BB7D-B244092F2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>
        <a:lumMod val="95000"/>
      </a:sys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Xarici dil</a:t>
            </a:r>
          </a:p>
          <a:p>
            <a:pPr>
              <a:defRPr/>
            </a:pPr>
            <a:r>
              <a:rPr lang="az-Latn-AZ" sz="1400" i="1" baseline="0"/>
              <a:t>(Ümumi)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5143-4CBD-B275-859ED497D306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5143-4CBD-B275-859ED497D306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5143-4CBD-B275-859ED497D306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5143-4CBD-B275-859ED497D30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2022'!$X$3:$AA$3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2022'!$X$6:$AA$6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13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143-4CBD-B275-859ED497D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EEEAF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Reytinq</a:t>
            </a:r>
            <a:r>
              <a:rPr lang="az-Latn-AZ" sz="1800" b="1" baseline="0"/>
              <a:t> göstəriciləri</a:t>
            </a:r>
            <a:endParaRPr lang="en-US" sz="1800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Reytinq yeri</c:v>
          </c:tx>
          <c:spPr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'Buraxılış 2022'!$AL$2:$AQ$3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'Buraxılış 2022'!$AL$4:$AQ$4</c:f>
              <c:numCache>
                <c:formatCode>General</c:formatCode>
                <c:ptCount val="6"/>
                <c:pt idx="0">
                  <c:v>130</c:v>
                </c:pt>
                <c:pt idx="1">
                  <c:v>0</c:v>
                </c:pt>
                <c:pt idx="2">
                  <c:v>146</c:v>
                </c:pt>
                <c:pt idx="3">
                  <c:v>18</c:v>
                </c:pt>
                <c:pt idx="4">
                  <c:v>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3A-4044-81F8-045CFFF996BC}"/>
            </c:ext>
          </c:extLst>
        </c:ser>
        <c:ser>
          <c:idx val="3"/>
          <c:order val="3"/>
          <c:tx>
            <c:v>Yerlərin ümumi sayı</c:v>
          </c:tx>
          <c:spPr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'Buraxılış 2022'!$AL$2:$AQ$3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'Buraxılış 2022'!$AL$7:$AQ$7</c:f>
              <c:numCache>
                <c:formatCode>General</c:formatCode>
                <c:ptCount val="6"/>
                <c:pt idx="0">
                  <c:v>313</c:v>
                </c:pt>
                <c:pt idx="1">
                  <c:v>134</c:v>
                </c:pt>
                <c:pt idx="2">
                  <c:v>313</c:v>
                </c:pt>
                <c:pt idx="3">
                  <c:v>34</c:v>
                </c:pt>
                <c:pt idx="4">
                  <c:v>19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3A-4044-81F8-045CFFF996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1085832959"/>
        <c:axId val="108582755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'Buraxılış 2022'!$AL$2:$AQ$3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'Buraxılış 2022'!$AL$5:$AQ$5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83A-4044-81F8-045CFFF996BC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'Buraxılış 2022'!$AL$2:$AQ$3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'Buraxılış 2022'!$AL$6:$AQ$6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83A-4044-81F8-045CFFF996BC}"/>
                  </c:ext>
                </c:extLst>
              </c15:ser>
            </c15:filteredBarSeries>
          </c:ext>
        </c:extLst>
      </c:barChart>
      <c:catAx>
        <c:axId val="1085832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1085827551"/>
        <c:crosses val="autoZero"/>
        <c:auto val="1"/>
        <c:lblAlgn val="ctr"/>
        <c:lblOffset val="100"/>
        <c:noMultiLvlLbl val="0"/>
      </c:catAx>
      <c:valAx>
        <c:axId val="10858275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8583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>
        <a:lumMod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Tədris</a:t>
            </a:r>
            <a:r>
              <a:rPr lang="az-Latn-AZ" sz="1800" b="1" baseline="0"/>
              <a:t> dili - 2021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0F04-4C09-9452-3C9FAA3FE724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0F04-4C09-9452-3C9FAA3FE724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0F04-4C09-9452-3C9FAA3FE724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0F04-4C09-9452-3C9FAA3FE7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təhlil'!$L$3:$O$3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təhlil'!$L$4:$O$4</c:f>
              <c:numCache>
                <c:formatCode>General</c:formatCode>
                <c:ptCount val="4"/>
                <c:pt idx="0">
                  <c:v>46</c:v>
                </c:pt>
                <c:pt idx="1">
                  <c:v>57</c:v>
                </c:pt>
                <c:pt idx="2">
                  <c:v>35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04-4C09-9452-3C9FAA3FE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 - 2021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2097-408D-80B5-47A7BF26BE9A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2097-408D-80B5-47A7BF26BE9A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2097-408D-80B5-47A7BF26BE9A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2097-408D-80B5-47A7BF26BE9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təhlil'!$R$3:$U$3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təhlil'!$R$4:$U$4</c:f>
              <c:numCache>
                <c:formatCode>General</c:formatCode>
                <c:ptCount val="4"/>
                <c:pt idx="0">
                  <c:v>64</c:v>
                </c:pt>
                <c:pt idx="1">
                  <c:v>49</c:v>
                </c:pt>
                <c:pt idx="2">
                  <c:v>19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097-408D-80B5-47A7BF26BE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Xarici dil - 2021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62FE-4137-B641-A5CA96E88D75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62FE-4137-B641-A5CA96E88D75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62FE-4137-B641-A5CA96E88D75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62FE-4137-B641-A5CA96E88D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təhlil'!$X$3:$AA$3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təhlil'!$X$4:$AA$4</c:f>
              <c:numCache>
                <c:formatCode>General</c:formatCode>
                <c:ptCount val="4"/>
                <c:pt idx="0">
                  <c:v>84</c:v>
                </c:pt>
                <c:pt idx="1">
                  <c:v>45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2FE-4137-B641-A5CA96E88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EEEAF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E404-424F-AF55-9A07A2A2EB4A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E404-424F-AF55-9A07A2A2EB4A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E404-424F-AF55-9A07A2A2EB4A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E404-424F-AF55-9A07A2A2EB4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təhlil'!$L$3:$O$3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təhlil'!$L$5:$O$5</c:f>
              <c:numCache>
                <c:formatCode>General</c:formatCode>
                <c:ptCount val="4"/>
                <c:pt idx="0">
                  <c:v>24</c:v>
                </c:pt>
                <c:pt idx="1">
                  <c:v>49</c:v>
                </c:pt>
                <c:pt idx="2">
                  <c:v>32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04-424F-AF55-9A07A2A2EB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 - 2022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FE01-43D7-92E3-5B0496F5DA50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FE01-43D7-92E3-5B0496F5DA50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FE01-43D7-92E3-5B0496F5DA50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FE01-43D7-92E3-5B0496F5DA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təhlil'!$R$3:$U$3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təhlil'!$R$5:$U$5</c:f>
              <c:numCache>
                <c:formatCode>General</c:formatCode>
                <c:ptCount val="4"/>
                <c:pt idx="0">
                  <c:v>78</c:v>
                </c:pt>
                <c:pt idx="1">
                  <c:v>32</c:v>
                </c:pt>
                <c:pt idx="2">
                  <c:v>13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01-43D7-92E3-5B0496F5D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i="0" baseline="0"/>
              <a:t>Xarici dil - 2022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AD48-4C4F-AD16-2CB5BBC60AFB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AD48-4C4F-AD16-2CB5BBC60AFB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AD48-4C4F-AD16-2CB5BBC60AFB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AD48-4C4F-AD16-2CB5BBC60A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təhlil'!$X$3:$AA$3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təhlil'!$X$5:$AA$5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13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48-4C4F-AD16-2CB5BBC60A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EEEAF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 sz="2400" b="1" dirty="0"/>
              <a:t>Fənnlər </a:t>
            </a:r>
            <a:r>
              <a:rPr lang="az-Latn-AZ" sz="2400" b="1" dirty="0" smtClean="0"/>
              <a:t>üzrə nəticələr</a:t>
            </a:r>
            <a:endParaRPr lang="en-US" sz="2400" b="1" dirty="0"/>
          </a:p>
        </c:rich>
      </c:tx>
      <c:layout>
        <c:manualLayout>
          <c:xMode val="edge"/>
          <c:yMode val="edge"/>
          <c:x val="0.40918635170603673"/>
          <c:y val="1.59489633173843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Ötən tədris ili üzrə illik nəticə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Tədris dili</c:v>
                </c:pt>
                <c:pt idx="1">
                  <c:v>Ədəbiyyat</c:v>
                </c:pt>
                <c:pt idx="2">
                  <c:v>Xarici dil</c:v>
                </c:pt>
                <c:pt idx="3">
                  <c:v>Riyaziyyat</c:v>
                </c:pt>
                <c:pt idx="4">
                  <c:v>İnformatika</c:v>
                </c:pt>
                <c:pt idx="5">
                  <c:v>Azərbaycan tarixi</c:v>
                </c:pt>
                <c:pt idx="6">
                  <c:v>Ümumi tarix</c:v>
                </c:pt>
                <c:pt idx="7">
                  <c:v>Fizika</c:v>
                </c:pt>
                <c:pt idx="8">
                  <c:v>Kimya</c:v>
                </c:pt>
                <c:pt idx="9">
                  <c:v>Biologiya</c:v>
                </c:pt>
                <c:pt idx="10">
                  <c:v>Coğrafiya</c:v>
                </c:pt>
                <c:pt idx="11">
                  <c:v>Həyat bilgisi</c:v>
                </c:pt>
                <c:pt idx="12">
                  <c:v>Texnologiya</c:v>
                </c:pt>
                <c:pt idx="13">
                  <c:v>Fiziki tərbiyə</c:v>
                </c:pt>
                <c:pt idx="14">
                  <c:v>Musiqi</c:v>
                </c:pt>
                <c:pt idx="15">
                  <c:v>Təsviri incəsənət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68.151469616069164</c:v>
                </c:pt>
                <c:pt idx="1">
                  <c:v>70.445086193745226</c:v>
                </c:pt>
                <c:pt idx="2">
                  <c:v>68.578481057716758</c:v>
                </c:pt>
                <c:pt idx="3">
                  <c:v>69.289627765064822</c:v>
                </c:pt>
                <c:pt idx="4">
                  <c:v>0</c:v>
                </c:pt>
                <c:pt idx="5">
                  <c:v>69.750912789219427</c:v>
                </c:pt>
                <c:pt idx="6">
                  <c:v>69.003226036104749</c:v>
                </c:pt>
                <c:pt idx="7">
                  <c:v>68.419135011441639</c:v>
                </c:pt>
                <c:pt idx="8">
                  <c:v>0</c:v>
                </c:pt>
                <c:pt idx="9">
                  <c:v>74.994306636155599</c:v>
                </c:pt>
                <c:pt idx="10">
                  <c:v>71.50286244597001</c:v>
                </c:pt>
                <c:pt idx="11">
                  <c:v>76.446277142130683</c:v>
                </c:pt>
                <c:pt idx="12">
                  <c:v>81.250272056953989</c:v>
                </c:pt>
                <c:pt idx="13">
                  <c:v>79.857687770150008</c:v>
                </c:pt>
                <c:pt idx="14">
                  <c:v>82.7138474446987</c:v>
                </c:pt>
                <c:pt idx="15">
                  <c:v>76.678638189677102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F-4490-8ABE-205AEB9B78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İllik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Tədris dili</c:v>
                </c:pt>
                <c:pt idx="1">
                  <c:v>Ədəbiyyat</c:v>
                </c:pt>
                <c:pt idx="2">
                  <c:v>Xarici dil</c:v>
                </c:pt>
                <c:pt idx="3">
                  <c:v>Riyaziyyat</c:v>
                </c:pt>
                <c:pt idx="4">
                  <c:v>İnformatika</c:v>
                </c:pt>
                <c:pt idx="5">
                  <c:v>Azərbaycan tarixi</c:v>
                </c:pt>
                <c:pt idx="6">
                  <c:v>Ümumi tarix</c:v>
                </c:pt>
                <c:pt idx="7">
                  <c:v>Fizika</c:v>
                </c:pt>
                <c:pt idx="8">
                  <c:v>Kimya</c:v>
                </c:pt>
                <c:pt idx="9">
                  <c:v>Biologiya</c:v>
                </c:pt>
                <c:pt idx="10">
                  <c:v>Coğrafiya</c:v>
                </c:pt>
                <c:pt idx="11">
                  <c:v>Həyat bilgisi</c:v>
                </c:pt>
                <c:pt idx="12">
                  <c:v>Texnologiya</c:v>
                </c:pt>
                <c:pt idx="13">
                  <c:v>Fiziki tərbiyə</c:v>
                </c:pt>
                <c:pt idx="14">
                  <c:v>Musiqi</c:v>
                </c:pt>
                <c:pt idx="15">
                  <c:v>Təsviri incəsənət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59.536031170922477</c:v>
                </c:pt>
                <c:pt idx="1">
                  <c:v>63.682309472934463</c:v>
                </c:pt>
                <c:pt idx="2">
                  <c:v>57.354194360390011</c:v>
                </c:pt>
                <c:pt idx="3">
                  <c:v>54.129242470492471</c:v>
                </c:pt>
                <c:pt idx="4">
                  <c:v>59.851449275362327</c:v>
                </c:pt>
                <c:pt idx="5">
                  <c:v>58.626127103572763</c:v>
                </c:pt>
                <c:pt idx="6">
                  <c:v>59.979537280352496</c:v>
                </c:pt>
                <c:pt idx="7">
                  <c:v>63.420605612181703</c:v>
                </c:pt>
                <c:pt idx="8">
                  <c:v>58.698925430447161</c:v>
                </c:pt>
                <c:pt idx="9">
                  <c:v>64.946011506609338</c:v>
                </c:pt>
                <c:pt idx="10">
                  <c:v>63.819748588770317</c:v>
                </c:pt>
                <c:pt idx="11">
                  <c:v>67.325767992072343</c:v>
                </c:pt>
                <c:pt idx="12">
                  <c:v>77.644346454672544</c:v>
                </c:pt>
                <c:pt idx="13">
                  <c:v>83.135083047990676</c:v>
                </c:pt>
                <c:pt idx="14">
                  <c:v>80.418930274636807</c:v>
                </c:pt>
                <c:pt idx="15">
                  <c:v>77.179435198456943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BF-4490-8ABE-205AEB9B78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4810976"/>
        <c:axId val="314813888"/>
      </c:barChart>
      <c:catAx>
        <c:axId val="31481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13888"/>
        <c:crosses val="autoZero"/>
        <c:auto val="1"/>
        <c:lblAlgn val="ctr"/>
        <c:lblOffset val="100"/>
        <c:noMultiLvlLbl val="0"/>
      </c:catAx>
      <c:valAx>
        <c:axId val="31481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10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/>
              <a:t>ıı</a:t>
            </a:r>
            <a:r>
              <a:rPr lang="az-Latn-AZ" baseline="0"/>
              <a:t> sinif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Ötən tədris ili üzrə illik nəticə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C4-48EE-96FB-BF3E19D67F2F}"/>
              </c:ext>
            </c:extLst>
          </c:dPt>
          <c:val>
            <c:numRef>
              <c:f>Sheet1!$A$2</c:f>
              <c:numCache>
                <c:formatCode>0.00</c:formatCode>
                <c:ptCount val="1"/>
                <c:pt idx="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C4-48EE-96FB-BF3E19D67F2F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İllik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Sheet1!$B$2</c:f>
              <c:numCache>
                <c:formatCode>0.00</c:formatCode>
                <c:ptCount val="1"/>
                <c:pt idx="0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4C4-48EE-96FB-BF3E19D67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0056128"/>
        <c:axId val="1930061120"/>
      </c:barChart>
      <c:catAx>
        <c:axId val="193005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61120"/>
        <c:crosses val="autoZero"/>
        <c:auto val="1"/>
        <c:lblAlgn val="ctr"/>
        <c:lblOffset val="100"/>
        <c:noMultiLvlLbl val="0"/>
      </c:catAx>
      <c:valAx>
        <c:axId val="1930061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5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/>
              <a:t>III</a:t>
            </a:r>
            <a:r>
              <a:rPr lang="az-Latn-AZ" baseline="0"/>
              <a:t> SİNİF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22-406A-BC41-7027A06C4713}"/>
              </c:ext>
            </c:extLst>
          </c:dPt>
          <c:val>
            <c:numRef>
              <c:f>Sheet1!$A$2</c:f>
              <c:numCache>
                <c:formatCode>General</c:formatCode>
                <c:ptCount val="1"/>
                <c:pt idx="0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22-406A-BC41-7027A06C4713}"/>
            </c:ext>
          </c:extLst>
        </c:ser>
        <c:ser>
          <c:idx val="1"/>
          <c:order val="1"/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Sheet1!$B$2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E22-406A-BC41-7027A06C4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7060304"/>
        <c:axId val="1987072784"/>
      </c:barChart>
      <c:catAx>
        <c:axId val="19870603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072784"/>
        <c:crosses val="autoZero"/>
        <c:auto val="1"/>
        <c:lblAlgn val="ctr"/>
        <c:lblOffset val="100"/>
        <c:noMultiLvlLbl val="0"/>
      </c:catAx>
      <c:valAx>
        <c:axId val="198707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060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 dirty="0" smtClean="0"/>
              <a:t>Monitorinq orta illik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668-4F98-8D43-47CAEE6F6242}"/>
              </c:ext>
            </c:extLst>
          </c:dPt>
          <c:val>
            <c:numRef>
              <c:f>Sheet1!$A$2:$B$2</c:f>
              <c:numCache>
                <c:formatCode>General</c:formatCode>
                <c:ptCount val="2"/>
                <c:pt idx="0">
                  <c:v>66</c:v>
                </c:pt>
                <c:pt idx="1">
                  <c:v>4.05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68-4F98-8D43-47CAEE6F6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0057792"/>
        <c:axId val="1930061120"/>
      </c:barChart>
      <c:catAx>
        <c:axId val="19300577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61120"/>
        <c:crosses val="autoZero"/>
        <c:auto val="1"/>
        <c:lblAlgn val="ctr"/>
        <c:lblOffset val="100"/>
        <c:noMultiLvlLbl val="0"/>
      </c:catAx>
      <c:valAx>
        <c:axId val="1930061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57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/>
              <a:t>IV</a:t>
            </a:r>
            <a:r>
              <a:rPr lang="az-Latn-AZ" baseline="0"/>
              <a:t> sinif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6281296229100954E-2"/>
          <c:y val="9.0714080714277154E-2"/>
          <c:w val="0.86538035052284079"/>
          <c:h val="0.8669020495555671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2-4558-BB00-A2E4197AFCB9}"/>
              </c:ext>
            </c:extLst>
          </c:dPt>
          <c:cat>
            <c:strRef>
              <c:f>Sheet1!$A$1:$B$1</c:f>
              <c:strCache>
                <c:ptCount val="2"/>
                <c:pt idx="0">
                  <c:v>Ötən tədris ili üzrə illik nəticə</c:v>
                </c:pt>
                <c:pt idx="1">
                  <c:v>İllik</c:v>
                </c:pt>
              </c:strCache>
            </c:strRef>
          </c:cat>
          <c:val>
            <c:numRef>
              <c:f>Sheet1!$A$2:$B$2</c:f>
              <c:numCache>
                <c:formatCode>General</c:formatCode>
                <c:ptCount val="2"/>
                <c:pt idx="0">
                  <c:v>71</c:v>
                </c:pt>
                <c:pt idx="1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C2-4558-BB00-A2E4197AF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7417056"/>
        <c:axId val="1927420800"/>
      </c:barChart>
      <c:catAx>
        <c:axId val="1927417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420800"/>
        <c:crosses val="autoZero"/>
        <c:auto val="1"/>
        <c:lblAlgn val="ctr"/>
        <c:lblOffset val="100"/>
        <c:noMultiLvlLbl val="0"/>
      </c:catAx>
      <c:valAx>
        <c:axId val="1927420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417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 sz="2000" b="1" dirty="0" smtClean="0"/>
              <a:t>TƏHSİL MÜƏSSİSƏSİ</a:t>
            </a:r>
            <a:r>
              <a:rPr lang="az-Latn-AZ" sz="2000" b="1" baseline="0" dirty="0" smtClean="0"/>
              <a:t> ÜZRƏ NƏTİCƏLƏR</a:t>
            </a:r>
            <a:endParaRPr lang="en-US" sz="20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Sheet2!$B$1:$E$1</c:f>
              <c:strCache>
                <c:ptCount val="4"/>
                <c:pt idx="0">
                  <c:v>Ötən tədris ili üzrə illik nəticə</c:v>
                </c:pt>
                <c:pt idx="1">
                  <c:v>"KSQ orta" orta illik</c:v>
                </c:pt>
                <c:pt idx="2">
                  <c:v>"BSQ" orta illik</c:v>
                </c:pt>
                <c:pt idx="3">
                  <c:v>İllik</c:v>
                </c:pt>
              </c:strCache>
            </c:strRef>
          </c:cat>
          <c:val>
            <c:numRef>
              <c:f>Sheet2!$B$2:$E$2</c:f>
              <c:numCache>
                <c:formatCode>General</c:formatCode>
                <c:ptCount val="4"/>
                <c:pt idx="0">
                  <c:v>51</c:v>
                </c:pt>
                <c:pt idx="1">
                  <c:v>52</c:v>
                </c:pt>
                <c:pt idx="2">
                  <c:v>54</c:v>
                </c:pt>
                <c:pt idx="3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36-40F7-89C7-C7CFA42279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4823456"/>
        <c:axId val="314808064"/>
      </c:barChart>
      <c:catAx>
        <c:axId val="31482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08064"/>
        <c:crosses val="autoZero"/>
        <c:auto val="1"/>
        <c:lblAlgn val="ctr"/>
        <c:lblOffset val="100"/>
        <c:noMultiLvlLbl val="0"/>
      </c:catAx>
      <c:valAx>
        <c:axId val="31480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2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7207624"/>
            <a:ext cx="9870141" cy="1498396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az-Latn-AZ" dirty="0" smtClean="0"/>
              <a:t>Təhsil müəssisəsinin adı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314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055787" y="8122021"/>
            <a:ext cx="605118" cy="363071"/>
          </a:xfrm>
          <a:prstGeom prst="rect">
            <a:avLst/>
          </a:prstGeom>
        </p:spPr>
        <p:txBody>
          <a:bodyPr/>
          <a:lstStyle/>
          <a:p>
            <a:fld id="{10448487-1E9B-4B20-874E-B8434B5AF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63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6055787" y="8122021"/>
            <a:ext cx="605118" cy="363071"/>
          </a:xfrm>
          <a:prstGeom prst="rect">
            <a:avLst/>
          </a:prstGeom>
        </p:spPr>
        <p:txBody>
          <a:bodyPr/>
          <a:lstStyle/>
          <a:p>
            <a:fld id="{10448487-1E9B-4B20-874E-B8434B5AF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13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91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8223" y="188447"/>
            <a:ext cx="11214848" cy="1102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223" y="1480110"/>
            <a:ext cx="11214848" cy="789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  <p:sldLayoutId id="2147483681" r:id="rId4"/>
  </p:sldLayoutIdLst>
  <p:timing>
    <p:tnLst>
      <p:par>
        <p:cTn id="1" dur="indefinite" restart="never" nodeType="tmRoot"/>
      </p:par>
    </p:tnLst>
  </p:timing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chart" Target="../charts/char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7" Type="http://schemas.openxmlformats.org/officeDocument/2006/relationships/chart" Target="../charts/chart17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470" y="7767935"/>
            <a:ext cx="995082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az-Latn-AZ" sz="54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tam orta məktəb</a:t>
            </a:r>
            <a:endParaRPr lang="en-US" sz="5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6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5400" b="0" cap="none" spc="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Hesabatın strukturu</a:t>
            </a:r>
            <a:endParaRPr lang="en-US" sz="5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0271" y="147918"/>
            <a:ext cx="10972800" cy="932563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857250" marR="0" lvl="0" indent="-857250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az-Latn-AZ" sz="2400" noProof="0" dirty="0">
                <a:ln w="0"/>
                <a:latin typeface="Palatino Linotype" panose="02040502050505030304" pitchFamily="18" charset="0"/>
              </a:rPr>
              <a:t>Ümumi məlumat;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kumimoji="0" lang="az-Latn-AZ" sz="2400" b="0" u="none" strike="noStrike" kern="1200" cap="none" spc="0" normalizeH="0" baseline="0" dirty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İnfrastruktur və maddi-texniki baza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Təhsil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müəssisəsinin heyəti;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Fənn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müəllimlərinin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göstəriciləri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Təltiflər;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Müsabiqələr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və peşəkar inkişaf;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Müəllimlərin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yaş intervalları üzrə təhlili;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Müəllimlərin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nəticə intervalları üzrə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təhlili;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Dərsdinləmələr;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Sinif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komplektlərinin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tərkibi;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Oğlan və qızların paylanma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faizləri;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Davamiyyət;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Respublika fənn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olimpiadaları və müsabiqələrin yekun nəticələri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IV siniflərin monitorinq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IX siniflərin buraxılış imtahanı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Fənlər üzrə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Siniflər üzrə nəticələr;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müəssisəsi üzrə nəticələr;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Kitabxana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fəaliyyəti;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Həssas qruplar;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Sosial yönümlü fəaliyyətlər;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müəssisəsində həyata keçirilən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layihələr;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Uğurlarımız;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ehtiyacları;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Növbəti tədris ili üçün əsas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hədəflər.</a:t>
            </a:r>
            <a:endParaRPr kumimoji="0" lang="az-Latn-AZ" sz="2400" b="0" u="none" strike="noStrike" kern="1200" cap="none" spc="0" normalizeH="0" baseline="0" dirty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82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Ümumi məlumat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8193"/>
              </p:ext>
            </p:extLst>
          </p:nvPr>
        </p:nvGraphicFramePr>
        <p:xfrm>
          <a:off x="645458" y="255496"/>
          <a:ext cx="11134166" cy="907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024">
                  <a:extLst>
                    <a:ext uri="{9D8B030D-6E8A-4147-A177-3AD203B41FA5}">
                      <a16:colId xmlns:a16="http://schemas.microsoft.com/office/drawing/2014/main" val="3937737730"/>
                    </a:ext>
                  </a:extLst>
                </a:gridCol>
                <a:gridCol w="5298142">
                  <a:extLst>
                    <a:ext uri="{9D8B030D-6E8A-4147-A177-3AD203B41FA5}">
                      <a16:colId xmlns:a16="http://schemas.microsoft.com/office/drawing/2014/main" val="1833392715"/>
                    </a:ext>
                  </a:extLst>
                </a:gridCol>
              </a:tblGrid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binasının i</a:t>
                      </a:r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nşa olunduğu il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(məktəb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olaraq fəaliyyətə başladığı il)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1962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en-US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19</a:t>
                      </a:r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62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699064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Əsaslı təmir olunduğu il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2007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30885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Yeni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korpusların tikilmə ili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2006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907644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Layihə üzrə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şagird yeri </a:t>
                      </a:r>
                    </a:p>
                    <a:p>
                      <a:pPr algn="ctr"/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(mövcud şagird sayı)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1200</a:t>
                      </a:r>
                      <a:endParaRPr lang="az-Latn-AZ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(1508)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871437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Adını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daşıdığı şəxs </a:t>
                      </a:r>
                      <a:endParaRPr lang="en-US" sz="2400" b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en-US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az-Latn-AZ" sz="2400" b="0" i="1" baseline="0" noProof="1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ictimai 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kimliyi</a:t>
                      </a:r>
                      <a:r>
                        <a:rPr lang="en-US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)</a:t>
                      </a:r>
                      <a:endParaRPr lang="az-Latn-AZ" sz="2400" b="0" i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Həsən</a:t>
                      </a:r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Cəbrayılov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(Böyük</a:t>
                      </a:r>
                      <a:r>
                        <a:rPr lang="az-Latn-AZ" sz="2400" b="0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Vətən müharibəsi qəhrəmanı)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238136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 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(fəaliyyət ili)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Məmmədova Ofelya Həsən qızı</a:t>
                      </a:r>
                      <a:endParaRPr lang="az-Latn-AZ" sz="2400" b="1" i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(13 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il)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55151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Məktəbin ünvanı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(rayon, qəsəbə, küçə və s.)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Binəqədi</a:t>
                      </a:r>
                      <a:r>
                        <a:rPr lang="az-Latn-AZ" sz="2400" b="1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rayonu, </a:t>
                      </a:r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Azadlıq pr.193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35253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Məktəbin</a:t>
                      </a:r>
                      <a:r>
                        <a:rPr lang="az-Latn-AZ" sz="2400" b="1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növbəliliyi</a:t>
                      </a:r>
                      <a:endParaRPr lang="en-US" sz="24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82777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3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İnfrastruktur və maddi-texniki baza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164869"/>
              </p:ext>
            </p:extLst>
          </p:nvPr>
        </p:nvGraphicFramePr>
        <p:xfrm>
          <a:off x="645458" y="271699"/>
          <a:ext cx="11107273" cy="905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824">
                  <a:extLst>
                    <a:ext uri="{9D8B030D-6E8A-4147-A177-3AD203B41FA5}">
                      <a16:colId xmlns:a16="http://schemas.microsoft.com/office/drawing/2014/main" val="3937737730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1833392715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652883295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1400997819"/>
                    </a:ext>
                  </a:extLst>
                </a:gridCol>
              </a:tblGrid>
              <a:tr h="807892">
                <a:tc>
                  <a:txBody>
                    <a:bodyPr/>
                    <a:lstStyle/>
                    <a:p>
                      <a:pPr algn="ctr"/>
                      <a:endParaRPr lang="en-US" sz="24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İşlək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Qeyri</a:t>
                      </a:r>
                      <a:r>
                        <a:rPr lang="az-Latn-AZ" sz="24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-işlək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171492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Sinif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otaqlarının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69906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Fənn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l</a:t>
                      </a:r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aboratoriyalarının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30885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STEAM 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aboratoriyalarının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90764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Kompüter otaqlarının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871437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Kömpüterlərin sayı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134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119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238136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Laboratoriya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dəstlərinin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55151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Elektron lövhələrin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662341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Proyektorların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27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71924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Printerlərin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8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63760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az-Latn-AZ" sz="3200" b="0" i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Sürətçıxaran</a:t>
                      </a:r>
                      <a:r>
                        <a:rPr lang="az-Latn-AZ" sz="3200" b="0" i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aparatlarının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14397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Elektron dərsliklərin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736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5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4400" b="0" cap="none" spc="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Təhsil müəssisəsinin heyəti</a:t>
            </a:r>
            <a:endParaRPr lang="en-US" sz="4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66483" y="397970"/>
            <a:ext cx="5069541" cy="2950348"/>
            <a:chOff x="4541260" y="3742435"/>
            <a:chExt cx="10367017" cy="5662718"/>
          </a:xfrm>
        </p:grpSpPr>
        <p:grpSp>
          <p:nvGrpSpPr>
            <p:cNvPr id="5" name="Group 4"/>
            <p:cNvGrpSpPr/>
            <p:nvPr/>
          </p:nvGrpSpPr>
          <p:grpSpPr>
            <a:xfrm>
              <a:off x="4541260" y="3742435"/>
              <a:ext cx="3978875" cy="5662718"/>
              <a:chOff x="5042141" y="4539304"/>
              <a:chExt cx="3978875" cy="5662718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5042141" y="4539304"/>
                <a:ext cx="3978875" cy="5662718"/>
                <a:chOff x="7513492" y="3974952"/>
                <a:chExt cx="3978875" cy="5662718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7747188" y="3974952"/>
                  <a:ext cx="3511479" cy="8860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400" dirty="0">
                      <a:ln w="0"/>
                      <a:latin typeface="Palatino Linotype" panose="02040502050505030304" pitchFamily="18" charset="0"/>
                    </a:rPr>
                    <a:t>Müəllimlər</a:t>
                  </a:r>
                  <a:endParaRPr lang="en-US" sz="24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15" name="Rounded Rectangle 14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92D050">
                    <a:alpha val="20000"/>
                  </a:srgbClr>
                </a:solidFill>
                <a:ln>
                  <a:solidFill>
                    <a:srgbClr val="9BBC2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7834060" y="8379134"/>
                  <a:ext cx="3337741" cy="10042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136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98886" y="5728463"/>
                <a:ext cx="3922130" cy="2927916"/>
              </a:xfrm>
              <a:prstGeom prst="rect">
                <a:avLst/>
              </a:prstGeom>
            </p:spPr>
          </p:pic>
        </p:grpSp>
        <p:sp>
          <p:nvSpPr>
            <p:cNvPr id="6" name="Rounded Rectangle 5"/>
            <p:cNvSpPr/>
            <p:nvPr/>
          </p:nvSpPr>
          <p:spPr>
            <a:xfrm>
              <a:off x="9019420" y="4561304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Qadın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2213491" y="4561304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Kişi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019420" y="6294183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125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213491" y="6294183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11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019420" y="8027062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92%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213491" y="8027062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</a:t>
              </a:r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533681" y="397970"/>
            <a:ext cx="5130475" cy="2953512"/>
            <a:chOff x="4408855" y="11088386"/>
            <a:chExt cx="10499421" cy="5662718"/>
          </a:xfrm>
        </p:grpSpPr>
        <p:grpSp>
          <p:nvGrpSpPr>
            <p:cNvPr id="18" name="Group 17"/>
            <p:cNvGrpSpPr/>
            <p:nvPr/>
          </p:nvGrpSpPr>
          <p:grpSpPr>
            <a:xfrm>
              <a:off x="4408855" y="11088386"/>
              <a:ext cx="4243677" cy="5662718"/>
              <a:chOff x="4909734" y="11187241"/>
              <a:chExt cx="4243677" cy="566271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4909734" y="11187241"/>
                <a:ext cx="4243677" cy="5662718"/>
                <a:chOff x="7381087" y="3974952"/>
                <a:chExt cx="4243677" cy="5662718"/>
              </a:xfrm>
            </p:grpSpPr>
            <p:sp>
              <p:nvSpPr>
                <p:cNvPr id="27" name="Rectangle 26"/>
                <p:cNvSpPr/>
                <p:nvPr/>
              </p:nvSpPr>
              <p:spPr>
                <a:xfrm>
                  <a:off x="7381087" y="3974952"/>
                  <a:ext cx="4243677" cy="88514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400" dirty="0">
                      <a:ln w="0"/>
                      <a:latin typeface="Palatino Linotype" panose="02040502050505030304" pitchFamily="18" charset="0"/>
                    </a:rPr>
                    <a:t>Texniki işçilər</a:t>
                  </a:r>
                  <a:endParaRPr lang="en-US" sz="24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28" name="Rounded Rectangle 27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FFC000">
                    <a:alpha val="20000"/>
                  </a:srgb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8016523" y="8379137"/>
                  <a:ext cx="2972804" cy="10031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30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66886" y="12244014"/>
                <a:ext cx="3129383" cy="3129383"/>
              </a:xfrm>
              <a:prstGeom prst="rect">
                <a:avLst/>
              </a:prstGeom>
            </p:spPr>
          </p:pic>
        </p:grpSp>
        <p:sp>
          <p:nvSpPr>
            <p:cNvPr id="19" name="Rounded Rectangle 18"/>
            <p:cNvSpPr/>
            <p:nvPr/>
          </p:nvSpPr>
          <p:spPr>
            <a:xfrm>
              <a:off x="9019419" y="11907255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Qadın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213490" y="11907255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Kişi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019419" y="13640134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25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2213490" y="13640134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19419" y="15373013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83%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213490" y="15373013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17%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66483" y="4657073"/>
            <a:ext cx="6695780" cy="3967297"/>
            <a:chOff x="16706919" y="3568447"/>
            <a:chExt cx="10367016" cy="5836706"/>
          </a:xfrm>
        </p:grpSpPr>
        <p:grpSp>
          <p:nvGrpSpPr>
            <p:cNvPr id="31" name="Group 30"/>
            <p:cNvGrpSpPr/>
            <p:nvPr/>
          </p:nvGrpSpPr>
          <p:grpSpPr>
            <a:xfrm>
              <a:off x="16706919" y="3568447"/>
              <a:ext cx="3983213" cy="5836706"/>
              <a:chOff x="16509212" y="4365316"/>
              <a:chExt cx="3983213" cy="5836706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16509212" y="4365316"/>
                <a:ext cx="3978875" cy="5836706"/>
                <a:chOff x="7513492" y="3800964"/>
                <a:chExt cx="3978875" cy="5836706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8073096" y="3800964"/>
                  <a:ext cx="2859663" cy="8603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3200" dirty="0">
                      <a:ln w="0"/>
                      <a:latin typeface="Palatino Linotype" panose="02040502050505030304" pitchFamily="18" charset="0"/>
                    </a:rPr>
                    <a:t>Şagirdlər</a:t>
                  </a:r>
                  <a:endParaRPr lang="en-US" sz="32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41" name="Rounded Rectangle 40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00B0F0">
                    <a:alpha val="20000"/>
                  </a:srgb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8100397" y="8379135"/>
                  <a:ext cx="2805061" cy="7697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1508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5" cstate="print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09212" y="5918137"/>
                <a:ext cx="3983213" cy="2672458"/>
              </a:xfrm>
              <a:prstGeom prst="rect">
                <a:avLst/>
              </a:prstGeom>
            </p:spPr>
          </p:pic>
        </p:grpSp>
        <p:sp>
          <p:nvSpPr>
            <p:cNvPr id="32" name="Rounded Rectangle 31"/>
            <p:cNvSpPr/>
            <p:nvPr/>
          </p:nvSpPr>
          <p:spPr>
            <a:xfrm>
              <a:off x="21185078" y="4561304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Oğlan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4379149" y="4561304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Qız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1185078" y="6294183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845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4379149" y="6294183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663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1185078" y="8027062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56%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4379149" y="8027062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44%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8453646" y="4657073"/>
            <a:ext cx="2864224" cy="4409291"/>
          </a:xfrm>
          <a:prstGeom prst="roundRect">
            <a:avLst/>
          </a:prstGeom>
          <a:solidFill>
            <a:srgbClr val="0000CC">
              <a:alpha val="36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36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Şagird-müəllim nisbəti </a:t>
            </a:r>
            <a:endParaRPr lang="az-Latn-AZ" sz="3600" b="1" dirty="0" smtClean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az-Latn-AZ" sz="2800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(</a:t>
            </a:r>
            <a:r>
              <a:rPr lang="az-Latn-AZ" sz="2800" i="1" dirty="0">
                <a:solidFill>
                  <a:schemeClr val="tx1"/>
                </a:solidFill>
                <a:latin typeface="Palatino Linotype" panose="02040502050505030304" pitchFamily="18" charset="0"/>
              </a:rPr>
              <a:t>şagird </a:t>
            </a:r>
            <a:r>
              <a:rPr lang="az-Latn-AZ" sz="2800" i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sayı(1508)/</a:t>
            </a:r>
            <a:r>
              <a:rPr lang="az-Latn-AZ" sz="2800" i="1" dirty="0">
                <a:solidFill>
                  <a:schemeClr val="tx1"/>
                </a:solidFill>
                <a:latin typeface="Palatino Linotype" panose="02040502050505030304" pitchFamily="18" charset="0"/>
              </a:rPr>
              <a:t>müəllim </a:t>
            </a:r>
            <a:r>
              <a:rPr lang="az-Latn-AZ" sz="2800" i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sayı(136)</a:t>
            </a:r>
            <a:r>
              <a:rPr lang="az-Latn-AZ" sz="2800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) </a:t>
            </a:r>
            <a:r>
              <a:rPr lang="az-Latn-AZ" sz="2800" dirty="0">
                <a:solidFill>
                  <a:schemeClr val="tx1"/>
                </a:solidFill>
                <a:latin typeface="Palatino Linotype" panose="02040502050505030304" pitchFamily="18" charset="0"/>
              </a:rPr>
              <a:t>= </a:t>
            </a:r>
            <a:r>
              <a:rPr lang="az-Latn-AZ" sz="4400" b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0,09</a:t>
            </a:r>
            <a:endParaRPr lang="az-Latn-AZ" sz="4400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9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Fənn müəllimlərinin göstəriciləri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0938685"/>
              </p:ext>
            </p:extLst>
          </p:nvPr>
        </p:nvGraphicFramePr>
        <p:xfrm>
          <a:off x="571914" y="0"/>
          <a:ext cx="16325436" cy="960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952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Müəllimlərin yaş intervalları üzrə təhlili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60246" y="0"/>
            <a:ext cx="15973763" cy="9332256"/>
            <a:chOff x="2318725" y="1175506"/>
            <a:chExt cx="24648944" cy="10541190"/>
          </a:xfrm>
        </p:grpSpPr>
        <p:graphicFrame>
          <p:nvGraphicFramePr>
            <p:cNvPr id="14" name="Chart 1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3847357"/>
                </p:ext>
              </p:extLst>
            </p:nvPr>
          </p:nvGraphicFramePr>
          <p:xfrm>
            <a:off x="2318725" y="1175506"/>
            <a:ext cx="17068356" cy="105411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5" name="Chart 1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46473650"/>
                </p:ext>
              </p:extLst>
            </p:nvPr>
          </p:nvGraphicFramePr>
          <p:xfrm>
            <a:off x="20891375" y="1175506"/>
            <a:ext cx="6076294" cy="105411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7971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Müəllimlərin nəticə intervalları üzrə təhlili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31" y="134472"/>
            <a:ext cx="10228310" cy="934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1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Dərs-dinləmələr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5318"/>
              </p:ext>
            </p:extLst>
          </p:nvPr>
        </p:nvGraphicFramePr>
        <p:xfrm>
          <a:off x="578223" y="206207"/>
          <a:ext cx="11061327" cy="9147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966">
                  <a:extLst>
                    <a:ext uri="{9D8B030D-6E8A-4147-A177-3AD203B41FA5}">
                      <a16:colId xmlns:a16="http://schemas.microsoft.com/office/drawing/2014/main" val="1215394851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2066010269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950473323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884368350"/>
                    </a:ext>
                  </a:extLst>
                </a:gridCol>
                <a:gridCol w="3726756">
                  <a:extLst>
                    <a:ext uri="{9D8B030D-6E8A-4147-A177-3AD203B41FA5}">
                      <a16:colId xmlns:a16="http://schemas.microsoft.com/office/drawing/2014/main" val="1573274089"/>
                    </a:ext>
                  </a:extLst>
                </a:gridCol>
              </a:tblGrid>
              <a:tr h="1313660"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Dərsdinləmənin</a:t>
                      </a:r>
                      <a:r>
                        <a:rPr lang="az-Latn-AZ" sz="20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məqsədi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Hədəf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Dinlənilən dərslərin sayı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Məsul şəxs(lər)</a:t>
                      </a:r>
                      <a:endParaRPr lang="az-Latn-AZ" sz="2000" b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Nəticə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48916"/>
                  </a:ext>
                </a:extLst>
              </a:tr>
              <a:tr h="1728897"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1.Müəllimlərin təşkilatı fəaliyyətini izləmək (Dərsin planlaşdırılma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səviyyəsi, şagirdlərlə səmərəli əks əlaqəni təmin etməsi, vaxtından düzgün istifadə etməsi</a:t>
                      </a:r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)</a:t>
                      </a:r>
                    </a:p>
                    <a:p>
                      <a:pPr algn="ctr"/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1.1. </a:t>
                      </a:r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Müəllimin təlim fəaliyyətini izləmək (Elmilik prinsipinin qorunması,təlim metodları vəüsulların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düzgün seşilməsi, əyani vəsaitlərdən istifadənin səmərəliliyi, şagırdlərin qiymətləndirilməsi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112</a:t>
                      </a:r>
                    </a:p>
                    <a:p>
                      <a:pPr algn="ctr"/>
                      <a:endParaRPr lang="az-Latn-AZ" sz="1800" b="0" dirty="0" smtClean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az-Latn-AZ" sz="18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98 saat müsbət nəticə</a:t>
                      </a:r>
                      <a:endParaRPr lang="en-US" sz="18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511207"/>
                  </a:ext>
                </a:extLst>
              </a:tr>
              <a:tr h="2200414"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2.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Ölçü üzrə standartların izlənməsi.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68 saat müsbət nəticə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807674"/>
                  </a:ext>
                </a:extLst>
              </a:tr>
              <a:tr h="657409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9876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66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44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4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Sinif komplektlərinin tərkibi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50426"/>
              </p:ext>
            </p:extLst>
          </p:nvPr>
        </p:nvGraphicFramePr>
        <p:xfrm>
          <a:off x="591678" y="268945"/>
          <a:ext cx="11174493" cy="9063310"/>
        </p:xfrm>
        <a:graphic>
          <a:graphicData uri="http://schemas.openxmlformats.org/drawingml/2006/table">
            <a:tbl>
              <a:tblPr/>
              <a:tblGrid>
                <a:gridCol w="2339781">
                  <a:extLst>
                    <a:ext uri="{9D8B030D-6E8A-4147-A177-3AD203B41FA5}">
                      <a16:colId xmlns:a16="http://schemas.microsoft.com/office/drawing/2014/main" val="18373196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20545828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263015409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3445460"/>
                    </a:ext>
                  </a:extLst>
                </a:gridCol>
                <a:gridCol w="521231">
                  <a:extLst>
                    <a:ext uri="{9D8B030D-6E8A-4147-A177-3AD203B41FA5}">
                      <a16:colId xmlns:a16="http://schemas.microsoft.com/office/drawing/2014/main" val="4070376480"/>
                    </a:ext>
                  </a:extLst>
                </a:gridCol>
                <a:gridCol w="102884">
                  <a:extLst>
                    <a:ext uri="{9D8B030D-6E8A-4147-A177-3AD203B41FA5}">
                      <a16:colId xmlns:a16="http://schemas.microsoft.com/office/drawing/2014/main" val="408981130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2787114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734489224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3636598698"/>
                    </a:ext>
                  </a:extLst>
                </a:gridCol>
                <a:gridCol w="378007">
                  <a:extLst>
                    <a:ext uri="{9D8B030D-6E8A-4147-A177-3AD203B41FA5}">
                      <a16:colId xmlns:a16="http://schemas.microsoft.com/office/drawing/2014/main" val="198421558"/>
                    </a:ext>
                  </a:extLst>
                </a:gridCol>
                <a:gridCol w="246108">
                  <a:extLst>
                    <a:ext uri="{9D8B030D-6E8A-4147-A177-3AD203B41FA5}">
                      <a16:colId xmlns:a16="http://schemas.microsoft.com/office/drawing/2014/main" val="347830441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14368265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289714089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514863036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018962966"/>
                    </a:ext>
                  </a:extLst>
                </a:gridCol>
                <a:gridCol w="1345332">
                  <a:extLst>
                    <a:ext uri="{9D8B030D-6E8A-4147-A177-3AD203B41FA5}">
                      <a16:colId xmlns:a16="http://schemas.microsoft.com/office/drawing/2014/main" val="2257352784"/>
                    </a:ext>
                  </a:extLst>
                </a:gridCol>
              </a:tblGrid>
              <a:tr h="906331"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Siniflər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üzrə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4190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Cəmi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52963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007664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143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969308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nisbəti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23.8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20.4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17.7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21.18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06765"/>
                  </a:ext>
                </a:extLst>
              </a:tr>
              <a:tr h="906331"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Təhsil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səviyyələri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üzrə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54353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Məktəbəqədər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və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ibtidai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orta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Tam orta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Cəmi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9709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66175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663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87533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nisbəti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19.2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56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63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195935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Oğlan və qızların paylanma faizləri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4" y="896762"/>
            <a:ext cx="10936547" cy="774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4110335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Davamiyyət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28" y="691871"/>
            <a:ext cx="11040946" cy="817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8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2658053"/>
            <a:ext cx="3966880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Respublika fənn</a:t>
            </a:r>
            <a:r>
              <a:rPr kumimoji="0" lang="az-Latn-AZ" sz="4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olimpiadaları və müsabiqələrin yekun nəticələri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97662"/>
              </p:ext>
            </p:extLst>
          </p:nvPr>
        </p:nvGraphicFramePr>
        <p:xfrm>
          <a:off x="505012" y="173815"/>
          <a:ext cx="11379200" cy="9266019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1047558826"/>
                    </a:ext>
                  </a:extLst>
                </a:gridCol>
                <a:gridCol w="2339788">
                  <a:extLst>
                    <a:ext uri="{9D8B030D-6E8A-4147-A177-3AD203B41FA5}">
                      <a16:colId xmlns:a16="http://schemas.microsoft.com/office/drawing/2014/main" val="1236201796"/>
                    </a:ext>
                  </a:extLst>
                </a:gridCol>
                <a:gridCol w="2003612">
                  <a:extLst>
                    <a:ext uri="{9D8B030D-6E8A-4147-A177-3AD203B41FA5}">
                      <a16:colId xmlns:a16="http://schemas.microsoft.com/office/drawing/2014/main" val="3777020433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294250232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2108663881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52822708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692895666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406359392"/>
                    </a:ext>
                  </a:extLst>
                </a:gridCol>
              </a:tblGrid>
              <a:tr h="1311135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№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Olimpiada və ya müsabiqənin adı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Fənlər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III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Həvəs-ləndirici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Ümumi say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1730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Respublika</a:t>
                      </a:r>
                      <a:r>
                        <a:rPr lang="az-Latn-AZ" sz="2200" baseline="0" dirty="0" smtClean="0">
                          <a:latin typeface="Palatino Linotype" panose="02040502050505030304" pitchFamily="18" charset="0"/>
                        </a:rPr>
                        <a:t> fənn olimpiadaları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996371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Respublika</a:t>
                      </a:r>
                      <a:r>
                        <a:rPr lang="az-Latn-AZ" sz="2200" baseline="0" dirty="0" smtClean="0">
                          <a:latin typeface="Palatino Linotype" panose="02040502050505030304" pitchFamily="18" charset="0"/>
                        </a:rPr>
                        <a:t> fənn müsabiqələri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794456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Ən yaxşı təqdimat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441724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Məntiq olimpiadası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İnformatika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1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788771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Bakı elm olimpiadası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4355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Sabahın alimləri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182998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Düşünən oxucu 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67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47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72453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IV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monitorinq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22787" t="20264" r="38115" b="7428"/>
          <a:stretch/>
        </p:blipFill>
        <p:spPr bwMode="auto">
          <a:xfrm>
            <a:off x="419100" y="0"/>
            <a:ext cx="11582400" cy="93322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466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951115"/>
              </p:ext>
            </p:extLst>
          </p:nvPr>
        </p:nvGraphicFramePr>
        <p:xfrm>
          <a:off x="838200" y="228600"/>
          <a:ext cx="10820400" cy="899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6387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5046233"/>
              </p:ext>
            </p:extLst>
          </p:nvPr>
        </p:nvGraphicFramePr>
        <p:xfrm>
          <a:off x="7105651" y="549274"/>
          <a:ext cx="3994150" cy="4340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631062"/>
              </p:ext>
            </p:extLst>
          </p:nvPr>
        </p:nvGraphicFramePr>
        <p:xfrm>
          <a:off x="1546225" y="417512"/>
          <a:ext cx="4530725" cy="4340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3932035"/>
              </p:ext>
            </p:extLst>
          </p:nvPr>
        </p:nvGraphicFramePr>
        <p:xfrm>
          <a:off x="2647950" y="5276850"/>
          <a:ext cx="6457950" cy="3948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1" name="Rectangle 40"/>
          <p:cNvSpPr/>
          <p:nvPr/>
        </p:nvSpPr>
        <p:spPr>
          <a:xfrm>
            <a:off x="13026823" y="3521928"/>
            <a:ext cx="37752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32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IV siniflərin monitorinq nəticələri</a:t>
            </a:r>
            <a:endParaRPr lang="en-US" sz="32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17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2350751" y="3890228"/>
            <a:ext cx="44640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40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endParaRPr lang="en-US" sz="40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7651905"/>
              </p:ext>
            </p:extLst>
          </p:nvPr>
        </p:nvGraphicFramePr>
        <p:xfrm>
          <a:off x="695325" y="4391025"/>
          <a:ext cx="3292475" cy="460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085998"/>
              </p:ext>
            </p:extLst>
          </p:nvPr>
        </p:nvGraphicFramePr>
        <p:xfrm>
          <a:off x="4543425" y="4391025"/>
          <a:ext cx="3292475" cy="460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0402650"/>
              </p:ext>
            </p:extLst>
          </p:nvPr>
        </p:nvGraphicFramePr>
        <p:xfrm>
          <a:off x="8391525" y="4391025"/>
          <a:ext cx="3292475" cy="460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3" t="18706" r="19766" b="10606"/>
          <a:stretch/>
        </p:blipFill>
        <p:spPr bwMode="auto">
          <a:xfrm>
            <a:off x="695325" y="0"/>
            <a:ext cx="10988675" cy="43910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45675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210174"/>
              </p:ext>
            </p:extLst>
          </p:nvPr>
        </p:nvGraphicFramePr>
        <p:xfrm>
          <a:off x="1093304" y="357810"/>
          <a:ext cx="10614992" cy="667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/>
          <p:cNvSpPr/>
          <p:nvPr/>
        </p:nvSpPr>
        <p:spPr>
          <a:xfrm>
            <a:off x="12477750" y="2903190"/>
            <a:ext cx="4114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40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endParaRPr lang="en-US" sz="40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71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46181" y="2664768"/>
            <a:ext cx="42178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36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r>
              <a:rPr lang="en-US" sz="36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 </a:t>
            </a:r>
            <a:r>
              <a:rPr lang="az-Latn-AZ" sz="36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(müqayisəli)</a:t>
            </a:r>
            <a:endParaRPr lang="en-US" sz="36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2"/>
          <a:srcRect l="2713" t="41966" r="48682" b="24876"/>
          <a:stretch/>
        </p:blipFill>
        <p:spPr bwMode="auto">
          <a:xfrm>
            <a:off x="438150" y="0"/>
            <a:ext cx="11639550" cy="96011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3651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030200" y="2436168"/>
            <a:ext cx="36766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28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r>
              <a:rPr lang="en-US" sz="28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 </a:t>
            </a:r>
            <a:r>
              <a:rPr lang="az-Latn-AZ" sz="28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(müqayisəli)</a:t>
            </a:r>
            <a:endParaRPr lang="en-US" sz="28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2"/>
          <a:srcRect l="2714" t="48471" r="46793" b="11658"/>
          <a:stretch/>
        </p:blipFill>
        <p:spPr bwMode="auto">
          <a:xfrm>
            <a:off x="628650" y="0"/>
            <a:ext cx="11449050" cy="96011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4196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050925"/>
              </p:ext>
            </p:extLst>
          </p:nvPr>
        </p:nvGraphicFramePr>
        <p:xfrm>
          <a:off x="1053425" y="84138"/>
          <a:ext cx="3308350" cy="365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1878577"/>
              </p:ext>
            </p:extLst>
          </p:nvPr>
        </p:nvGraphicFramePr>
        <p:xfrm>
          <a:off x="4495800" y="84139"/>
          <a:ext cx="3308350" cy="365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6009310"/>
              </p:ext>
            </p:extLst>
          </p:nvPr>
        </p:nvGraphicFramePr>
        <p:xfrm>
          <a:off x="8039100" y="84138"/>
          <a:ext cx="3308350" cy="365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677708"/>
              </p:ext>
            </p:extLst>
          </p:nvPr>
        </p:nvGraphicFramePr>
        <p:xfrm>
          <a:off x="952500" y="4911725"/>
          <a:ext cx="3308350" cy="381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3952572"/>
              </p:ext>
            </p:extLst>
          </p:nvPr>
        </p:nvGraphicFramePr>
        <p:xfrm>
          <a:off x="4495800" y="4911725"/>
          <a:ext cx="3308350" cy="381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446542"/>
              </p:ext>
            </p:extLst>
          </p:nvPr>
        </p:nvGraphicFramePr>
        <p:xfrm>
          <a:off x="8039100" y="4911725"/>
          <a:ext cx="3308350" cy="4053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Rectangle 7"/>
          <p:cNvSpPr/>
          <p:nvPr/>
        </p:nvSpPr>
        <p:spPr>
          <a:xfrm>
            <a:off x="12868151" y="2970649"/>
            <a:ext cx="3762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24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r>
              <a:rPr lang="en-US" sz="24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 </a:t>
            </a:r>
            <a:r>
              <a:rPr lang="az-Latn-AZ" sz="24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(</a:t>
            </a:r>
            <a:r>
              <a:rPr lang="az-Latn-AZ" sz="2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müqayisəli)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362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/>
          <p:nvPr/>
        </p:nvPicPr>
        <p:blipFill rotWithShape="1">
          <a:blip r:embed="rId2"/>
          <a:srcRect l="1731" t="26673" r="4225" b="11312"/>
          <a:stretch/>
        </p:blipFill>
        <p:spPr bwMode="auto">
          <a:xfrm>
            <a:off x="666750" y="0"/>
            <a:ext cx="10991851" cy="441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/>
          <p:cNvPicPr/>
          <p:nvPr/>
        </p:nvPicPr>
        <p:blipFill rotWithShape="1">
          <a:blip r:embed="rId3"/>
          <a:srcRect l="9933" t="43647" r="20339" b="10954"/>
          <a:stretch/>
        </p:blipFill>
        <p:spPr bwMode="auto">
          <a:xfrm>
            <a:off x="666751" y="4572001"/>
            <a:ext cx="10991850" cy="441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05915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5767937"/>
              </p:ext>
            </p:extLst>
          </p:nvPr>
        </p:nvGraphicFramePr>
        <p:xfrm>
          <a:off x="1143000" y="876300"/>
          <a:ext cx="9677400" cy="7962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2513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423786"/>
              </p:ext>
            </p:extLst>
          </p:nvPr>
        </p:nvGraphicFramePr>
        <p:xfrm>
          <a:off x="781049" y="1152525"/>
          <a:ext cx="3505200" cy="4124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9159662"/>
              </p:ext>
            </p:extLst>
          </p:nvPr>
        </p:nvGraphicFramePr>
        <p:xfrm>
          <a:off x="4876800" y="990601"/>
          <a:ext cx="3181350" cy="4114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6522850"/>
              </p:ext>
            </p:extLst>
          </p:nvPr>
        </p:nvGraphicFramePr>
        <p:xfrm>
          <a:off x="1066800" y="5753100"/>
          <a:ext cx="3486150" cy="2933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52950" y="287209"/>
            <a:ext cx="6057900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 smtClean="0"/>
              <a:t>İbtidai təhsil səviyyəsi üzrə nəticələr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763000"/>
              </p:ext>
            </p:extLst>
          </p:nvPr>
        </p:nvGraphicFramePr>
        <p:xfrm>
          <a:off x="8058150" y="1009650"/>
          <a:ext cx="3940970" cy="4381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99788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5624450"/>
              </p:ext>
            </p:extLst>
          </p:nvPr>
        </p:nvGraphicFramePr>
        <p:xfrm>
          <a:off x="2190750" y="1409700"/>
          <a:ext cx="8534400" cy="702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13321089" y="2988618"/>
            <a:ext cx="30428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24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Təhsil müəssisəsi üzrə nəticələr</a:t>
            </a:r>
            <a:endParaRPr lang="en-US" sz="24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942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Kitabxana fəaliyyəti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397928"/>
              </p:ext>
            </p:extLst>
          </p:nvPr>
        </p:nvGraphicFramePr>
        <p:xfrm>
          <a:off x="648494" y="273687"/>
          <a:ext cx="11010108" cy="9083969"/>
        </p:xfrm>
        <a:graphic>
          <a:graphicData uri="http://schemas.openxmlformats.org/drawingml/2006/table">
            <a:tbl>
              <a:tblPr/>
              <a:tblGrid>
                <a:gridCol w="2752527">
                  <a:extLst>
                    <a:ext uri="{9D8B030D-6E8A-4147-A177-3AD203B41FA5}">
                      <a16:colId xmlns:a16="http://schemas.microsoft.com/office/drawing/2014/main" val="3085182088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3902395189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2059051376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3915372351"/>
                    </a:ext>
                  </a:extLst>
                </a:gridCol>
              </a:tblGrid>
              <a:tr h="69602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Kitabxana</a:t>
                      </a:r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fəaliyyəti</a:t>
                      </a:r>
                      <a:endParaRPr lang="en-US" sz="36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72741"/>
                  </a:ext>
                </a:extLst>
              </a:tr>
              <a:tr h="9280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kitab fondu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Dərsliklərin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Digər ədəbiyyatlar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Kitab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340950"/>
                  </a:ext>
                </a:extLst>
              </a:tr>
              <a:tr h="464014"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35633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30543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5090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42418"/>
                  </a:ext>
                </a:extLst>
              </a:tr>
              <a:tr h="58894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119504"/>
                  </a:ext>
                </a:extLst>
              </a:tr>
              <a:tr h="19809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Aktiv oxucu sayı </a:t>
                      </a:r>
                      <a:b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</a:b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(İl ərzində ən azı bir kitab (digər ədəbiyyat) oxumuş şagird)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628126"/>
                  </a:ext>
                </a:extLst>
              </a:tr>
              <a:tr h="4640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1508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753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956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44490"/>
                  </a:ext>
                </a:extLst>
              </a:tr>
              <a:tr h="4640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49,933687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18,78192534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394173"/>
                  </a:ext>
                </a:extLst>
              </a:tr>
              <a:tr h="58894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Müəllimlər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14182"/>
                  </a:ext>
                </a:extLst>
              </a:tr>
              <a:tr h="19809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Aktiv oxucu sayı </a:t>
                      </a:r>
                      <a:b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</a:b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(İl ərzində ən azı bir kitab (digər ədəbiyyat) oxumuş şagird)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77188"/>
                  </a:ext>
                </a:extLst>
              </a:tr>
              <a:tr h="4640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136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24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137266"/>
                  </a:ext>
                </a:extLst>
              </a:tr>
              <a:tr h="4640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52,94117647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1,984282908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109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18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Kitabxana fəaliyyəti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11976"/>
              </p:ext>
            </p:extLst>
          </p:nvPr>
        </p:nvGraphicFramePr>
        <p:xfrm>
          <a:off x="688788" y="349621"/>
          <a:ext cx="11010899" cy="8888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950">
                  <a:extLst>
                    <a:ext uri="{9D8B030D-6E8A-4147-A177-3AD203B41FA5}">
                      <a16:colId xmlns:a16="http://schemas.microsoft.com/office/drawing/2014/main" val="2532575569"/>
                    </a:ext>
                  </a:extLst>
                </a:gridCol>
                <a:gridCol w="6603955">
                  <a:extLst>
                    <a:ext uri="{9D8B030D-6E8A-4147-A177-3AD203B41FA5}">
                      <a16:colId xmlns:a16="http://schemas.microsoft.com/office/drawing/2014/main" val="405887279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1908344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7014052"/>
                    </a:ext>
                  </a:extLst>
                </a:gridCol>
              </a:tblGrid>
              <a:tr h="849139"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№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Keçirilən tədbirin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adı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Cəlb olunanların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sayı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353729"/>
                  </a:ext>
                </a:extLst>
              </a:tr>
              <a:tr h="5665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Müəllim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Şagird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25113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Kitabın yaranma tarixi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56085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Tık-tık xanımın nağılı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6493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Zəfər tarixi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16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1955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«Novzuz bayramı» bədii ədəbiyyatda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26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27237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Oxu günü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92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916711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Həssas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qruplar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86397"/>
              </p:ext>
            </p:extLst>
          </p:nvPr>
        </p:nvGraphicFramePr>
        <p:xfrm>
          <a:off x="579018" y="107570"/>
          <a:ext cx="11200609" cy="9224686"/>
        </p:xfrm>
        <a:graphic>
          <a:graphicData uri="http://schemas.openxmlformats.org/drawingml/2006/table">
            <a:tbl>
              <a:tblPr/>
              <a:tblGrid>
                <a:gridCol w="511939">
                  <a:extLst>
                    <a:ext uri="{9D8B030D-6E8A-4147-A177-3AD203B41FA5}">
                      <a16:colId xmlns:a16="http://schemas.microsoft.com/office/drawing/2014/main" val="1456011469"/>
                    </a:ext>
                  </a:extLst>
                </a:gridCol>
                <a:gridCol w="2482129">
                  <a:extLst>
                    <a:ext uri="{9D8B030D-6E8A-4147-A177-3AD203B41FA5}">
                      <a16:colId xmlns:a16="http://schemas.microsoft.com/office/drawing/2014/main" val="1282926458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2903812077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902570919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3187987975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4024026782"/>
                    </a:ext>
                  </a:extLst>
                </a:gridCol>
                <a:gridCol w="511939">
                  <a:extLst>
                    <a:ext uri="{9D8B030D-6E8A-4147-A177-3AD203B41FA5}">
                      <a16:colId xmlns:a16="http://schemas.microsoft.com/office/drawing/2014/main" val="1527158243"/>
                    </a:ext>
                  </a:extLst>
                </a:gridCol>
                <a:gridCol w="2482129">
                  <a:extLst>
                    <a:ext uri="{9D8B030D-6E8A-4147-A177-3AD203B41FA5}">
                      <a16:colId xmlns:a16="http://schemas.microsoft.com/office/drawing/2014/main" val="3650916891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790848942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3136429726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1904276023"/>
                    </a:ext>
                  </a:extLst>
                </a:gridCol>
              </a:tblGrid>
              <a:tr h="670016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göstəriciləri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və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saylar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285344"/>
                  </a:ext>
                </a:extLst>
              </a:tr>
              <a:tr h="47858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 göstəriciləri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Azərbaycan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Rus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 göstəriciləri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Azərbaycan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Rus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1325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Çətin tərbiyə olunan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Ağır somatik və ya xroniki xəstəlikləri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24931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Hüquq pozuntuları törədən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Psixi pozuntuları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12699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 ayrılan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127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127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Bu və ya digər mənada zorakılığa məruz qalan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0843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Valideynlərindən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birini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363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363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Dini fanatizm meylləri müşahidə olunan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506463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Valideynlərinin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ikisini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Ağır nəticələrə səbəb olan internet asılılığı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409464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Himayədə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yaşayan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(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itirmədiyi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halda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Pis vərdişlərə (alkoqolizm, siqaret istifadəçisi, narkotik istifadəçisi və s.) malik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27295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Qəyyumluğa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verilmiş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(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itirmədiyi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halda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Neqativ davranışları (evdənqaçma, kiçik xuliqanlıq, vandalizm və s.)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015078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Şəhid övladı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Fiziki və əqli qüsurları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80254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Qazi övladı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Digər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42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10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01212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Sosial yönümlü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fəaliyyətlər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277187"/>
              </p:ext>
            </p:extLst>
          </p:nvPr>
        </p:nvGraphicFramePr>
        <p:xfrm>
          <a:off x="688788" y="349621"/>
          <a:ext cx="11010899" cy="915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950">
                  <a:extLst>
                    <a:ext uri="{9D8B030D-6E8A-4147-A177-3AD203B41FA5}">
                      <a16:colId xmlns:a16="http://schemas.microsoft.com/office/drawing/2014/main" val="2532575569"/>
                    </a:ext>
                  </a:extLst>
                </a:gridCol>
                <a:gridCol w="6603955">
                  <a:extLst>
                    <a:ext uri="{9D8B030D-6E8A-4147-A177-3AD203B41FA5}">
                      <a16:colId xmlns:a16="http://schemas.microsoft.com/office/drawing/2014/main" val="405887279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1908344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7014052"/>
                    </a:ext>
                  </a:extLst>
                </a:gridCol>
              </a:tblGrid>
              <a:tr h="849139"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№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Keçirilən tədbirin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adı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Cəlb olunanların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sayı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353729"/>
                  </a:ext>
                </a:extLst>
              </a:tr>
              <a:tr h="5665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Müəllim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Şagird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25113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Nizami Gəncəvi 880 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Q.Rəfiqə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İ.Nəzrin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M.Əsmər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A.Mehrin</a:t>
                      </a:r>
                    </a:p>
                    <a:p>
                      <a:pPr algn="ctr"/>
                      <a:r>
                        <a:rPr lang="az-Latn-AZ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M.Ayxan 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56085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Aşıq Ələsgər 200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Q.Rəfiqə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H.Həmid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Ə.Elman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O.Nəzrin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6493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Təbiəti qoruyaq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H.Rəna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O.Səbinə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Q.Arzu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M.Ağahüseyn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1955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Təbiətdən</a:t>
                      </a:r>
                      <a:r>
                        <a:rPr lang="az-Latn-AZ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incəsənətə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İ.Şəhla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A.Aysun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B.Nəzrin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Ə.Aysu</a:t>
                      </a: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27237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Qarabağ</a:t>
                      </a:r>
                      <a:r>
                        <a:rPr lang="az-Latn-AZ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Azərbaycandır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Z.Sevil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N.Ömər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C.Leyla</a:t>
                      </a:r>
                    </a:p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M.Ayan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21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249723"/>
            <a:ext cx="3966880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müəssisəsində həyata keçirilən layihələr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6850" y="1528418"/>
            <a:ext cx="8991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8000" dirty="0" smtClean="0"/>
              <a:t>1.Ailəm və məktəbim</a:t>
            </a:r>
          </a:p>
          <a:p>
            <a:r>
              <a:rPr lang="az-Latn-AZ" sz="8000" dirty="0" smtClean="0"/>
              <a:t>2.Təbiəti qoruyanlar</a:t>
            </a:r>
          </a:p>
          <a:p>
            <a:r>
              <a:rPr lang="az-Latn-AZ" sz="8000" dirty="0" smtClean="0"/>
              <a:t>3.Bahar Çələngi</a:t>
            </a:r>
          </a:p>
          <a:p>
            <a:r>
              <a:rPr lang="az-Latn-AZ" sz="8000" dirty="0" smtClean="0"/>
              <a:t>4.Mənim gündəliyim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721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4221647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noProof="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Uğurlarımız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7300" y="1695450"/>
            <a:ext cx="95059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4000" dirty="0" smtClean="0"/>
              <a:t>1.Fərəcova Fidan Bəxtiyar fənn olimpiadası</a:t>
            </a:r>
          </a:p>
          <a:p>
            <a:r>
              <a:rPr lang="az-Latn-AZ" sz="4000" dirty="0" smtClean="0"/>
              <a:t>2.İsmayılov Məhəmməd Allahqulu fənn olimpiadası</a:t>
            </a:r>
          </a:p>
          <a:p>
            <a:r>
              <a:rPr lang="az-Latn-AZ" sz="4000" dirty="0" smtClean="0"/>
              <a:t>3.Nəcəfli Şəfəq Fəqət fərqlənmə attestatı</a:t>
            </a:r>
          </a:p>
          <a:p>
            <a:r>
              <a:rPr lang="az-Latn-AZ" sz="4000" dirty="0" smtClean="0"/>
              <a:t>4.Sultanlı Ruqiyyə Ceyhun fərqlənmə attestatı</a:t>
            </a:r>
          </a:p>
          <a:p>
            <a:r>
              <a:rPr lang="az-Latn-AZ" sz="4000" dirty="0" smtClean="0"/>
              <a:t>5.Nəsirli Aişə Rüstəm 670 bal</a:t>
            </a:r>
          </a:p>
          <a:p>
            <a:r>
              <a:rPr lang="az-Latn-AZ" sz="4000" dirty="0" smtClean="0"/>
              <a:t>6.Süleymanova Validə Rauf 640 bal</a:t>
            </a:r>
          </a:p>
          <a:p>
            <a:r>
              <a:rPr lang="az-Latn-AZ" sz="4000" dirty="0" smtClean="0"/>
              <a:t>7.Məmmədov Ömər Nahid 616 bal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350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ehtiyacları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3035" y="331712"/>
            <a:ext cx="10919012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ehtiyacları</a:t>
            </a:r>
          </a:p>
          <a:p>
            <a:pPr marL="0" marR="0" lvl="0" indent="0" algn="just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800" i="1" dirty="0" smtClean="0">
                <a:ln w="0"/>
                <a:latin typeface="Palatino Linotype" panose="02040502050505030304" pitchFamily="18" charset="0"/>
              </a:rPr>
              <a:t>(Burada keyfiyyətli öyrənməyə və öyrətməyə birbaşa təsir edən əsas ehtiyaclar qeyd olunur.)</a:t>
            </a: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3600" b="0" i="0" u="none" strike="noStrike" kern="1200" cap="none" spc="0" normalizeH="0" baseline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1. Müəllimlərə olimpiyadalara və müsabiqələrə şagird hazırlamaq istiqamətində dəstək</a:t>
            </a:r>
            <a:r>
              <a:rPr kumimoji="0" lang="az-Latn-AZ" sz="3600" b="0" i="0" u="none" strike="noStrike" kern="1200" cap="none" spc="0" normalizeH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 olmaq.</a:t>
            </a:r>
            <a:endParaRPr kumimoji="0" lang="az-Latn-AZ" sz="3600" b="0" i="0" u="none" strike="noStrike" kern="1200" cap="none" spc="0" normalizeH="0" baseline="0" noProof="0" dirty="0" smtClean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3600" dirty="0" smtClean="0">
                <a:ln w="0"/>
                <a:latin typeface="Palatino Linotype" panose="02040502050505030304" pitchFamily="18" charset="0"/>
              </a:rPr>
              <a:t>2. IV siniflərin monitorinq nəticələrini müzakirə edərkən riyaziyyat fənninin zəif olmasını nəzərə almaq,IX sinfə qədər həmin siniflərin riyaziyyat nəticələrini izləmək.</a:t>
            </a: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3600" b="0" i="0" u="none" strike="noStrike" kern="1200" cap="none" spc="0" normalizeH="0" baseline="0" noProof="0" dirty="0" smtClean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03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167547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Növbəti tədris ili üçün əsas hədəflər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1300" y="1638300"/>
            <a:ext cx="7867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3600" dirty="0" smtClean="0"/>
              <a:t>1.IV siniflərdə riyaziyyat fənnindən nəticələrini ilbəil izləmək</a:t>
            </a:r>
          </a:p>
          <a:p>
            <a:r>
              <a:rPr lang="az-Latn-AZ" sz="3600" dirty="0" smtClean="0"/>
              <a:t>2.Vətəndaş məmnunluğunu təmin etmək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1350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7240" y="917227"/>
            <a:ext cx="7580922" cy="415498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Diqqətinizə </a:t>
            </a:r>
          </a:p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görə </a:t>
            </a:r>
          </a:p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minnətdarıq!!!</a:t>
            </a:r>
            <a:endParaRPr kumimoji="0" lang="en-US" sz="8800" u="none" strike="noStrike" kern="1200" cap="none" spc="0" normalizeH="0" baseline="0" noProof="0" dirty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8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8130</TotalTime>
  <Words>1443</Words>
  <Application>Microsoft Office PowerPoint</Application>
  <PresentationFormat>Custom</PresentationFormat>
  <Paragraphs>590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Palatino Linotype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User</cp:lastModifiedBy>
  <cp:revision>120</cp:revision>
  <dcterms:created xsi:type="dcterms:W3CDTF">2022-07-06T13:33:43Z</dcterms:created>
  <dcterms:modified xsi:type="dcterms:W3CDTF">2022-08-10T10:35:59Z</dcterms:modified>
</cp:coreProperties>
</file>